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Poppins Light"/>
      <p:regular r:id="rId38"/>
      <p:bold r:id="rId39"/>
      <p:italic r:id="rId40"/>
      <p:boldItalic r:id="rId41"/>
    </p:embeddedFont>
    <p:embeddedFont>
      <p:font typeface="Poppins Medium"/>
      <p:regular r:id="rId42"/>
      <p:bold r:id="rId43"/>
      <p:italic r:id="rId44"/>
      <p:boldItalic r:id="rId45"/>
    </p:embeddedFont>
    <p:embeddedFont>
      <p:font typeface="Poppins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italic.fntdata"/><Relationship Id="rId42" Type="http://schemas.openxmlformats.org/officeDocument/2006/relationships/font" Target="fonts/PoppinsMedium-regular.fntdata"/><Relationship Id="rId41" Type="http://schemas.openxmlformats.org/officeDocument/2006/relationships/font" Target="fonts/PoppinsLight-boldItalic.fntdata"/><Relationship Id="rId44" Type="http://schemas.openxmlformats.org/officeDocument/2006/relationships/font" Target="fonts/PoppinsMedium-italic.fntdata"/><Relationship Id="rId43" Type="http://schemas.openxmlformats.org/officeDocument/2006/relationships/font" Target="fonts/PoppinsMedium-bold.fntdata"/><Relationship Id="rId46" Type="http://schemas.openxmlformats.org/officeDocument/2006/relationships/font" Target="fonts/PoppinsSemiBold-regular.fntdata"/><Relationship Id="rId45" Type="http://schemas.openxmlformats.org/officeDocument/2006/relationships/font" Target="fonts/Poppi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SemiBold-italic.fntdata"/><Relationship Id="rId47" Type="http://schemas.openxmlformats.org/officeDocument/2006/relationships/font" Target="fonts/PoppinsSemiBold-bold.fntdata"/><Relationship Id="rId49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PoppinsLight-bold.fntdata"/><Relationship Id="rId38" Type="http://schemas.openxmlformats.org/officeDocument/2006/relationships/font" Target="fonts/Poppins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afeea80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afeea80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bcc7f94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bcc7f94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060f146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c060f14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bcd5378a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bcd5378a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altos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thermofischer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roche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cisco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nutanix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stackpath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fungible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c060f1465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c060f1465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afeea80c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afeea80c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c060f14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c060f14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c060f146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c060f14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c060f146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c060f146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afeea80c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afeea80c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afeea80c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afeea80c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5e00731a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5e00731a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afeea80c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afeea80c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afeea80c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afeea80c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afeea80c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afeea80c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afeea80c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afeea80c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bcc7f942c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8bcc7f942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bcc7f942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bcc7f942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bcc7f942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bcc7f942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bcc7f942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bcc7f942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bcc7f942c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bcc7f942c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c060f1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8c060f1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bcc7f942c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bcc7f942c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- Agenda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None/>
              <a:defRPr sz="1200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875" y="1354125"/>
            <a:ext cx="45306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Char char="●"/>
              <a:defRPr sz="12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048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○"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indent="-3048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048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048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048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048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048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7.xml"/><Relationship Id="rId10" Type="http://schemas.openxmlformats.org/officeDocument/2006/relationships/slide" Target="/ppt/slides/slide16.xml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9" Type="http://schemas.openxmlformats.org/officeDocument/2006/relationships/slide" Target="/ppt/slides/slide15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slide" Target="/ppt/slides/slide18.xml"/><Relationship Id="rId9" Type="http://schemas.openxmlformats.org/officeDocument/2006/relationships/slide" Target="/ppt/slides/slide24.xml"/><Relationship Id="rId5" Type="http://schemas.openxmlformats.org/officeDocument/2006/relationships/slide" Target="/ppt/slides/slide20.xml"/><Relationship Id="rId6" Type="http://schemas.openxmlformats.org/officeDocument/2006/relationships/slide" Target="/ppt/slides/slide21.xml"/><Relationship Id="rId7" Type="http://schemas.openxmlformats.org/officeDocument/2006/relationships/slide" Target="/ppt/slides/slide22.xml"/><Relationship Id="rId8" Type="http://schemas.openxmlformats.org/officeDocument/2006/relationships/slide" Target="/ppt/slides/slide2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slide" Target="/ppt/slides/slide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slide" Target="/ppt/slides/slide4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slide" Target="/ppt/slides/slide4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slide" Target="/ppt/slides/slide6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20.jpg"/><Relationship Id="rId5" Type="http://schemas.openxmlformats.org/officeDocument/2006/relationships/slide" Target="/ppt/slides/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259150" y="1292500"/>
            <a:ext cx="85785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Empowering Enterprise AI on Kubernetes</a:t>
            </a:r>
            <a:endParaRPr b="1" sz="30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06275" y="2154475"/>
            <a:ext cx="8578500" cy="23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Backed by </a:t>
            </a:r>
            <a:r>
              <a:rPr b="1"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7+ years of Kubernetes expertise</a:t>
            </a:r>
            <a:r>
              <a:rPr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, DKube has delivered multiple customer solutions and built robust in-house products for AI and MLOps.</a:t>
            </a:r>
            <a:endParaRPr sz="18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DKubeX</a:t>
            </a:r>
            <a:r>
              <a:rPr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 is our flagship enterprise-grade private AI platform to build, deploy, and scale Generative AI and ML securely within your infrastructure.</a:t>
            </a:r>
            <a:endParaRPr sz="18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Designed for Kubernetes, it simplifies AI operations while ensuring enterprise-grade security, governance, and cost efficiency.</a:t>
            </a:r>
            <a:endParaRPr sz="18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14" title="Group 48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150" y="642025"/>
            <a:ext cx="1427302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- A Kubernetes Based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79150" y="100307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runs seamlessly on any Kubernetes environment, offering flexibility and portability that align perfectly with AWS strategy.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Environments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On-Prem / Private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RKE2, and other Kubernetes distributions for organizations running within their own datacenters or private infrastructure.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Public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AWS EKS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Azure AKS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offering multi-cloud support and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cloud-agnostic deployment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major providers.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76" name="Google Shape;76;p16"/>
          <p:cNvSpPr/>
          <p:nvPr/>
        </p:nvSpPr>
        <p:spPr>
          <a:xfrm>
            <a:off x="1349375" y="741450"/>
            <a:ext cx="6984000" cy="3964200"/>
          </a:xfrm>
          <a:prstGeom prst="roundRect">
            <a:avLst>
              <a:gd fmla="val 891" name="adj"/>
            </a:avLst>
          </a:prstGeom>
          <a:noFill/>
          <a:ln cap="flat" cmpd="sng" w="8800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77" name="Google Shape;77;p16"/>
          <p:cNvSpPr/>
          <p:nvPr/>
        </p:nvSpPr>
        <p:spPr>
          <a:xfrm>
            <a:off x="2541331" y="4101112"/>
            <a:ext cx="3027000" cy="493800"/>
          </a:xfrm>
          <a:prstGeom prst="roundRect">
            <a:avLst>
              <a:gd fmla="val 10371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3"/>
          </a:p>
        </p:txBody>
      </p:sp>
      <p:sp>
        <p:nvSpPr>
          <p:cNvPr id="78" name="Google Shape;78;p16"/>
          <p:cNvSpPr txBox="1"/>
          <p:nvPr/>
        </p:nvSpPr>
        <p:spPr>
          <a:xfrm>
            <a:off x="2631677" y="770651"/>
            <a:ext cx="5352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NLB</a:t>
            </a:r>
            <a:endParaRPr sz="646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87809" y="1026492"/>
            <a:ext cx="423000" cy="4317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875" y="1084399"/>
            <a:ext cx="308861" cy="31035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3396731" y="1026492"/>
            <a:ext cx="423000" cy="4317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82" name="Google Shape;82;p16"/>
          <p:cNvSpPr/>
          <p:nvPr/>
        </p:nvSpPr>
        <p:spPr>
          <a:xfrm>
            <a:off x="3162565" y="1184134"/>
            <a:ext cx="182400" cy="1107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2085" y="1123428"/>
            <a:ext cx="232287" cy="23228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340600" y="797238"/>
            <a:ext cx="5352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NGINX</a:t>
            </a:r>
            <a:endParaRPr sz="646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548214" y="1717788"/>
            <a:ext cx="2144100" cy="8565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86" name="Google Shape;86;p16"/>
          <p:cNvSpPr txBox="1"/>
          <p:nvPr/>
        </p:nvSpPr>
        <p:spPr>
          <a:xfrm>
            <a:off x="3146533" y="1704977"/>
            <a:ext cx="947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K8S Service</a:t>
            </a:r>
            <a:endParaRPr sz="646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693879" y="1968194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77026" y="1954694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FM Controller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85448" y="2278188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668594" y="2264688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LLM Controller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282723" y="4230405"/>
            <a:ext cx="1027500" cy="2826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6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423407" y="4230405"/>
            <a:ext cx="1069500" cy="2826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6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541331" y="3742194"/>
            <a:ext cx="2144100" cy="2826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Prometheus/Grafana</a:t>
            </a:r>
            <a:endParaRPr sz="646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3657861" y="2794206"/>
            <a:ext cx="1027469" cy="871551"/>
            <a:chOff x="3796538" y="2299174"/>
            <a:chExt cx="1112100" cy="943339"/>
          </a:xfrm>
        </p:grpSpPr>
        <p:sp>
          <p:nvSpPr>
            <p:cNvPr id="95" name="Google Shape;95;p16"/>
            <p:cNvSpPr/>
            <p:nvPr/>
          </p:nvSpPr>
          <p:spPr>
            <a:xfrm>
              <a:off x="3796538" y="2315813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8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3"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3952501" y="25848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3934260" y="25702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 Store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3961626" y="29149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3943385" y="29003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Lineage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3857984" y="2299174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475" lIns="84475" spcFirstLastPara="1" rIns="84475" wrap="square" tIns="844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6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MLFlow</a:t>
              </a:r>
              <a:endParaRPr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2541143" y="2793825"/>
            <a:ext cx="1027469" cy="868982"/>
            <a:chOff x="2585824" y="2298760"/>
            <a:chExt cx="1112100" cy="940559"/>
          </a:xfrm>
        </p:grpSpPr>
        <p:sp>
          <p:nvSpPr>
            <p:cNvPr id="102" name="Google Shape;102;p16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8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3"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475" lIns="84475" spcFirstLastPara="1" rIns="84475" wrap="square" tIns="844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6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Deployments</a:t>
              </a:r>
              <a:endParaRPr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KServe/vLLM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LLM/</a:t>
              </a: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EMB</a:t>
              </a: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Models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4780444" y="2794218"/>
            <a:ext cx="1027469" cy="871545"/>
            <a:chOff x="5030350" y="2299186"/>
            <a:chExt cx="1112100" cy="943333"/>
          </a:xfrm>
        </p:grpSpPr>
        <p:sp>
          <p:nvSpPr>
            <p:cNvPr id="109" name="Google Shape;109;p16"/>
            <p:cNvSpPr/>
            <p:nvPr/>
          </p:nvSpPr>
          <p:spPr>
            <a:xfrm>
              <a:off x="5030350" y="23158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8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3"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86326" y="25848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168085" y="25702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Jobs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5195451" y="29149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5177210" y="29003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Pipelines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5091809" y="2299186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475" lIns="84475" spcFirstLastPara="1" rIns="84475" wrap="square" tIns="844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6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KubeFlow</a:t>
              </a:r>
              <a:endParaRPr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15" name="Google Shape;115;p16"/>
          <p:cNvSpPr/>
          <p:nvPr/>
        </p:nvSpPr>
        <p:spPr>
          <a:xfrm>
            <a:off x="3852304" y="1184134"/>
            <a:ext cx="182400" cy="1107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16" name="Google Shape;116;p16"/>
          <p:cNvSpPr/>
          <p:nvPr/>
        </p:nvSpPr>
        <p:spPr>
          <a:xfrm>
            <a:off x="4067285" y="1026492"/>
            <a:ext cx="423000" cy="4317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17" name="Google Shape;117;p16"/>
          <p:cNvSpPr txBox="1"/>
          <p:nvPr/>
        </p:nvSpPr>
        <p:spPr>
          <a:xfrm>
            <a:off x="4011154" y="773331"/>
            <a:ext cx="5352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 sz="646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544345" y="1184134"/>
            <a:ext cx="182400" cy="1107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255" y="1104442"/>
            <a:ext cx="269055" cy="27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0110" y="4238170"/>
            <a:ext cx="535257" cy="21983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5630679" y="4101065"/>
            <a:ext cx="1294500" cy="493800"/>
          </a:xfrm>
          <a:prstGeom prst="roundRect">
            <a:avLst>
              <a:gd fmla="val 10371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Storage</a:t>
            </a:r>
            <a:endParaRPr sz="646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25836" y="4206722"/>
            <a:ext cx="710100" cy="2826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EFS</a:t>
            </a:r>
            <a:endParaRPr sz="646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259040" y="4206722"/>
            <a:ext cx="1027500" cy="2826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CPU Nodes</a:t>
            </a:r>
            <a:endParaRPr sz="646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399723" y="4206722"/>
            <a:ext cx="1069500" cy="2826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GPU Nodes</a:t>
            </a:r>
            <a:endParaRPr sz="646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897615" y="2809735"/>
            <a:ext cx="1027500" cy="8565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26" name="Google Shape;126;p16"/>
          <p:cNvSpPr/>
          <p:nvPr/>
        </p:nvSpPr>
        <p:spPr>
          <a:xfrm>
            <a:off x="6041732" y="3058325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024879" y="3044825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Monitoring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050164" y="3363330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033310" y="3349830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Reports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954401" y="2794367"/>
            <a:ext cx="947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SecureLLM</a:t>
            </a:r>
            <a:endParaRPr sz="646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780809" y="3742194"/>
            <a:ext cx="2144100" cy="2826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Loki</a:t>
            </a:r>
            <a:endParaRPr sz="646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183854" y="2809759"/>
            <a:ext cx="1027500" cy="8565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33" name="Google Shape;133;p16"/>
          <p:cNvSpPr txBox="1"/>
          <p:nvPr/>
        </p:nvSpPr>
        <p:spPr>
          <a:xfrm>
            <a:off x="7240641" y="2794390"/>
            <a:ext cx="947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Databases</a:t>
            </a:r>
            <a:endParaRPr sz="646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327971" y="3199786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311118" y="3186286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Postgres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802254" y="1961449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785400" y="1947949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Controller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793822" y="2271443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776969" y="2257943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SKY Controller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780809" y="898892"/>
            <a:ext cx="2144100" cy="5775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41" name="Google Shape;141;p16"/>
          <p:cNvSpPr txBox="1"/>
          <p:nvPr/>
        </p:nvSpPr>
        <p:spPr>
          <a:xfrm>
            <a:off x="5205744" y="886072"/>
            <a:ext cx="12945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Application Interface</a:t>
            </a:r>
            <a:endParaRPr sz="646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926474" y="1149299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909621" y="1135799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SecureChat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034849" y="1142554"/>
            <a:ext cx="756300" cy="2268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017995" y="1129054"/>
            <a:ext cx="756300" cy="2268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Endpoints</a:t>
            </a:r>
            <a:endParaRPr sz="554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46" name="Google Shape;146;p16"/>
          <p:cNvCxnSpPr>
            <a:stCxn id="140" idx="3"/>
            <a:endCxn id="125" idx="3"/>
          </p:cNvCxnSpPr>
          <p:nvPr/>
        </p:nvCxnSpPr>
        <p:spPr>
          <a:xfrm>
            <a:off x="6924909" y="1187642"/>
            <a:ext cx="600" cy="2050200"/>
          </a:xfrm>
          <a:prstGeom prst="bentConnector3">
            <a:avLst>
              <a:gd fmla="val 32391667" name="adj1"/>
            </a:avLst>
          </a:prstGeom>
          <a:noFill/>
          <a:ln cap="flat" cmpd="sng" w="88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7" name="Google Shape;147;p16"/>
          <p:cNvGrpSpPr/>
          <p:nvPr/>
        </p:nvGrpSpPr>
        <p:grpSpPr>
          <a:xfrm>
            <a:off x="4780444" y="1704908"/>
            <a:ext cx="2144187" cy="590164"/>
            <a:chOff x="5028363" y="792475"/>
            <a:chExt cx="2320800" cy="638775"/>
          </a:xfrm>
        </p:grpSpPr>
        <p:sp>
          <p:nvSpPr>
            <p:cNvPr id="148" name="Google Shape;148;p16"/>
            <p:cNvSpPr/>
            <p:nvPr/>
          </p:nvSpPr>
          <p:spPr>
            <a:xfrm>
              <a:off x="5028363" y="806350"/>
              <a:ext cx="2320800" cy="624900"/>
            </a:xfrm>
            <a:prstGeom prst="roundRect">
              <a:avLst>
                <a:gd fmla="val 6533" name="adj"/>
              </a:avLst>
            </a:prstGeom>
            <a:noFill/>
            <a:ln cap="flat" cmpd="sng" w="88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3"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5488263" y="792475"/>
              <a:ext cx="1401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475" lIns="84475" spcFirstLastPara="1" rIns="84475" wrap="square" tIns="844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6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User Interface</a:t>
              </a:r>
              <a:endParaRPr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518832" y="107764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5488288" y="106303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Workspace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152" name="Google Shape;152;p16"/>
          <p:cNvCxnSpPr>
            <a:stCxn id="140" idx="2"/>
            <a:endCxn id="86" idx="0"/>
          </p:cNvCxnSpPr>
          <p:nvPr/>
        </p:nvCxnSpPr>
        <p:spPr>
          <a:xfrm rot="5400000">
            <a:off x="4622259" y="474392"/>
            <a:ext cx="228600" cy="2232600"/>
          </a:xfrm>
          <a:prstGeom prst="bentConnector3">
            <a:avLst>
              <a:gd fmla="val 50002" name="adj1"/>
            </a:avLst>
          </a:prstGeom>
          <a:noFill/>
          <a:ln cap="flat" cmpd="sng" w="88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6"/>
          <p:cNvCxnSpPr>
            <a:stCxn id="148" idx="2"/>
          </p:cNvCxnSpPr>
          <p:nvPr/>
        </p:nvCxnSpPr>
        <p:spPr>
          <a:xfrm rot="5400000">
            <a:off x="5183088" y="1808322"/>
            <a:ext cx="182700" cy="1156200"/>
          </a:xfrm>
          <a:prstGeom prst="bentConnector2">
            <a:avLst/>
          </a:prstGeom>
          <a:noFill/>
          <a:ln cap="flat" cmpd="sng" w="88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6"/>
          <p:cNvSpPr/>
          <p:nvPr/>
        </p:nvSpPr>
        <p:spPr>
          <a:xfrm>
            <a:off x="1518300" y="842649"/>
            <a:ext cx="269100" cy="1496100"/>
          </a:xfrm>
          <a:prstGeom prst="roundRect">
            <a:avLst>
              <a:gd fmla="val 16667" name="adj"/>
            </a:avLst>
          </a:prstGeom>
          <a:solidFill>
            <a:srgbClr val="7660A8">
              <a:alpha val="63640"/>
            </a:srgbClr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 rot="-5400000">
            <a:off x="1249911" y="1764418"/>
            <a:ext cx="823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Security Group</a:t>
            </a:r>
            <a:endParaRPr sz="646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56" name="Google Shape;156;p16"/>
          <p:cNvCxnSpPr>
            <a:endCxn id="132" idx="2"/>
          </p:cNvCxnSpPr>
          <p:nvPr/>
        </p:nvCxnSpPr>
        <p:spPr>
          <a:xfrm>
            <a:off x="6923304" y="3557659"/>
            <a:ext cx="774300" cy="108600"/>
          </a:xfrm>
          <a:prstGeom prst="bentConnector4">
            <a:avLst>
              <a:gd fmla="val 20522" name="adj1"/>
              <a:gd fmla="val 303005" name="adj2"/>
            </a:avLst>
          </a:prstGeom>
          <a:noFill/>
          <a:ln cap="flat" cmpd="sng" w="88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16"/>
          <p:cNvSpPr/>
          <p:nvPr/>
        </p:nvSpPr>
        <p:spPr>
          <a:xfrm rot="-3854">
            <a:off x="6836001" y="2484669"/>
            <a:ext cx="535200" cy="1353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4"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554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2530" y="837829"/>
            <a:ext cx="308869" cy="20983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498260" y="1017031"/>
            <a:ext cx="675900" cy="684900"/>
          </a:xfrm>
          <a:prstGeom prst="roundRect">
            <a:avLst>
              <a:gd fmla="val 6533" name="adj"/>
            </a:avLst>
          </a:prstGeom>
          <a:noFill/>
          <a:ln cap="flat" cmpd="sng" w="88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3"/>
          </a:p>
        </p:txBody>
      </p:sp>
      <p:sp>
        <p:nvSpPr>
          <p:cNvPr id="160" name="Google Shape;160;p16"/>
          <p:cNvSpPr txBox="1"/>
          <p:nvPr/>
        </p:nvSpPr>
        <p:spPr>
          <a:xfrm>
            <a:off x="458622" y="1790976"/>
            <a:ext cx="75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6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CLI/UI</a:t>
            </a:r>
            <a:endParaRPr sz="646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1371" y="1232142"/>
            <a:ext cx="422994" cy="42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on AWS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174147" y="1198900"/>
            <a:ext cx="1488300" cy="130800"/>
          </a:xfrm>
          <a:prstGeom prst="leftRightArrow">
            <a:avLst>
              <a:gd fmla="val 17125" name="adj1"/>
              <a:gd fmla="val 48292" name="adj2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81225" lIns="81225" spcFirstLastPara="1" rIns="81225" wrap="square" tIns="8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3"/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424443" y="2796662"/>
            <a:ext cx="1027469" cy="868982"/>
            <a:chOff x="2585824" y="2298760"/>
            <a:chExt cx="1112100" cy="940559"/>
          </a:xfrm>
        </p:grpSpPr>
        <p:sp>
          <p:nvSpPr>
            <p:cNvPr id="168" name="Google Shape;168;p16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8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3"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475" lIns="84475" spcFirstLastPara="1" rIns="84475" wrap="square" tIns="844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6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Vector Store</a:t>
              </a:r>
              <a:endParaRPr sz="646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Datasets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6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84475" lIns="84475" spcFirstLastPara="1" rIns="84475" wrap="square" tIns="84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4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Cache</a:t>
              </a:r>
              <a:endParaRPr sz="554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174" name="Google Shape;174;p16"/>
          <p:cNvCxnSpPr>
            <a:stCxn id="85" idx="1"/>
          </p:cNvCxnSpPr>
          <p:nvPr/>
        </p:nvCxnSpPr>
        <p:spPr>
          <a:xfrm rot="10800000">
            <a:off x="1951814" y="2146038"/>
            <a:ext cx="596400" cy="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6"/>
          <p:cNvCxnSpPr>
            <a:stCxn id="169" idx="0"/>
          </p:cNvCxnSpPr>
          <p:nvPr/>
        </p:nvCxnSpPr>
        <p:spPr>
          <a:xfrm rot="10800000">
            <a:off x="1955048" y="2150762"/>
            <a:ext cx="0" cy="64590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6" name="Google Shape;176;p16"/>
          <p:cNvCxnSpPr/>
          <p:nvPr/>
        </p:nvCxnSpPr>
        <p:spPr>
          <a:xfrm>
            <a:off x="1957925" y="2645825"/>
            <a:ext cx="4476300" cy="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6"/>
          <p:cNvCxnSpPr>
            <a:endCxn id="130" idx="0"/>
          </p:cNvCxnSpPr>
          <p:nvPr/>
        </p:nvCxnSpPr>
        <p:spPr>
          <a:xfrm>
            <a:off x="6428251" y="2648867"/>
            <a:ext cx="0" cy="14550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6"/>
          <p:cNvCxnSpPr/>
          <p:nvPr/>
        </p:nvCxnSpPr>
        <p:spPr>
          <a:xfrm>
            <a:off x="5264351" y="2650842"/>
            <a:ext cx="0" cy="14550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6"/>
          <p:cNvCxnSpPr/>
          <p:nvPr/>
        </p:nvCxnSpPr>
        <p:spPr>
          <a:xfrm>
            <a:off x="4171589" y="2650842"/>
            <a:ext cx="0" cy="14550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6"/>
          <p:cNvCxnSpPr/>
          <p:nvPr/>
        </p:nvCxnSpPr>
        <p:spPr>
          <a:xfrm>
            <a:off x="3054876" y="2650842"/>
            <a:ext cx="0" cy="145500"/>
          </a:xfrm>
          <a:prstGeom prst="straightConnector1">
            <a:avLst/>
          </a:prstGeom>
          <a:noFill/>
          <a:ln cap="flat" cmpd="sng" w="952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/>
        </p:nvSpPr>
        <p:spPr>
          <a:xfrm>
            <a:off x="256650" y="800600"/>
            <a:ext cx="85809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Robust Security and User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Comprehensive User Workspaces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Training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 Serving and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MLOps Integration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LLMOps: Powering Generative AI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 Fine-Tuning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Generative AI and Agentic Solutions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Simplified Installation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– Features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221725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Customers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5533" y="876075"/>
            <a:ext cx="1508715" cy="387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6100" y="1741948"/>
            <a:ext cx="1947556" cy="435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8109" y="2656238"/>
            <a:ext cx="1043541" cy="54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3824" y="3519468"/>
            <a:ext cx="832089" cy="85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08558" y="898225"/>
            <a:ext cx="2649334" cy="3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47524" y="1627719"/>
            <a:ext cx="2371407" cy="66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16578" y="2627183"/>
            <a:ext cx="2433326" cy="48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Customer Use Cases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256650" y="800600"/>
            <a:ext cx="85809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Accelerating Research with Compute Platform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Agentic AI Solution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CNI Plugin for Kubernetes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 Native Platform (K8S) Services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Virtual PCIe Fabric management using Kubernetes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 Feedback Input and Analysis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259150" y="1909600"/>
            <a:ext cx="8578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Build. Scale. Innovate.</a:t>
            </a:r>
            <a:endParaRPr b="1" sz="35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59150" y="2559825"/>
            <a:ext cx="85785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Bring GenAI and ML to life securely on AWS Kubernetes – Powered by </a:t>
            </a:r>
            <a:r>
              <a:rPr b="1" lang="en" sz="28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20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Robust Security and User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251950" y="14652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Enterprise-grade access control and identity management are built in.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OAuth Providers: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 · Okta · Keycloak · Google · Microsoft ADFS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 to AWS Enterprises: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Seamless integration with corporate identity systems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Role-based access and audit trails for every user action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Meets security and compliance standards expected in regulated industries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22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Comprehensive User Workspaces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251950" y="14652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Pre-configured environments for data scientists and MLOps teams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IDEs: RStudio, JupyterLab, VS Code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File Browser and Terminal access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Consistent, ready-to-use setup across teams and projects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Accelerates experimentation and collaboration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23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Training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251950" y="892625"/>
            <a:ext cx="84876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Provides environments like Jupyter, Vscode, R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Integrates with tools like Ray, Kubeflow and flyte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for training and serving traditional machine learning models.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 distributed ML jobs on Kubernetes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Ray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submit ML training jobs on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GPU/CPU resource allocation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reproducible and efficient training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Mlflow for tracking experiments and training runs including the parameters. metrics, artifacts of the training runs.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Model Serving and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provides flexible model-serving options designed for scalability and performance across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Serving Options: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 Kubernetes: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Ray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containerized inference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Cloud: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Skypilot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managed GPU/compute utilization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Business Advantage: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Choose deployment method based on workload size and cost profi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management for training, serving, and monitoring ML models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251950" y="196109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MLOps Integration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3" name="Google Shape;273;p26"/>
          <p:cNvGrpSpPr/>
          <p:nvPr/>
        </p:nvGrpSpPr>
        <p:grpSpPr>
          <a:xfrm>
            <a:off x="278991" y="1057717"/>
            <a:ext cx="4210792" cy="1549009"/>
            <a:chOff x="5888500" y="1352275"/>
            <a:chExt cx="3083700" cy="1219500"/>
          </a:xfrm>
        </p:grpSpPr>
        <p:sp>
          <p:nvSpPr>
            <p:cNvPr id="274" name="Google Shape;274;p26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Record parameters, metrics, and artifacts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Reproduce and compare runs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Manage model versioning and lifecycle stages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MLFlow - Experiment Tracking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76" name="Google Shape;276;p26"/>
          <p:cNvGrpSpPr/>
          <p:nvPr/>
        </p:nvGrpSpPr>
        <p:grpSpPr>
          <a:xfrm>
            <a:off x="279096" y="2702948"/>
            <a:ext cx="4210792" cy="1549009"/>
            <a:chOff x="5888500" y="1352275"/>
            <a:chExt cx="3083700" cy="1219500"/>
          </a:xfrm>
        </p:grpSpPr>
        <p:sp>
          <p:nvSpPr>
            <p:cNvPr id="277" name="Google Shape;277;p26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Automate tuning to improve accuracy and reduce iteration time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Optuna - Hyperparameter Optimization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79" name="Google Shape;279;p26"/>
          <p:cNvGrpSpPr/>
          <p:nvPr/>
        </p:nvGrpSpPr>
        <p:grpSpPr>
          <a:xfrm>
            <a:off x="4725029" y="1057717"/>
            <a:ext cx="4139867" cy="1549009"/>
            <a:chOff x="5888500" y="1352275"/>
            <a:chExt cx="3083700" cy="1219500"/>
          </a:xfrm>
        </p:grpSpPr>
        <p:sp>
          <p:nvSpPr>
            <p:cNvPr id="280" name="Google Shape;280;p26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Design and execute complex ML pipelines on Kubernetes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Ensure consistency and scalability across teams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KubeFlow - Orchestration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82" name="Google Shape;282;p26"/>
          <p:cNvGrpSpPr/>
          <p:nvPr/>
        </p:nvGrpSpPr>
        <p:grpSpPr>
          <a:xfrm>
            <a:off x="4725132" y="2702948"/>
            <a:ext cx="4139867" cy="1549009"/>
            <a:chOff x="5888500" y="1352275"/>
            <a:chExt cx="3083700" cy="1219500"/>
          </a:xfrm>
        </p:grpSpPr>
        <p:sp>
          <p:nvSpPr>
            <p:cNvPr id="283" name="Google Shape;283;p26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Real-time insights into model performance and training behavior</a:t>
              </a:r>
              <a:endParaRPr sz="15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Tensorboard - Visualization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85" name="Google Shape;285;p2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LLMOps: Powering Generative AI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Purpose-built for modern Generative AI workloads on Kubernetes– providing seamless management of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embedding models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training, deployment, and inference pipelines - both on-prem and across cloud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Components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LLM/Embedding Model Catalog: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Ready-to-deploy open-source and NVIDIA NIM models (LLMs and embeddings)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KServe (local) or Skypilot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Inference: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on local GPUs or cloud GPU nodes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Auto-optimization for cost and performance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API Access: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Standardized endpoints for application integration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 Fine-Tuning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251950" y="687330"/>
            <a:ext cx="85857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simplifies the complex process of fine-tuning LLMs and embedding models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Axolotl Framework: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human-readable configuration for fine-tuning jobs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Simplify fine-tuning with intuitive, YAML-based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Methods Supported: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LoRA and QLoRA for efficient tuning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Embeddings: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Flag Embedding for performance gains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Synthetic Data Generation: automatic positive/negative example creation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Value: 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Accelerated LLM customization for domain-specific applications without infrastructure overhead.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09" name="Google Shape;3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Generative AI and Agentic Solutions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Enables enterprise-grade Generative AI and multi-agent systems on Kubernetes, accelerating innovation and simplifying rapid GenAI deployment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Retrieval-Augmented Generation (RAG):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chatbots that understand and respond using ente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prise data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AI: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Develop secure, scalable, and cost-efficient end-to-end AI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Framework Proficiency: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· LlamaIndex · LangFlow · MCP Server · LangGraph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18" name="Google Shape;3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0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Simplified Installation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251950" y="8556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DKubeX’s installation process, powered by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 and Helm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enables rapid deployment across both AWS, other clouds or on-prem environments.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Terraform-based installation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provisions and configures all necessary AWS infrastructure — including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EKS clusters, networking, storage, and IAM roles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ensuring a fully integrated and production-ready environment within minutes.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RKE2 installation using Helm charts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simplified on-prem deployments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 configuration across environments ensures repeatability and compliance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27" name="Google Shape;3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251950" y="178987"/>
            <a:ext cx="852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Accelerating Research with Compute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251950" y="648950"/>
            <a:ext cx="85224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High-speed compute platform enabling on-demand infrastructure provisioning and reduced time-to-experiment.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Diverse Resources: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Quick access to EKS Containers (K8s), EC2 VMs, AWS Parallel Clusters (HPC), and Ray Clusters (AI/ML)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Bridges local development with cloud compute for maximum productivity. Dedicated Desktop App and CLI Commands connect local tools directly to cloud resources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Workflows: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Pre-bundled software for day to day development by users, easy access to dataset using S3 bucket mounting, and simplified Authentication and Authorization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 &amp; monitoring of all user &amp; system resources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 Optimization: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Auto-shutdown of idle nodes, workspaces to reduce spend.Integrated with slack alerts to intimate users.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251950" y="171500"/>
            <a:ext cx="8743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Accelerating Research with Compute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32" title="image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950" y="1116500"/>
            <a:ext cx="5771850" cy="33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46" name="Google Shape;3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3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: Agentic AI Solution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33"/>
          <p:cNvSpPr txBox="1"/>
          <p:nvPr>
            <p:ph idx="4294967295" type="body"/>
          </p:nvPr>
        </p:nvSpPr>
        <p:spPr>
          <a:xfrm>
            <a:off x="25195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Developed an intelligent research agent platform leveraging AWS and Bedrock to enhance scientific discovery.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Reasoning &amp; Generation: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Integrated Bedrock (Claude) as the core LLM for advanced research insights.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 Framework: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Built using the Strands Agent SDK to enable autonomous, agentic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Deployed on AWS ECS (Fargate) for scalable, containerized services.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&amp; Access: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Secured via AWS CloudFront + ALB stack and AWS Cognito for identity management.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3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55" name="Google Shape;35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 : CNI Plugin for Kubernetes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4"/>
          <p:cNvSpPr txBox="1"/>
          <p:nvPr>
            <p:ph idx="4294967295" type="body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Built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Container Network interface(CNI)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Kubernetes for ACI fabric.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CNI enables containers and pods running  in Kubernetes to directly leverage ACI’s policy, segmentation and visibility capabilities.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plugin provides all networking and security requirements for OpenShift cluster.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Involved in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end-to-end automation and verification of CNI plugin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different releases and eco systems (RKE, K8s, OpenShift)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Verification on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bare metal, OpenStack VMs, ESX VMs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Optimized some of the features of ACI CNI like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SNAT, Network Policies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251950" y="192550"/>
            <a:ext cx="84321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Cloud-Native Platform (K8s) Services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251950" y="720075"/>
            <a:ext cx="8585700" cy="26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Worked for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Edge Computing Platform provider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implemented cloud native platform(K8s) services to manage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Compute resources(VM and container workloads)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GPU enablement and monitoring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both VM and container workloads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IPv4, IPv6 and dual-network stack support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workload networking using CNI plugins and OVS + SmartNIC on compute hosts.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SmartNIC Open vSwitch integration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Telemetry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3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 txBox="1"/>
          <p:nvPr/>
        </p:nvSpPr>
        <p:spPr>
          <a:xfrm>
            <a:off x="251950" y="205400"/>
            <a:ext cx="833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Virtual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 PCIe Fabric management 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using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 Kubernetes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36"/>
          <p:cNvSpPr txBox="1"/>
          <p:nvPr>
            <p:ph idx="4294967295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objective was to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virtualize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PCIe connections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enabling remote devices to appear as locally attached to the host system via the PCIe protocol.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 microservices were developed to manage the orchestration, network tunneling and monitoring the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virtual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PCIe fabric.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Microservices are run as Kubernetes workloads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/>
        </p:nvSpPr>
        <p:spPr>
          <a:xfrm>
            <a:off x="251950" y="197675"/>
            <a:ext cx="85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Use Case : App Feedback Input and Analysis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4" name="Google Shape;38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076" y="704556"/>
            <a:ext cx="6033851" cy="395489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