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Poppins"/>
      <p:regular r:id="rId19"/>
      <p:bold r:id="rId20"/>
      <p:italic r:id="rId21"/>
      <p:boldItalic r:id="rId22"/>
    </p:embeddedFont>
    <p:embeddedFont>
      <p:font typeface="Poppins Light"/>
      <p:regular r:id="rId23"/>
      <p:bold r:id="rId24"/>
      <p:italic r:id="rId25"/>
      <p:boldItalic r:id="rId26"/>
    </p:embeddedFont>
    <p:embeddedFont>
      <p:font typeface="Poppins Medium"/>
      <p:regular r:id="rId27"/>
      <p:bold r:id="rId28"/>
      <p:italic r:id="rId29"/>
      <p:boldItalic r:id="rId30"/>
    </p:embeddedFont>
    <p:embeddedFont>
      <p:font typeface="Poppins SemiBold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.fntdata"/><Relationship Id="rId22" Type="http://schemas.openxmlformats.org/officeDocument/2006/relationships/font" Target="fonts/Poppins-boldItalic.fntdata"/><Relationship Id="rId21" Type="http://schemas.openxmlformats.org/officeDocument/2006/relationships/font" Target="fonts/Poppins-italic.fntdata"/><Relationship Id="rId24" Type="http://schemas.openxmlformats.org/officeDocument/2006/relationships/font" Target="fonts/PoppinsLight-bold.fntdata"/><Relationship Id="rId23" Type="http://schemas.openxmlformats.org/officeDocument/2006/relationships/font" Target="fonts/PoppinsLight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oppinsLight-boldItalic.fntdata"/><Relationship Id="rId25" Type="http://schemas.openxmlformats.org/officeDocument/2006/relationships/font" Target="fonts/PoppinsLight-italic.fntdata"/><Relationship Id="rId28" Type="http://schemas.openxmlformats.org/officeDocument/2006/relationships/font" Target="fonts/PoppinsMedium-bold.fntdata"/><Relationship Id="rId27" Type="http://schemas.openxmlformats.org/officeDocument/2006/relationships/font" Target="fonts/PoppinsMedium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oppinsMedium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oppinsSemiBold-regular.fntdata"/><Relationship Id="rId30" Type="http://schemas.openxmlformats.org/officeDocument/2006/relationships/font" Target="fonts/PoppinsMedium-boldItalic.fntdata"/><Relationship Id="rId11" Type="http://schemas.openxmlformats.org/officeDocument/2006/relationships/slide" Target="slides/slide6.xml"/><Relationship Id="rId33" Type="http://schemas.openxmlformats.org/officeDocument/2006/relationships/font" Target="fonts/PoppinsSemiBold-italic.fntdata"/><Relationship Id="rId10" Type="http://schemas.openxmlformats.org/officeDocument/2006/relationships/slide" Target="slides/slide5.xml"/><Relationship Id="rId32" Type="http://schemas.openxmlformats.org/officeDocument/2006/relationships/font" Target="fonts/PoppinsSemiBold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PoppinsSemiBold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Poppins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df0acbb40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3df0acbb40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e6ccfb200c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e6ccfb200c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e7be1f686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e7be1f686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e7bd2f56f0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e7bd2f56f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df0acbb40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df0acbb40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e792398299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e792398299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e7bd2f56f0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e7bd2f56f0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df0acbb408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df0acbb40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e6d616114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3e6d616114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e7bd2f56f0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3e7bd2f56f0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df0acbb408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3df0acbb40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e792398299_2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e792398299_2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3e7bd2f56f0_1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8" name="Google Shape;558;g3e7bd2f56f0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3 - Agenda">
  <p:cSld name="TITLE_2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12884" y="1039375"/>
            <a:ext cx="27468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7660A8"/>
              </a:buClr>
              <a:buSzPts val="1200"/>
              <a:buFont typeface="Poppins SemiBold"/>
              <a:buNone/>
              <a:defRPr sz="1200">
                <a:solidFill>
                  <a:srgbClr val="7660A8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212875" y="1354125"/>
            <a:ext cx="4530600" cy="278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Char char="●"/>
              <a:defRPr sz="120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04800" lvl="1" marL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Char char="○"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indent="-304800" lvl="2" marL="1371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Char char="■"/>
              <a:defRPr sz="1200">
                <a:latin typeface="Poppins"/>
                <a:ea typeface="Poppins"/>
                <a:cs typeface="Poppins"/>
                <a:sym typeface="Poppins"/>
              </a:defRPr>
            </a:lvl3pPr>
            <a:lvl4pPr indent="-304800" lvl="3" marL="18288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Light"/>
              <a:buChar char="●"/>
              <a:defRPr sz="1200">
                <a:latin typeface="Poppins Light"/>
                <a:ea typeface="Poppins Light"/>
                <a:cs typeface="Poppins Light"/>
                <a:sym typeface="Poppins Light"/>
              </a:defRPr>
            </a:lvl4pPr>
            <a:lvl5pPr indent="-304800" lvl="4" marL="22860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Light"/>
              <a:buChar char="○"/>
              <a:defRPr sz="1200">
                <a:latin typeface="Poppins Light"/>
                <a:ea typeface="Poppins Light"/>
                <a:cs typeface="Poppins Light"/>
                <a:sym typeface="Poppins Light"/>
              </a:defRPr>
            </a:lvl5pPr>
            <a:lvl6pPr indent="-304800" lvl="5" marL="2743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Light"/>
              <a:buChar char="■"/>
              <a:defRPr sz="1200"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04800" lvl="6" marL="3200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Light"/>
              <a:buChar char="●"/>
              <a:defRPr sz="1200"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04800" lvl="7" marL="3657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Light"/>
              <a:buChar char="○"/>
              <a:defRPr sz="1200"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04800" lvl="8" marL="41148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Light"/>
              <a:buChar char="■"/>
              <a:defRPr sz="120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0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9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9.png"/><Relationship Id="rId8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212884" y="1039375"/>
            <a:ext cx="27468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212875" y="1354125"/>
            <a:ext cx="45306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DKubeX 2.0 </a:t>
            </a:r>
            <a:r>
              <a:rPr lang="en"/>
              <a:t>Architecture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/>
          <p:nvPr/>
        </p:nvSpPr>
        <p:spPr>
          <a:xfrm>
            <a:off x="1930063" y="790613"/>
            <a:ext cx="6170400" cy="3918000"/>
          </a:xfrm>
          <a:prstGeom prst="roundRect">
            <a:avLst>
              <a:gd fmla="val 891" name="adj"/>
            </a:avLst>
          </a:prstGeom>
          <a:noFill/>
          <a:ln cap="flat" cmpd="sng" w="8000">
            <a:solidFill>
              <a:srgbClr val="7F7F7F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76925" lIns="76925" spcFirstLastPara="1" rIns="76925" wrap="square" tIns="7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78"/>
          </a:p>
        </p:txBody>
      </p:sp>
      <p:sp>
        <p:nvSpPr>
          <p:cNvPr id="64" name="Google Shape;64;p15"/>
          <p:cNvSpPr/>
          <p:nvPr/>
        </p:nvSpPr>
        <p:spPr>
          <a:xfrm>
            <a:off x="2381391" y="4760371"/>
            <a:ext cx="6170400" cy="156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87400" lIns="87400" spcFirstLastPara="1" rIns="87400" wrap="square" tIns="87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38"/>
          </a:p>
        </p:txBody>
      </p:sp>
      <p:sp>
        <p:nvSpPr>
          <p:cNvPr id="65" name="Google Shape;65;p15"/>
          <p:cNvSpPr/>
          <p:nvPr/>
        </p:nvSpPr>
        <p:spPr>
          <a:xfrm>
            <a:off x="1079685" y="837329"/>
            <a:ext cx="615600" cy="623700"/>
          </a:xfrm>
          <a:prstGeom prst="roundRect">
            <a:avLst>
              <a:gd fmla="val 6533" name="adj"/>
            </a:avLst>
          </a:prstGeom>
          <a:noFill/>
          <a:ln cap="flat" cmpd="sng" w="8000">
            <a:solidFill>
              <a:srgbClr val="9E9E9E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76925" lIns="76925" spcFirstLastPara="1" rIns="76925" wrap="square" tIns="7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78"/>
          </a:p>
        </p:txBody>
      </p:sp>
      <p:sp>
        <p:nvSpPr>
          <p:cNvPr id="66" name="Google Shape;66;p15"/>
          <p:cNvSpPr txBox="1"/>
          <p:nvPr/>
        </p:nvSpPr>
        <p:spPr>
          <a:xfrm>
            <a:off x="1043538" y="1515871"/>
            <a:ext cx="6879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76925" lIns="76925" spcFirstLastPara="1" rIns="76925" wrap="square" tIns="769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89">
                <a:solidFill>
                  <a:srgbClr val="4D4D4D"/>
                </a:solidFill>
                <a:latin typeface="Poppins"/>
                <a:ea typeface="Poppins"/>
                <a:cs typeface="Poppins"/>
                <a:sym typeface="Poppins"/>
              </a:rPr>
              <a:t>User Interface</a:t>
            </a:r>
            <a:endParaRPr b="1" sz="589">
              <a:solidFill>
                <a:srgbClr val="4D4D4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4887" y="956576"/>
            <a:ext cx="385212" cy="385212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5"/>
          <p:cNvSpPr txBox="1"/>
          <p:nvPr/>
        </p:nvSpPr>
        <p:spPr>
          <a:xfrm>
            <a:off x="256650" y="264550"/>
            <a:ext cx="69840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7660A9"/>
                </a:solidFill>
                <a:latin typeface="Poppins"/>
                <a:ea typeface="Poppins"/>
                <a:cs typeface="Poppins"/>
                <a:sym typeface="Poppins"/>
              </a:rPr>
              <a:t>DKubeX 2.0 Architecture</a:t>
            </a:r>
            <a:endParaRPr sz="2400">
              <a:solidFill>
                <a:srgbClr val="7660A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142076" y="4659450"/>
            <a:ext cx="1128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dkube.io</a:t>
            </a:r>
            <a:endParaRPr b="0" i="0" sz="1500" u="none" cap="none" strike="noStrike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70" name="Google Shape;7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36297" y="205400"/>
            <a:ext cx="401253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 txBox="1"/>
          <p:nvPr/>
        </p:nvSpPr>
        <p:spPr>
          <a:xfrm>
            <a:off x="5264350" y="4705650"/>
            <a:ext cx="3573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7660A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Empowering Enterprise AI on Kubernetes</a:t>
            </a:r>
            <a:endParaRPr sz="1300">
              <a:solidFill>
                <a:srgbClr val="7660A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72" name="Google Shape;72;p15"/>
          <p:cNvSpPr/>
          <p:nvPr/>
        </p:nvSpPr>
        <p:spPr>
          <a:xfrm>
            <a:off x="3025410" y="1057532"/>
            <a:ext cx="385200" cy="393000"/>
          </a:xfrm>
          <a:prstGeom prst="roundRect">
            <a:avLst>
              <a:gd fmla="val 6533" name="adj"/>
            </a:avLst>
          </a:prstGeom>
          <a:noFill/>
          <a:ln cap="flat" cmpd="sng" w="8000">
            <a:solidFill>
              <a:srgbClr val="9483BA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76925" lIns="76925" spcFirstLastPara="1" rIns="76925" wrap="square" tIns="7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78"/>
          </a:p>
        </p:txBody>
      </p:sp>
      <p:sp>
        <p:nvSpPr>
          <p:cNvPr id="73" name="Google Shape;73;p15"/>
          <p:cNvSpPr txBox="1"/>
          <p:nvPr/>
        </p:nvSpPr>
        <p:spPr>
          <a:xfrm>
            <a:off x="2974293" y="848755"/>
            <a:ext cx="4875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76925" lIns="76925" spcFirstLastPara="1" rIns="76925" wrap="square" tIns="769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89">
                <a:solidFill>
                  <a:srgbClr val="4D4D4D"/>
                </a:solidFill>
                <a:latin typeface="Poppins"/>
                <a:ea typeface="Poppins"/>
                <a:cs typeface="Poppins"/>
                <a:sym typeface="Poppins"/>
              </a:rPr>
              <a:t>Traefik</a:t>
            </a:r>
            <a:endParaRPr b="1" sz="589">
              <a:solidFill>
                <a:srgbClr val="4D4D4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" name="Google Shape;74;p15"/>
          <p:cNvSpPr/>
          <p:nvPr/>
        </p:nvSpPr>
        <p:spPr>
          <a:xfrm>
            <a:off x="3985810" y="1057520"/>
            <a:ext cx="385200" cy="393000"/>
          </a:xfrm>
          <a:prstGeom prst="roundRect">
            <a:avLst>
              <a:gd fmla="val 6533" name="adj"/>
            </a:avLst>
          </a:prstGeom>
          <a:noFill/>
          <a:ln cap="flat" cmpd="sng" w="8000">
            <a:solidFill>
              <a:srgbClr val="9483BA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76925" lIns="76925" spcFirstLastPara="1" rIns="76925" wrap="square" tIns="7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78"/>
          </a:p>
        </p:txBody>
      </p:sp>
      <p:sp>
        <p:nvSpPr>
          <p:cNvPr id="75" name="Google Shape;75;p15"/>
          <p:cNvSpPr txBox="1"/>
          <p:nvPr/>
        </p:nvSpPr>
        <p:spPr>
          <a:xfrm>
            <a:off x="3934693" y="848743"/>
            <a:ext cx="4875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76925" lIns="76925" spcFirstLastPara="1" rIns="76925" wrap="square" tIns="769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89">
                <a:solidFill>
                  <a:srgbClr val="4D4D4D"/>
                </a:solidFill>
                <a:latin typeface="Poppins"/>
                <a:ea typeface="Poppins"/>
                <a:cs typeface="Poppins"/>
                <a:sym typeface="Poppins"/>
              </a:rPr>
              <a:t>Auth</a:t>
            </a:r>
            <a:endParaRPr b="1" sz="589">
              <a:solidFill>
                <a:srgbClr val="4D4D4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6" name="Google Shape;76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24113" y="1098995"/>
            <a:ext cx="308600" cy="309986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5"/>
          <p:cNvSpPr/>
          <p:nvPr/>
        </p:nvSpPr>
        <p:spPr>
          <a:xfrm>
            <a:off x="4822294" y="984638"/>
            <a:ext cx="2992500" cy="1541100"/>
          </a:xfrm>
          <a:prstGeom prst="roundRect">
            <a:avLst>
              <a:gd fmla="val 6533" name="adj"/>
            </a:avLst>
          </a:prstGeom>
          <a:noFill/>
          <a:ln cap="flat" cmpd="sng" w="8000">
            <a:solidFill>
              <a:srgbClr val="9483BA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76925" lIns="76925" spcFirstLastPara="1" rIns="76925" wrap="square" tIns="7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78"/>
          </a:p>
        </p:txBody>
      </p:sp>
      <p:sp>
        <p:nvSpPr>
          <p:cNvPr id="78" name="Google Shape;78;p15"/>
          <p:cNvSpPr txBox="1"/>
          <p:nvPr/>
        </p:nvSpPr>
        <p:spPr>
          <a:xfrm>
            <a:off x="5659412" y="996148"/>
            <a:ext cx="13182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76925" lIns="76925" spcFirstLastPara="1" rIns="76925" wrap="square" tIns="769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89">
                <a:solidFill>
                  <a:srgbClr val="7660A8"/>
                </a:solidFill>
                <a:latin typeface="Poppins"/>
                <a:ea typeface="Poppins"/>
                <a:cs typeface="Poppins"/>
                <a:sym typeface="Poppins"/>
              </a:rPr>
              <a:t>DKubeX App Store</a:t>
            </a:r>
            <a:endParaRPr b="1" sz="589">
              <a:solidFill>
                <a:srgbClr val="7660A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79" name="Google Shape;79;p15"/>
          <p:cNvGrpSpPr/>
          <p:nvPr/>
        </p:nvGrpSpPr>
        <p:grpSpPr>
          <a:xfrm>
            <a:off x="6564348" y="1355790"/>
            <a:ext cx="1074987" cy="218694"/>
            <a:chOff x="7226671" y="2967915"/>
            <a:chExt cx="703848" cy="218694"/>
          </a:xfrm>
        </p:grpSpPr>
        <p:sp>
          <p:nvSpPr>
            <p:cNvPr id="80" name="Google Shape;80;p15"/>
            <p:cNvSpPr/>
            <p:nvPr/>
          </p:nvSpPr>
          <p:spPr>
            <a:xfrm>
              <a:off x="7242019" y="2980209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2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81" name="Google Shape;81;p15"/>
            <p:cNvSpPr/>
            <p:nvPr/>
          </p:nvSpPr>
          <p:spPr>
            <a:xfrm>
              <a:off x="7226671" y="2967915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5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RAGFlow</a:t>
              </a:r>
              <a:endParaRPr sz="50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grpSp>
        <p:nvGrpSpPr>
          <p:cNvPr id="82" name="Google Shape;82;p15"/>
          <p:cNvGrpSpPr/>
          <p:nvPr/>
        </p:nvGrpSpPr>
        <p:grpSpPr>
          <a:xfrm>
            <a:off x="6562974" y="1623078"/>
            <a:ext cx="1074987" cy="218694"/>
            <a:chOff x="7226671" y="2967915"/>
            <a:chExt cx="703848" cy="218694"/>
          </a:xfrm>
        </p:grpSpPr>
        <p:sp>
          <p:nvSpPr>
            <p:cNvPr id="83" name="Google Shape;83;p15"/>
            <p:cNvSpPr/>
            <p:nvPr/>
          </p:nvSpPr>
          <p:spPr>
            <a:xfrm>
              <a:off x="7242019" y="2980209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2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84" name="Google Shape;84;p15"/>
            <p:cNvSpPr/>
            <p:nvPr/>
          </p:nvSpPr>
          <p:spPr>
            <a:xfrm>
              <a:off x="7226671" y="2967915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5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SecureLLM</a:t>
              </a:r>
              <a:endParaRPr sz="50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grpSp>
        <p:nvGrpSpPr>
          <p:cNvPr id="85" name="Google Shape;85;p15"/>
          <p:cNvGrpSpPr/>
          <p:nvPr/>
        </p:nvGrpSpPr>
        <p:grpSpPr>
          <a:xfrm>
            <a:off x="6562974" y="1890353"/>
            <a:ext cx="1074987" cy="218694"/>
            <a:chOff x="7226671" y="2967915"/>
            <a:chExt cx="703848" cy="218694"/>
          </a:xfrm>
        </p:grpSpPr>
        <p:sp>
          <p:nvSpPr>
            <p:cNvPr id="86" name="Google Shape;86;p15"/>
            <p:cNvSpPr/>
            <p:nvPr/>
          </p:nvSpPr>
          <p:spPr>
            <a:xfrm>
              <a:off x="7242019" y="2980209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2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87" name="Google Shape;87;p15"/>
            <p:cNvSpPr/>
            <p:nvPr/>
          </p:nvSpPr>
          <p:spPr>
            <a:xfrm>
              <a:off x="7226671" y="2967915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5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AgentX</a:t>
              </a:r>
              <a:endParaRPr sz="50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grpSp>
        <p:nvGrpSpPr>
          <p:cNvPr id="88" name="Google Shape;88;p15"/>
          <p:cNvGrpSpPr/>
          <p:nvPr/>
        </p:nvGrpSpPr>
        <p:grpSpPr>
          <a:xfrm>
            <a:off x="5034224" y="1355803"/>
            <a:ext cx="1074987" cy="218694"/>
            <a:chOff x="7226671" y="2967915"/>
            <a:chExt cx="703848" cy="218694"/>
          </a:xfrm>
        </p:grpSpPr>
        <p:sp>
          <p:nvSpPr>
            <p:cNvPr id="89" name="Google Shape;89;p15"/>
            <p:cNvSpPr/>
            <p:nvPr/>
          </p:nvSpPr>
          <p:spPr>
            <a:xfrm>
              <a:off x="7242019" y="2980209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2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90" name="Google Shape;90;p15"/>
            <p:cNvSpPr/>
            <p:nvPr/>
          </p:nvSpPr>
          <p:spPr>
            <a:xfrm>
              <a:off x="7226671" y="2967915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5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MLFlow</a:t>
              </a:r>
              <a:endParaRPr sz="50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grpSp>
        <p:nvGrpSpPr>
          <p:cNvPr id="91" name="Google Shape;91;p15"/>
          <p:cNvGrpSpPr/>
          <p:nvPr/>
        </p:nvGrpSpPr>
        <p:grpSpPr>
          <a:xfrm>
            <a:off x="5034224" y="1623078"/>
            <a:ext cx="1074987" cy="218694"/>
            <a:chOff x="7226671" y="2967915"/>
            <a:chExt cx="703848" cy="218694"/>
          </a:xfrm>
        </p:grpSpPr>
        <p:sp>
          <p:nvSpPr>
            <p:cNvPr id="92" name="Google Shape;92;p15"/>
            <p:cNvSpPr/>
            <p:nvPr/>
          </p:nvSpPr>
          <p:spPr>
            <a:xfrm>
              <a:off x="7242019" y="2980209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2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93" name="Google Shape;93;p15"/>
            <p:cNvSpPr/>
            <p:nvPr/>
          </p:nvSpPr>
          <p:spPr>
            <a:xfrm>
              <a:off x="7226671" y="2967915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5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Model Studio</a:t>
              </a:r>
              <a:endParaRPr sz="50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grpSp>
        <p:nvGrpSpPr>
          <p:cNvPr id="94" name="Google Shape;94;p15"/>
          <p:cNvGrpSpPr/>
          <p:nvPr/>
        </p:nvGrpSpPr>
        <p:grpSpPr>
          <a:xfrm>
            <a:off x="5034224" y="1890353"/>
            <a:ext cx="1074987" cy="218694"/>
            <a:chOff x="7226671" y="2967915"/>
            <a:chExt cx="703848" cy="218694"/>
          </a:xfrm>
        </p:grpSpPr>
        <p:sp>
          <p:nvSpPr>
            <p:cNvPr id="95" name="Google Shape;95;p15"/>
            <p:cNvSpPr/>
            <p:nvPr/>
          </p:nvSpPr>
          <p:spPr>
            <a:xfrm>
              <a:off x="7242019" y="2980209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2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96" name="Google Shape;96;p15"/>
            <p:cNvSpPr/>
            <p:nvPr/>
          </p:nvSpPr>
          <p:spPr>
            <a:xfrm>
              <a:off x="7226671" y="2967915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5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LangFlow</a:t>
              </a:r>
              <a:endParaRPr sz="50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grpSp>
        <p:nvGrpSpPr>
          <p:cNvPr id="97" name="Google Shape;97;p15"/>
          <p:cNvGrpSpPr/>
          <p:nvPr/>
        </p:nvGrpSpPr>
        <p:grpSpPr>
          <a:xfrm>
            <a:off x="5034224" y="2157628"/>
            <a:ext cx="1074987" cy="218694"/>
            <a:chOff x="7226671" y="2967915"/>
            <a:chExt cx="703848" cy="218694"/>
          </a:xfrm>
        </p:grpSpPr>
        <p:sp>
          <p:nvSpPr>
            <p:cNvPr id="98" name="Google Shape;98;p15"/>
            <p:cNvSpPr/>
            <p:nvPr/>
          </p:nvSpPr>
          <p:spPr>
            <a:xfrm>
              <a:off x="7242019" y="2980209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2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99" name="Google Shape;99;p15"/>
            <p:cNvSpPr/>
            <p:nvPr/>
          </p:nvSpPr>
          <p:spPr>
            <a:xfrm>
              <a:off x="7226671" y="2967915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5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Mortgage-Lite</a:t>
              </a:r>
              <a:endParaRPr sz="50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grpSp>
        <p:nvGrpSpPr>
          <p:cNvPr id="100" name="Google Shape;100;p15"/>
          <p:cNvGrpSpPr/>
          <p:nvPr/>
        </p:nvGrpSpPr>
        <p:grpSpPr>
          <a:xfrm>
            <a:off x="6562974" y="2157628"/>
            <a:ext cx="1074987" cy="218694"/>
            <a:chOff x="7226671" y="2967915"/>
            <a:chExt cx="703848" cy="218694"/>
          </a:xfrm>
        </p:grpSpPr>
        <p:sp>
          <p:nvSpPr>
            <p:cNvPr id="101" name="Google Shape;101;p15"/>
            <p:cNvSpPr/>
            <p:nvPr/>
          </p:nvSpPr>
          <p:spPr>
            <a:xfrm>
              <a:off x="7242019" y="2980209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2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102" name="Google Shape;102;p15"/>
            <p:cNvSpPr/>
            <p:nvPr/>
          </p:nvSpPr>
          <p:spPr>
            <a:xfrm>
              <a:off x="7226671" y="2967915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5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Law-Lite</a:t>
              </a:r>
              <a:endParaRPr sz="50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sp>
        <p:nvSpPr>
          <p:cNvPr id="103" name="Google Shape;103;p15"/>
          <p:cNvSpPr/>
          <p:nvPr/>
        </p:nvSpPr>
        <p:spPr>
          <a:xfrm>
            <a:off x="2087588" y="1609063"/>
            <a:ext cx="2639400" cy="916800"/>
          </a:xfrm>
          <a:prstGeom prst="roundRect">
            <a:avLst>
              <a:gd fmla="val 6533" name="adj"/>
            </a:avLst>
          </a:prstGeom>
          <a:noFill/>
          <a:ln cap="flat" cmpd="sng" w="8000">
            <a:solidFill>
              <a:srgbClr val="9483BA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76925" lIns="76925" spcFirstLastPara="1" rIns="76925" wrap="square" tIns="7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78"/>
          </a:p>
        </p:txBody>
      </p:sp>
      <p:sp>
        <p:nvSpPr>
          <p:cNvPr id="104" name="Google Shape;104;p15"/>
          <p:cNvSpPr txBox="1"/>
          <p:nvPr/>
        </p:nvSpPr>
        <p:spPr>
          <a:xfrm>
            <a:off x="2975726" y="1609436"/>
            <a:ext cx="8631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76925" lIns="76925" spcFirstLastPara="1" rIns="76925" wrap="square" tIns="769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89">
                <a:solidFill>
                  <a:srgbClr val="7660A8"/>
                </a:solidFill>
                <a:latin typeface="Poppins"/>
                <a:ea typeface="Poppins"/>
                <a:cs typeface="Poppins"/>
                <a:sym typeface="Poppins"/>
              </a:rPr>
              <a:t>Core</a:t>
            </a:r>
            <a:endParaRPr b="1" sz="589">
              <a:solidFill>
                <a:srgbClr val="7660A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05" name="Google Shape;105;p15"/>
          <p:cNvGrpSpPr/>
          <p:nvPr/>
        </p:nvGrpSpPr>
        <p:grpSpPr>
          <a:xfrm>
            <a:off x="3960108" y="1937953"/>
            <a:ext cx="703848" cy="218694"/>
            <a:chOff x="7226671" y="2967915"/>
            <a:chExt cx="703848" cy="218694"/>
          </a:xfrm>
        </p:grpSpPr>
        <p:sp>
          <p:nvSpPr>
            <p:cNvPr id="106" name="Google Shape;106;p15"/>
            <p:cNvSpPr/>
            <p:nvPr/>
          </p:nvSpPr>
          <p:spPr>
            <a:xfrm>
              <a:off x="7242019" y="2980209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2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107" name="Google Shape;107;p15"/>
            <p:cNvSpPr/>
            <p:nvPr/>
          </p:nvSpPr>
          <p:spPr>
            <a:xfrm>
              <a:off x="7226671" y="2967915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5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Kopf Operator</a:t>
              </a:r>
              <a:endParaRPr sz="50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sp>
        <p:nvSpPr>
          <p:cNvPr id="108" name="Google Shape;108;p15"/>
          <p:cNvSpPr txBox="1"/>
          <p:nvPr/>
        </p:nvSpPr>
        <p:spPr>
          <a:xfrm>
            <a:off x="4004236" y="2199556"/>
            <a:ext cx="6156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76925" lIns="76925" spcFirstLastPara="1" rIns="76925" wrap="square" tIns="769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89">
                <a:solidFill>
                  <a:srgbClr val="4D4D4D"/>
                </a:solidFill>
                <a:latin typeface="Poppins"/>
                <a:ea typeface="Poppins"/>
                <a:cs typeface="Poppins"/>
                <a:sym typeface="Poppins"/>
              </a:rPr>
              <a:t>Controller</a:t>
            </a:r>
            <a:endParaRPr sz="589">
              <a:solidFill>
                <a:srgbClr val="4D4D4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09" name="Google Shape;109;p15"/>
          <p:cNvGrpSpPr/>
          <p:nvPr/>
        </p:nvGrpSpPr>
        <p:grpSpPr>
          <a:xfrm>
            <a:off x="3081633" y="1937953"/>
            <a:ext cx="703848" cy="218694"/>
            <a:chOff x="7226671" y="2967915"/>
            <a:chExt cx="703848" cy="218694"/>
          </a:xfrm>
        </p:grpSpPr>
        <p:sp>
          <p:nvSpPr>
            <p:cNvPr id="110" name="Google Shape;110;p15"/>
            <p:cNvSpPr/>
            <p:nvPr/>
          </p:nvSpPr>
          <p:spPr>
            <a:xfrm>
              <a:off x="7242019" y="2980209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2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111" name="Google Shape;111;p15"/>
            <p:cNvSpPr/>
            <p:nvPr/>
          </p:nvSpPr>
          <p:spPr>
            <a:xfrm>
              <a:off x="7226671" y="2967915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5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Backend</a:t>
              </a:r>
              <a:endParaRPr sz="50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sp>
        <p:nvSpPr>
          <p:cNvPr id="112" name="Google Shape;112;p15"/>
          <p:cNvSpPr txBox="1"/>
          <p:nvPr/>
        </p:nvSpPr>
        <p:spPr>
          <a:xfrm>
            <a:off x="3125761" y="2199556"/>
            <a:ext cx="6156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76925" lIns="76925" spcFirstLastPara="1" rIns="76925" wrap="square" tIns="769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89">
                <a:solidFill>
                  <a:srgbClr val="4D4D4D"/>
                </a:solidFill>
                <a:latin typeface="Poppins"/>
                <a:ea typeface="Poppins"/>
                <a:cs typeface="Poppins"/>
                <a:sym typeface="Poppins"/>
              </a:rPr>
              <a:t>FastAPI</a:t>
            </a:r>
            <a:endParaRPr sz="589">
              <a:solidFill>
                <a:srgbClr val="4D4D4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13" name="Google Shape;113;p15"/>
          <p:cNvGrpSpPr/>
          <p:nvPr/>
        </p:nvGrpSpPr>
        <p:grpSpPr>
          <a:xfrm>
            <a:off x="2203158" y="1937947"/>
            <a:ext cx="703848" cy="218694"/>
            <a:chOff x="7226671" y="2967915"/>
            <a:chExt cx="703848" cy="218694"/>
          </a:xfrm>
        </p:grpSpPr>
        <p:sp>
          <p:nvSpPr>
            <p:cNvPr id="114" name="Google Shape;114;p15"/>
            <p:cNvSpPr/>
            <p:nvPr/>
          </p:nvSpPr>
          <p:spPr>
            <a:xfrm>
              <a:off x="7242019" y="2980209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2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115" name="Google Shape;115;p15"/>
            <p:cNvSpPr/>
            <p:nvPr/>
          </p:nvSpPr>
          <p:spPr>
            <a:xfrm>
              <a:off x="7226671" y="2967915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5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Frontend</a:t>
              </a:r>
              <a:endParaRPr sz="50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sp>
        <p:nvSpPr>
          <p:cNvPr id="116" name="Google Shape;116;p15"/>
          <p:cNvSpPr txBox="1"/>
          <p:nvPr/>
        </p:nvSpPr>
        <p:spPr>
          <a:xfrm>
            <a:off x="2163013" y="2199563"/>
            <a:ext cx="7842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76925" lIns="76925" spcFirstLastPara="1" rIns="76925" wrap="square" tIns="769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89">
                <a:solidFill>
                  <a:srgbClr val="4D4D4D"/>
                </a:solidFill>
                <a:latin typeface="Poppins"/>
                <a:ea typeface="Poppins"/>
                <a:cs typeface="Poppins"/>
                <a:sym typeface="Poppins"/>
              </a:rPr>
              <a:t>React + NGINX</a:t>
            </a:r>
            <a:endParaRPr sz="589">
              <a:solidFill>
                <a:srgbClr val="4D4D4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7" name="Google Shape;117;p15"/>
          <p:cNvSpPr/>
          <p:nvPr/>
        </p:nvSpPr>
        <p:spPr>
          <a:xfrm>
            <a:off x="2087588" y="2720263"/>
            <a:ext cx="5727300" cy="385200"/>
          </a:xfrm>
          <a:prstGeom prst="roundRect">
            <a:avLst>
              <a:gd fmla="val 6533" name="adj"/>
            </a:avLst>
          </a:prstGeom>
          <a:noFill/>
          <a:ln cap="flat" cmpd="sng" w="8000">
            <a:solidFill>
              <a:srgbClr val="9483BA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76925" lIns="76925" spcFirstLastPara="1" rIns="76925" wrap="square" tIns="7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78"/>
          </a:p>
        </p:txBody>
      </p:sp>
      <p:sp>
        <p:nvSpPr>
          <p:cNvPr id="118" name="Google Shape;118;p15"/>
          <p:cNvSpPr txBox="1"/>
          <p:nvPr/>
        </p:nvSpPr>
        <p:spPr>
          <a:xfrm>
            <a:off x="2087596" y="2751975"/>
            <a:ext cx="5553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76925" lIns="76925" spcFirstLastPara="1" rIns="76925" wrap="square" tIns="769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89">
                <a:solidFill>
                  <a:srgbClr val="7660A8"/>
                </a:solidFill>
                <a:latin typeface="Poppins"/>
                <a:ea typeface="Poppins"/>
                <a:cs typeface="Poppins"/>
                <a:sym typeface="Poppins"/>
              </a:rPr>
              <a:t>Data &amp; Storage</a:t>
            </a:r>
            <a:endParaRPr b="1" sz="589">
              <a:solidFill>
                <a:srgbClr val="7660A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19" name="Google Shape;119;p15"/>
          <p:cNvGrpSpPr/>
          <p:nvPr/>
        </p:nvGrpSpPr>
        <p:grpSpPr>
          <a:xfrm>
            <a:off x="5413442" y="2820321"/>
            <a:ext cx="986443" cy="218694"/>
            <a:chOff x="7226671" y="2967915"/>
            <a:chExt cx="703848" cy="218694"/>
          </a:xfrm>
        </p:grpSpPr>
        <p:sp>
          <p:nvSpPr>
            <p:cNvPr id="120" name="Google Shape;120;p15"/>
            <p:cNvSpPr/>
            <p:nvPr/>
          </p:nvSpPr>
          <p:spPr>
            <a:xfrm>
              <a:off x="7242019" y="2980209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2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121" name="Google Shape;121;p15"/>
            <p:cNvSpPr/>
            <p:nvPr/>
          </p:nvSpPr>
          <p:spPr>
            <a:xfrm>
              <a:off x="7226671" y="2967915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5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MinIO</a:t>
              </a:r>
              <a:endParaRPr sz="50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grpSp>
        <p:nvGrpSpPr>
          <p:cNvPr id="122" name="Google Shape;122;p15"/>
          <p:cNvGrpSpPr/>
          <p:nvPr/>
        </p:nvGrpSpPr>
        <p:grpSpPr>
          <a:xfrm>
            <a:off x="4113858" y="2806846"/>
            <a:ext cx="986443" cy="218694"/>
            <a:chOff x="7226671" y="2967915"/>
            <a:chExt cx="703848" cy="218694"/>
          </a:xfrm>
        </p:grpSpPr>
        <p:sp>
          <p:nvSpPr>
            <p:cNvPr id="123" name="Google Shape;123;p15"/>
            <p:cNvSpPr/>
            <p:nvPr/>
          </p:nvSpPr>
          <p:spPr>
            <a:xfrm>
              <a:off x="7242019" y="2980209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2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124" name="Google Shape;124;p15"/>
            <p:cNvSpPr/>
            <p:nvPr/>
          </p:nvSpPr>
          <p:spPr>
            <a:xfrm>
              <a:off x="7226671" y="2967915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5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Redis</a:t>
              </a:r>
              <a:endParaRPr sz="50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grpSp>
        <p:nvGrpSpPr>
          <p:cNvPr id="125" name="Google Shape;125;p15"/>
          <p:cNvGrpSpPr/>
          <p:nvPr/>
        </p:nvGrpSpPr>
        <p:grpSpPr>
          <a:xfrm>
            <a:off x="2814274" y="2806841"/>
            <a:ext cx="986443" cy="218694"/>
            <a:chOff x="7226671" y="2967915"/>
            <a:chExt cx="703848" cy="218694"/>
          </a:xfrm>
        </p:grpSpPr>
        <p:sp>
          <p:nvSpPr>
            <p:cNvPr id="126" name="Google Shape;126;p15"/>
            <p:cNvSpPr/>
            <p:nvPr/>
          </p:nvSpPr>
          <p:spPr>
            <a:xfrm>
              <a:off x="7242019" y="2980209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2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127" name="Google Shape;127;p15"/>
            <p:cNvSpPr/>
            <p:nvPr/>
          </p:nvSpPr>
          <p:spPr>
            <a:xfrm>
              <a:off x="7226671" y="2967915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5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PostgreSQL</a:t>
              </a:r>
              <a:endParaRPr sz="50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grpSp>
        <p:nvGrpSpPr>
          <p:cNvPr id="128" name="Google Shape;128;p15"/>
          <p:cNvGrpSpPr/>
          <p:nvPr/>
        </p:nvGrpSpPr>
        <p:grpSpPr>
          <a:xfrm>
            <a:off x="6713026" y="2820321"/>
            <a:ext cx="986443" cy="218694"/>
            <a:chOff x="7226671" y="2967915"/>
            <a:chExt cx="703848" cy="218694"/>
          </a:xfrm>
        </p:grpSpPr>
        <p:sp>
          <p:nvSpPr>
            <p:cNvPr id="129" name="Google Shape;129;p15"/>
            <p:cNvSpPr/>
            <p:nvPr/>
          </p:nvSpPr>
          <p:spPr>
            <a:xfrm>
              <a:off x="7242019" y="2980209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2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130" name="Google Shape;130;p15"/>
            <p:cNvSpPr/>
            <p:nvPr/>
          </p:nvSpPr>
          <p:spPr>
            <a:xfrm>
              <a:off x="7226671" y="2967915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5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NFS Server</a:t>
              </a:r>
              <a:endParaRPr sz="50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sp>
        <p:nvSpPr>
          <p:cNvPr id="131" name="Google Shape;131;p15"/>
          <p:cNvSpPr/>
          <p:nvPr/>
        </p:nvSpPr>
        <p:spPr>
          <a:xfrm>
            <a:off x="2087588" y="3147463"/>
            <a:ext cx="3120300" cy="943200"/>
          </a:xfrm>
          <a:prstGeom prst="roundRect">
            <a:avLst>
              <a:gd fmla="val 6533" name="adj"/>
            </a:avLst>
          </a:prstGeom>
          <a:noFill/>
          <a:ln cap="flat" cmpd="sng" w="8000">
            <a:solidFill>
              <a:srgbClr val="9483BA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76925" lIns="76925" spcFirstLastPara="1" rIns="76925" wrap="square" tIns="7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78"/>
          </a:p>
        </p:txBody>
      </p:sp>
      <p:sp>
        <p:nvSpPr>
          <p:cNvPr id="132" name="Google Shape;132;p15"/>
          <p:cNvSpPr txBox="1"/>
          <p:nvPr/>
        </p:nvSpPr>
        <p:spPr>
          <a:xfrm>
            <a:off x="2087588" y="3220744"/>
            <a:ext cx="7038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76925" lIns="76925" spcFirstLastPara="1" rIns="76925" wrap="square" tIns="769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89">
                <a:solidFill>
                  <a:srgbClr val="7660A8"/>
                </a:solidFill>
                <a:latin typeface="Poppins"/>
                <a:ea typeface="Poppins"/>
                <a:cs typeface="Poppins"/>
                <a:sym typeface="Poppins"/>
              </a:rPr>
              <a:t>Observability</a:t>
            </a:r>
            <a:endParaRPr b="1" sz="589">
              <a:solidFill>
                <a:srgbClr val="7660A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33" name="Google Shape;133;p15"/>
          <p:cNvGrpSpPr/>
          <p:nvPr/>
        </p:nvGrpSpPr>
        <p:grpSpPr>
          <a:xfrm>
            <a:off x="4113858" y="3234035"/>
            <a:ext cx="986443" cy="218694"/>
            <a:chOff x="7226671" y="2967915"/>
            <a:chExt cx="703848" cy="218694"/>
          </a:xfrm>
        </p:grpSpPr>
        <p:sp>
          <p:nvSpPr>
            <p:cNvPr id="134" name="Google Shape;134;p15"/>
            <p:cNvSpPr/>
            <p:nvPr/>
          </p:nvSpPr>
          <p:spPr>
            <a:xfrm>
              <a:off x="7242019" y="2980209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2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135" name="Google Shape;135;p15"/>
            <p:cNvSpPr/>
            <p:nvPr/>
          </p:nvSpPr>
          <p:spPr>
            <a:xfrm>
              <a:off x="7226671" y="2967915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5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ClickStack / HyperDX</a:t>
              </a:r>
              <a:endParaRPr sz="50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grpSp>
        <p:nvGrpSpPr>
          <p:cNvPr id="136" name="Google Shape;136;p15"/>
          <p:cNvGrpSpPr/>
          <p:nvPr/>
        </p:nvGrpSpPr>
        <p:grpSpPr>
          <a:xfrm>
            <a:off x="2814274" y="3234030"/>
            <a:ext cx="986443" cy="218694"/>
            <a:chOff x="7226671" y="2967915"/>
            <a:chExt cx="703848" cy="218694"/>
          </a:xfrm>
        </p:grpSpPr>
        <p:sp>
          <p:nvSpPr>
            <p:cNvPr id="137" name="Google Shape;137;p15"/>
            <p:cNvSpPr/>
            <p:nvPr/>
          </p:nvSpPr>
          <p:spPr>
            <a:xfrm>
              <a:off x="7242019" y="2980209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2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138" name="Google Shape;138;p15"/>
            <p:cNvSpPr/>
            <p:nvPr/>
          </p:nvSpPr>
          <p:spPr>
            <a:xfrm>
              <a:off x="7226671" y="2967915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5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OTel Daemonset</a:t>
              </a:r>
              <a:endParaRPr sz="50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sp>
        <p:nvSpPr>
          <p:cNvPr id="139" name="Google Shape;139;p15"/>
          <p:cNvSpPr txBox="1"/>
          <p:nvPr/>
        </p:nvSpPr>
        <p:spPr>
          <a:xfrm>
            <a:off x="2829487" y="3413688"/>
            <a:ext cx="9561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76925" lIns="76925" spcFirstLastPara="1" rIns="76925" wrap="square" tIns="769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89">
                <a:solidFill>
                  <a:srgbClr val="4D4D4D"/>
                </a:solidFill>
                <a:latin typeface="Poppins"/>
                <a:ea typeface="Poppins"/>
                <a:cs typeface="Poppins"/>
                <a:sym typeface="Poppins"/>
              </a:rPr>
              <a:t>Node + Pod Data</a:t>
            </a:r>
            <a:endParaRPr sz="589">
              <a:solidFill>
                <a:srgbClr val="4D4D4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40" name="Google Shape;140;p15"/>
          <p:cNvGrpSpPr/>
          <p:nvPr/>
        </p:nvGrpSpPr>
        <p:grpSpPr>
          <a:xfrm>
            <a:off x="2814274" y="3665146"/>
            <a:ext cx="986443" cy="218694"/>
            <a:chOff x="7226671" y="2967915"/>
            <a:chExt cx="703848" cy="218694"/>
          </a:xfrm>
        </p:grpSpPr>
        <p:sp>
          <p:nvSpPr>
            <p:cNvPr id="141" name="Google Shape;141;p15"/>
            <p:cNvSpPr/>
            <p:nvPr/>
          </p:nvSpPr>
          <p:spPr>
            <a:xfrm>
              <a:off x="7242019" y="2980209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2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142" name="Google Shape;142;p15"/>
            <p:cNvSpPr/>
            <p:nvPr/>
          </p:nvSpPr>
          <p:spPr>
            <a:xfrm>
              <a:off x="7226671" y="2967915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5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OTel Deployment</a:t>
              </a:r>
              <a:endParaRPr sz="50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sp>
        <p:nvSpPr>
          <p:cNvPr id="143" name="Google Shape;143;p15"/>
          <p:cNvSpPr txBox="1"/>
          <p:nvPr/>
        </p:nvSpPr>
        <p:spPr>
          <a:xfrm>
            <a:off x="2814262" y="3844813"/>
            <a:ext cx="9864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76925" lIns="76925" spcFirstLastPara="1" rIns="76925" wrap="square" tIns="769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89">
                <a:solidFill>
                  <a:srgbClr val="4D4D4D"/>
                </a:solidFill>
                <a:latin typeface="Poppins"/>
                <a:ea typeface="Poppins"/>
                <a:cs typeface="Poppins"/>
                <a:sym typeface="Poppins"/>
              </a:rPr>
              <a:t>Cluster Telemetry</a:t>
            </a:r>
            <a:endParaRPr sz="589">
              <a:solidFill>
                <a:srgbClr val="4D4D4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4" name="Google Shape;144;p15"/>
          <p:cNvSpPr txBox="1"/>
          <p:nvPr/>
        </p:nvSpPr>
        <p:spPr>
          <a:xfrm>
            <a:off x="4113850" y="3413688"/>
            <a:ext cx="9864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76925" lIns="76925" spcFirstLastPara="1" rIns="76925" wrap="square" tIns="769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89">
                <a:solidFill>
                  <a:srgbClr val="4D4D4D"/>
                </a:solidFill>
                <a:latin typeface="Poppins"/>
                <a:ea typeface="Poppins"/>
                <a:cs typeface="Poppins"/>
                <a:sym typeface="Poppins"/>
              </a:rPr>
              <a:t>Telemetry Backend</a:t>
            </a:r>
            <a:endParaRPr sz="589">
              <a:solidFill>
                <a:srgbClr val="4D4D4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5" name="Google Shape;145;p15"/>
          <p:cNvSpPr/>
          <p:nvPr/>
        </p:nvSpPr>
        <p:spPr>
          <a:xfrm>
            <a:off x="5276875" y="3147600"/>
            <a:ext cx="2538000" cy="943200"/>
          </a:xfrm>
          <a:prstGeom prst="roundRect">
            <a:avLst>
              <a:gd fmla="val 6533" name="adj"/>
            </a:avLst>
          </a:prstGeom>
          <a:noFill/>
          <a:ln cap="flat" cmpd="sng" w="8000">
            <a:solidFill>
              <a:srgbClr val="9483BA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76925" lIns="76925" spcFirstLastPara="1" rIns="76925" wrap="square" tIns="7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78"/>
          </a:p>
        </p:txBody>
      </p:sp>
      <p:sp>
        <p:nvSpPr>
          <p:cNvPr id="146" name="Google Shape;146;p15"/>
          <p:cNvSpPr txBox="1"/>
          <p:nvPr/>
        </p:nvSpPr>
        <p:spPr>
          <a:xfrm>
            <a:off x="5986847" y="3118125"/>
            <a:ext cx="11181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76925" lIns="76925" spcFirstLastPara="1" rIns="76925" wrap="square" tIns="769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89">
                <a:solidFill>
                  <a:srgbClr val="7660A8"/>
                </a:solidFill>
                <a:latin typeface="Poppins"/>
                <a:ea typeface="Poppins"/>
                <a:cs typeface="Poppins"/>
                <a:sym typeface="Poppins"/>
              </a:rPr>
              <a:t>Tools &amp; Admin UIs</a:t>
            </a:r>
            <a:endParaRPr b="1" sz="589">
              <a:solidFill>
                <a:srgbClr val="7660A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47" name="Google Shape;147;p15"/>
          <p:cNvGrpSpPr/>
          <p:nvPr/>
        </p:nvGrpSpPr>
        <p:grpSpPr>
          <a:xfrm>
            <a:off x="6753955" y="3340299"/>
            <a:ext cx="911695" cy="181516"/>
            <a:chOff x="7226671" y="2967915"/>
            <a:chExt cx="703848" cy="218694"/>
          </a:xfrm>
        </p:grpSpPr>
        <p:sp>
          <p:nvSpPr>
            <p:cNvPr id="148" name="Google Shape;148;p15"/>
            <p:cNvSpPr/>
            <p:nvPr/>
          </p:nvSpPr>
          <p:spPr>
            <a:xfrm>
              <a:off x="7242019" y="2980209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2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149" name="Google Shape;149;p15"/>
            <p:cNvSpPr/>
            <p:nvPr/>
          </p:nvSpPr>
          <p:spPr>
            <a:xfrm>
              <a:off x="7226671" y="2967915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5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Traefik Dashboard</a:t>
              </a:r>
              <a:endParaRPr sz="50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grpSp>
        <p:nvGrpSpPr>
          <p:cNvPr id="150" name="Google Shape;150;p15"/>
          <p:cNvGrpSpPr/>
          <p:nvPr/>
        </p:nvGrpSpPr>
        <p:grpSpPr>
          <a:xfrm>
            <a:off x="6752790" y="3562142"/>
            <a:ext cx="911695" cy="181516"/>
            <a:chOff x="7226671" y="2967915"/>
            <a:chExt cx="703848" cy="218694"/>
          </a:xfrm>
        </p:grpSpPr>
        <p:sp>
          <p:nvSpPr>
            <p:cNvPr id="151" name="Google Shape;151;p15"/>
            <p:cNvSpPr/>
            <p:nvPr/>
          </p:nvSpPr>
          <p:spPr>
            <a:xfrm>
              <a:off x="7242019" y="2980209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2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152" name="Google Shape;152;p15"/>
            <p:cNvSpPr/>
            <p:nvPr/>
          </p:nvSpPr>
          <p:spPr>
            <a:xfrm>
              <a:off x="7226671" y="2967915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5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HyperDX UI</a:t>
              </a:r>
              <a:endParaRPr sz="50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grpSp>
        <p:nvGrpSpPr>
          <p:cNvPr id="153" name="Google Shape;153;p15"/>
          <p:cNvGrpSpPr/>
          <p:nvPr/>
        </p:nvGrpSpPr>
        <p:grpSpPr>
          <a:xfrm>
            <a:off x="6752790" y="3783975"/>
            <a:ext cx="911695" cy="181516"/>
            <a:chOff x="7226671" y="2967915"/>
            <a:chExt cx="703848" cy="218694"/>
          </a:xfrm>
        </p:grpSpPr>
        <p:sp>
          <p:nvSpPr>
            <p:cNvPr id="154" name="Google Shape;154;p15"/>
            <p:cNvSpPr/>
            <p:nvPr/>
          </p:nvSpPr>
          <p:spPr>
            <a:xfrm>
              <a:off x="7242019" y="2980209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2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155" name="Google Shape;155;p15"/>
            <p:cNvSpPr/>
            <p:nvPr/>
          </p:nvSpPr>
          <p:spPr>
            <a:xfrm>
              <a:off x="7226671" y="2967915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5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PGAdmin</a:t>
              </a:r>
              <a:endParaRPr sz="50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grpSp>
        <p:nvGrpSpPr>
          <p:cNvPr id="156" name="Google Shape;156;p15"/>
          <p:cNvGrpSpPr/>
          <p:nvPr/>
        </p:nvGrpSpPr>
        <p:grpSpPr>
          <a:xfrm>
            <a:off x="5456206" y="3340309"/>
            <a:ext cx="911695" cy="181516"/>
            <a:chOff x="7226671" y="2967915"/>
            <a:chExt cx="703848" cy="218694"/>
          </a:xfrm>
        </p:grpSpPr>
        <p:sp>
          <p:nvSpPr>
            <p:cNvPr id="157" name="Google Shape;157;p15"/>
            <p:cNvSpPr/>
            <p:nvPr/>
          </p:nvSpPr>
          <p:spPr>
            <a:xfrm>
              <a:off x="7242019" y="2980209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2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158" name="Google Shape;158;p15"/>
            <p:cNvSpPr/>
            <p:nvPr/>
          </p:nvSpPr>
          <p:spPr>
            <a:xfrm>
              <a:off x="7226671" y="2967915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5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HeadLamp</a:t>
              </a:r>
              <a:endParaRPr sz="50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grpSp>
        <p:nvGrpSpPr>
          <p:cNvPr id="159" name="Google Shape;159;p15"/>
          <p:cNvGrpSpPr/>
          <p:nvPr/>
        </p:nvGrpSpPr>
        <p:grpSpPr>
          <a:xfrm>
            <a:off x="5456206" y="3562142"/>
            <a:ext cx="911695" cy="181516"/>
            <a:chOff x="7226671" y="2967915"/>
            <a:chExt cx="703848" cy="218694"/>
          </a:xfrm>
        </p:grpSpPr>
        <p:sp>
          <p:nvSpPr>
            <p:cNvPr id="160" name="Google Shape;160;p15"/>
            <p:cNvSpPr/>
            <p:nvPr/>
          </p:nvSpPr>
          <p:spPr>
            <a:xfrm>
              <a:off x="7242019" y="2980209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2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161" name="Google Shape;161;p15"/>
            <p:cNvSpPr/>
            <p:nvPr/>
          </p:nvSpPr>
          <p:spPr>
            <a:xfrm>
              <a:off x="7226671" y="2967915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5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MinIO Console</a:t>
              </a:r>
              <a:endParaRPr sz="50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grpSp>
        <p:nvGrpSpPr>
          <p:cNvPr id="162" name="Google Shape;162;p15"/>
          <p:cNvGrpSpPr/>
          <p:nvPr/>
        </p:nvGrpSpPr>
        <p:grpSpPr>
          <a:xfrm>
            <a:off x="5456206" y="3783975"/>
            <a:ext cx="911695" cy="181516"/>
            <a:chOff x="7226671" y="2967915"/>
            <a:chExt cx="703848" cy="218694"/>
          </a:xfrm>
        </p:grpSpPr>
        <p:sp>
          <p:nvSpPr>
            <p:cNvPr id="163" name="Google Shape;163;p15"/>
            <p:cNvSpPr/>
            <p:nvPr/>
          </p:nvSpPr>
          <p:spPr>
            <a:xfrm>
              <a:off x="7242019" y="2980209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2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164" name="Google Shape;164;p15"/>
            <p:cNvSpPr/>
            <p:nvPr/>
          </p:nvSpPr>
          <p:spPr>
            <a:xfrm>
              <a:off x="7226671" y="2967915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5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File Browser</a:t>
              </a:r>
              <a:endParaRPr sz="50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sp>
        <p:nvSpPr>
          <p:cNvPr id="165" name="Google Shape;165;p15"/>
          <p:cNvSpPr/>
          <p:nvPr/>
        </p:nvSpPr>
        <p:spPr>
          <a:xfrm>
            <a:off x="2087588" y="4194913"/>
            <a:ext cx="5727300" cy="385200"/>
          </a:xfrm>
          <a:prstGeom prst="roundRect">
            <a:avLst>
              <a:gd fmla="val 6533" name="adj"/>
            </a:avLst>
          </a:prstGeom>
          <a:noFill/>
          <a:ln cap="flat" cmpd="sng" w="8000">
            <a:solidFill>
              <a:srgbClr val="9483BA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76925" lIns="76925" spcFirstLastPara="1" rIns="76925" wrap="square" tIns="7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78"/>
          </a:p>
        </p:txBody>
      </p:sp>
      <p:sp>
        <p:nvSpPr>
          <p:cNvPr id="166" name="Google Shape;166;p15"/>
          <p:cNvSpPr txBox="1"/>
          <p:nvPr/>
        </p:nvSpPr>
        <p:spPr>
          <a:xfrm>
            <a:off x="2087588" y="4266051"/>
            <a:ext cx="7419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76925" lIns="76925" spcFirstLastPara="1" rIns="76925" wrap="square" tIns="769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89">
                <a:solidFill>
                  <a:srgbClr val="7660A8"/>
                </a:solidFill>
                <a:latin typeface="Poppins"/>
                <a:ea typeface="Poppins"/>
                <a:cs typeface="Poppins"/>
                <a:sym typeface="Poppins"/>
              </a:rPr>
              <a:t>Infrastructure</a:t>
            </a:r>
            <a:endParaRPr b="1" sz="589">
              <a:solidFill>
                <a:srgbClr val="7660A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67" name="Google Shape;167;p15"/>
          <p:cNvGrpSpPr/>
          <p:nvPr/>
        </p:nvGrpSpPr>
        <p:grpSpPr>
          <a:xfrm>
            <a:off x="6068552" y="4294808"/>
            <a:ext cx="782187" cy="218694"/>
            <a:chOff x="7226671" y="2967915"/>
            <a:chExt cx="703848" cy="218694"/>
          </a:xfrm>
        </p:grpSpPr>
        <p:sp>
          <p:nvSpPr>
            <p:cNvPr id="168" name="Google Shape;168;p15"/>
            <p:cNvSpPr/>
            <p:nvPr/>
          </p:nvSpPr>
          <p:spPr>
            <a:xfrm>
              <a:off x="7242019" y="2980209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2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169" name="Google Shape;169;p15"/>
            <p:cNvSpPr/>
            <p:nvPr/>
          </p:nvSpPr>
          <p:spPr>
            <a:xfrm>
              <a:off x="7226671" y="2967915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5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CPU Nodes</a:t>
              </a:r>
              <a:endParaRPr sz="50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grpSp>
        <p:nvGrpSpPr>
          <p:cNvPr id="170" name="Google Shape;170;p15"/>
          <p:cNvGrpSpPr/>
          <p:nvPr/>
        </p:nvGrpSpPr>
        <p:grpSpPr>
          <a:xfrm>
            <a:off x="6917731" y="4294808"/>
            <a:ext cx="782187" cy="218694"/>
            <a:chOff x="7226671" y="2967915"/>
            <a:chExt cx="703848" cy="218694"/>
          </a:xfrm>
        </p:grpSpPr>
        <p:sp>
          <p:nvSpPr>
            <p:cNvPr id="171" name="Google Shape;171;p15"/>
            <p:cNvSpPr/>
            <p:nvPr/>
          </p:nvSpPr>
          <p:spPr>
            <a:xfrm>
              <a:off x="7242019" y="2980209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2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172" name="Google Shape;172;p15"/>
            <p:cNvSpPr/>
            <p:nvPr/>
          </p:nvSpPr>
          <p:spPr>
            <a:xfrm>
              <a:off x="7226671" y="2967915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5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GPU Nodes</a:t>
              </a:r>
              <a:endParaRPr sz="50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sp>
        <p:nvSpPr>
          <p:cNvPr id="173" name="Google Shape;173;p15"/>
          <p:cNvSpPr txBox="1"/>
          <p:nvPr/>
        </p:nvSpPr>
        <p:spPr>
          <a:xfrm>
            <a:off x="4630950" y="617817"/>
            <a:ext cx="615600" cy="336600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txBody>
          <a:bodyPr anchorCtr="0" anchor="t" bIns="76925" lIns="76925" spcFirstLastPara="1" rIns="76925" wrap="square" tIns="769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89">
                <a:solidFill>
                  <a:srgbClr val="7660A8"/>
                </a:solidFill>
                <a:latin typeface="Poppins"/>
                <a:ea typeface="Poppins"/>
                <a:cs typeface="Poppins"/>
                <a:sym typeface="Poppins"/>
              </a:rPr>
              <a:t>Kubernetes Cluster</a:t>
            </a:r>
            <a:endParaRPr b="1" sz="589">
              <a:solidFill>
                <a:srgbClr val="7660A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4" name="Google Shape;174;p15"/>
          <p:cNvSpPr txBox="1"/>
          <p:nvPr/>
        </p:nvSpPr>
        <p:spPr>
          <a:xfrm>
            <a:off x="2638988" y="4262800"/>
            <a:ext cx="7842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76925" lIns="76925" spcFirstLastPara="1" rIns="76925" wrap="square" tIns="769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89">
                <a:solidFill>
                  <a:srgbClr val="4D4D4D"/>
                </a:solidFill>
                <a:latin typeface="Poppins"/>
                <a:ea typeface="Poppins"/>
                <a:cs typeface="Poppins"/>
                <a:sym typeface="Poppins"/>
              </a:rPr>
              <a:t>Kubernetes:</a:t>
            </a:r>
            <a:endParaRPr sz="589">
              <a:solidFill>
                <a:srgbClr val="4D4D4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75" name="Google Shape;175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11063" y="4269363"/>
            <a:ext cx="245000" cy="24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03949" y="4241168"/>
            <a:ext cx="308599" cy="2851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994167" y="4268024"/>
            <a:ext cx="213878" cy="20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305163" y="4267888"/>
            <a:ext cx="245000" cy="245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9" name="Google Shape;179;p15"/>
          <p:cNvCxnSpPr>
            <a:stCxn id="72" idx="3"/>
            <a:endCxn id="74" idx="1"/>
          </p:cNvCxnSpPr>
          <p:nvPr/>
        </p:nvCxnSpPr>
        <p:spPr>
          <a:xfrm>
            <a:off x="3410610" y="1254032"/>
            <a:ext cx="575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0" name="Google Shape;180;p15"/>
          <p:cNvCxnSpPr>
            <a:endCxn id="72" idx="1"/>
          </p:cNvCxnSpPr>
          <p:nvPr/>
        </p:nvCxnSpPr>
        <p:spPr>
          <a:xfrm>
            <a:off x="1698510" y="1254032"/>
            <a:ext cx="1326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triangle"/>
          </a:ln>
        </p:spPr>
      </p:cxnSp>
      <p:cxnSp>
        <p:nvCxnSpPr>
          <p:cNvPr id="181" name="Google Shape;181;p15"/>
          <p:cNvCxnSpPr>
            <a:stCxn id="74" idx="3"/>
          </p:cNvCxnSpPr>
          <p:nvPr/>
        </p:nvCxnSpPr>
        <p:spPr>
          <a:xfrm>
            <a:off x="4371010" y="1254020"/>
            <a:ext cx="450000" cy="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2" name="Google Shape;182;p15"/>
          <p:cNvCxnSpPr>
            <a:stCxn id="72" idx="2"/>
          </p:cNvCxnSpPr>
          <p:nvPr/>
        </p:nvCxnSpPr>
        <p:spPr>
          <a:xfrm>
            <a:off x="3218010" y="1450532"/>
            <a:ext cx="0" cy="16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3" name="Google Shape;183;p15"/>
          <p:cNvCxnSpPr>
            <a:stCxn id="74" idx="2"/>
          </p:cNvCxnSpPr>
          <p:nvPr/>
        </p:nvCxnSpPr>
        <p:spPr>
          <a:xfrm>
            <a:off x="4178410" y="1450520"/>
            <a:ext cx="2100" cy="15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4" name="Google Shape;184;p15"/>
          <p:cNvCxnSpPr>
            <a:stCxn id="77" idx="2"/>
          </p:cNvCxnSpPr>
          <p:nvPr/>
        </p:nvCxnSpPr>
        <p:spPr>
          <a:xfrm>
            <a:off x="6318544" y="2525738"/>
            <a:ext cx="0" cy="19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5" name="Google Shape;185;p15"/>
          <p:cNvCxnSpPr>
            <a:stCxn id="103" idx="2"/>
          </p:cNvCxnSpPr>
          <p:nvPr/>
        </p:nvCxnSpPr>
        <p:spPr>
          <a:xfrm>
            <a:off x="3407288" y="2525863"/>
            <a:ext cx="2400" cy="198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pic>
        <p:nvPicPr>
          <p:cNvPr id="186" name="Google Shape;186;p1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063700" y="1097700"/>
            <a:ext cx="308600" cy="30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1" name="Google Shape;191;p16"/>
          <p:cNvGrpSpPr/>
          <p:nvPr/>
        </p:nvGrpSpPr>
        <p:grpSpPr>
          <a:xfrm>
            <a:off x="381000" y="285750"/>
            <a:ext cx="8382000" cy="666825"/>
            <a:chOff x="381000" y="285750"/>
            <a:chExt cx="8382000" cy="666825"/>
          </a:xfrm>
        </p:grpSpPr>
        <p:sp>
          <p:nvSpPr>
            <p:cNvPr id="192" name="Google Shape;192;p16"/>
            <p:cNvSpPr txBox="1"/>
            <p:nvPr/>
          </p:nvSpPr>
          <p:spPr>
            <a:xfrm>
              <a:off x="381000" y="285750"/>
              <a:ext cx="838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380">
                  <a:solidFill>
                    <a:srgbClr val="1E293B"/>
                  </a:solidFill>
                  <a:latin typeface="Poppins"/>
                  <a:ea typeface="Poppins"/>
                  <a:cs typeface="Poppins"/>
                  <a:sym typeface="Poppins"/>
                </a:rPr>
                <a:t>DKubeX 2.0 Architecture</a:t>
              </a:r>
              <a:endParaRPr b="1" sz="238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3" name="Google Shape;193;p16"/>
            <p:cNvSpPr txBox="1"/>
            <p:nvPr/>
          </p:nvSpPr>
          <p:spPr>
            <a:xfrm>
              <a:off x="381000" y="714375"/>
              <a:ext cx="8382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64748B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A Kubernetes-native platform for deploying, managing, and operating enterprise AI applications.</a:t>
              </a:r>
              <a:endParaRPr b="0" sz="1200">
                <a:solidFill>
                  <a:srgbClr val="64748B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pic>
        <p:nvPicPr>
          <p:cNvPr id="194" name="Google Shape;194;p16"/>
          <p:cNvPicPr preferRelativeResize="0"/>
          <p:nvPr/>
        </p:nvPicPr>
        <p:blipFill rotWithShape="1">
          <a:blip r:embed="rId4">
            <a:alphaModFix/>
          </a:blip>
          <a:srcRect b="40" l="0" r="0" t="50"/>
          <a:stretch/>
        </p:blipFill>
        <p:spPr>
          <a:xfrm>
            <a:off x="4572000" y="809625"/>
            <a:ext cx="4286400" cy="4143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5" name="Google Shape;195;p16"/>
          <p:cNvGrpSpPr/>
          <p:nvPr/>
        </p:nvGrpSpPr>
        <p:grpSpPr>
          <a:xfrm>
            <a:off x="381000" y="1095375"/>
            <a:ext cx="4000500" cy="3762300"/>
            <a:chOff x="381000" y="1095375"/>
            <a:chExt cx="4000500" cy="3762300"/>
          </a:xfrm>
        </p:grpSpPr>
        <p:sp>
          <p:nvSpPr>
            <p:cNvPr id="196" name="Google Shape;196;p16"/>
            <p:cNvSpPr/>
            <p:nvPr/>
          </p:nvSpPr>
          <p:spPr>
            <a:xfrm>
              <a:off x="381000" y="1095375"/>
              <a:ext cx="4000500" cy="3762300"/>
            </a:xfrm>
            <a:prstGeom prst="roundRect">
              <a:avLst>
                <a:gd fmla="val 3037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16"/>
            <p:cNvSpPr txBox="1"/>
            <p:nvPr/>
          </p:nvSpPr>
          <p:spPr>
            <a:xfrm>
              <a:off x="571500" y="1238250"/>
              <a:ext cx="3619500" cy="347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E293B"/>
                  </a:solidFill>
                  <a:latin typeface="Poppins"/>
                  <a:ea typeface="Poppins"/>
                  <a:cs typeface="Poppins"/>
                  <a:sym typeface="Poppins"/>
                </a:rPr>
                <a:t>Architecture Highlights</a:t>
              </a:r>
              <a:endParaRPr b="1" sz="11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7660A9"/>
                  </a:solidFill>
                  <a:latin typeface="Poppins"/>
                  <a:ea typeface="Poppins"/>
                  <a:cs typeface="Poppins"/>
                  <a:sym typeface="Poppins"/>
                </a:rPr>
                <a:t>Unified UI:</a:t>
              </a:r>
              <a:r>
                <a:rPr lang="en" sz="1000">
                  <a:solidFill>
                    <a:srgbClr val="475569"/>
                  </a:solidFill>
                  <a:latin typeface="Poppins"/>
                  <a:ea typeface="Poppins"/>
                  <a:cs typeface="Poppins"/>
                  <a:sym typeface="Poppins"/>
                </a:rPr>
                <a:t> Users and admins access DKubeX through a web UI served by the frontend layer.</a:t>
              </a:r>
              <a:endParaRPr sz="100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7660A9"/>
                  </a:solidFill>
                  <a:latin typeface="Poppins"/>
                  <a:ea typeface="Poppins"/>
                  <a:cs typeface="Poppins"/>
                  <a:sym typeface="Poppins"/>
                </a:rPr>
                <a:t>Secure Entry:</a:t>
              </a:r>
              <a:r>
                <a:rPr lang="en" sz="1000">
                  <a:solidFill>
                    <a:srgbClr val="475569"/>
                  </a:solidFill>
                  <a:latin typeface="Poppins"/>
                  <a:ea typeface="Poppins"/>
                  <a:cs typeface="Poppins"/>
                  <a:sym typeface="Poppins"/>
                </a:rPr>
                <a:t> Traefik handles ingress routing, while the auth layer protects platform APIs.</a:t>
              </a:r>
              <a:endParaRPr sz="100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7660A9"/>
                  </a:solidFill>
                  <a:latin typeface="Poppins"/>
                  <a:ea typeface="Poppins"/>
                  <a:cs typeface="Poppins"/>
                  <a:sym typeface="Poppins"/>
                </a:rPr>
                <a:t>Core Plane:</a:t>
              </a:r>
              <a:r>
                <a:rPr lang="en" sz="1000">
                  <a:solidFill>
                    <a:srgbClr val="475569"/>
                  </a:solidFill>
                  <a:latin typeface="Poppins"/>
                  <a:ea typeface="Poppins"/>
                  <a:cs typeface="Poppins"/>
                  <a:sym typeface="Poppins"/>
                </a:rPr>
                <a:t> Runs React/Nginx frontend, FastAPI backend, and Kopf Operator for reconciliation.</a:t>
              </a:r>
              <a:endParaRPr sz="100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7660A9"/>
                  </a:solidFill>
                  <a:latin typeface="Poppins"/>
                  <a:ea typeface="Poppins"/>
                  <a:cs typeface="Poppins"/>
                  <a:sym typeface="Poppins"/>
                </a:rPr>
                <a:t>App Store:</a:t>
              </a:r>
              <a:r>
                <a:rPr lang="en" sz="1000">
                  <a:solidFill>
                    <a:srgbClr val="475569"/>
                  </a:solidFill>
                  <a:latin typeface="Poppins"/>
                  <a:ea typeface="Poppins"/>
                  <a:cs typeface="Poppins"/>
                  <a:sym typeface="Poppins"/>
                </a:rPr>
                <a:t> Centralized Helm-based catalog for MLFlow, RAGFlow, and custom agent apps.</a:t>
              </a:r>
              <a:endParaRPr sz="100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7660A9"/>
                  </a:solidFill>
                  <a:latin typeface="Poppins"/>
                  <a:ea typeface="Poppins"/>
                  <a:cs typeface="Poppins"/>
                  <a:sym typeface="Poppins"/>
                </a:rPr>
                <a:t>Data Layer:</a:t>
              </a:r>
              <a:r>
                <a:rPr lang="en" sz="1000">
                  <a:solidFill>
                    <a:srgbClr val="475569"/>
                  </a:solidFill>
                  <a:latin typeface="Poppins"/>
                  <a:ea typeface="Poppins"/>
                  <a:cs typeface="Poppins"/>
                  <a:sym typeface="Poppins"/>
                </a:rPr>
                <a:t> PostgreSQL state, Redis caching, MinIO object storage, and shared NFS.</a:t>
              </a:r>
              <a:endParaRPr sz="100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7660A9"/>
                  </a:solidFill>
                  <a:latin typeface="Poppins"/>
                  <a:ea typeface="Poppins"/>
                  <a:cs typeface="Poppins"/>
                  <a:sym typeface="Poppins"/>
                </a:rPr>
                <a:t>Observability:</a:t>
              </a:r>
              <a:r>
                <a:rPr lang="en" sz="1000">
                  <a:solidFill>
                    <a:srgbClr val="475569"/>
                  </a:solidFill>
                  <a:latin typeface="Poppins"/>
                  <a:ea typeface="Poppins"/>
                  <a:cs typeface="Poppins"/>
                  <a:sym typeface="Poppins"/>
                </a:rPr>
                <a:t> OpenTelemetry for data collection with ClickStack/HyperDX for visualization.</a:t>
              </a:r>
              <a:endParaRPr sz="100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7660A9"/>
                  </a:solidFill>
                  <a:latin typeface="Poppins"/>
                  <a:ea typeface="Poppins"/>
                  <a:cs typeface="Poppins"/>
                  <a:sym typeface="Poppins"/>
                </a:rPr>
                <a:t>Infrastructure:</a:t>
              </a:r>
              <a:r>
                <a:rPr lang="en" sz="1000">
                  <a:solidFill>
                    <a:srgbClr val="475569"/>
                  </a:solidFill>
                  <a:latin typeface="Poppins"/>
                  <a:ea typeface="Poppins"/>
                  <a:cs typeface="Poppins"/>
                  <a:sym typeface="Poppins"/>
                </a:rPr>
                <a:t> Flexible deployment across cloud (EKS, K3s) or on-prem (CPU/GPU).</a:t>
              </a:r>
              <a:endParaRPr sz="100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198" name="Google Shape;198;p16"/>
          <p:cNvSpPr txBox="1"/>
          <p:nvPr/>
        </p:nvSpPr>
        <p:spPr>
          <a:xfrm>
            <a:off x="7905750" y="4810125"/>
            <a:ext cx="952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7660A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dkube.io</a:t>
            </a:r>
            <a:endParaRPr b="0" sz="1000">
              <a:solidFill>
                <a:srgbClr val="7660A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17" title="image (5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1588" y="152400"/>
            <a:ext cx="5000823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8"/>
          <p:cNvSpPr txBox="1"/>
          <p:nvPr>
            <p:ph type="title"/>
          </p:nvPr>
        </p:nvSpPr>
        <p:spPr>
          <a:xfrm>
            <a:off x="212884" y="1039375"/>
            <a:ext cx="27468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8"/>
          <p:cNvSpPr txBox="1"/>
          <p:nvPr>
            <p:ph idx="1" type="body"/>
          </p:nvPr>
        </p:nvSpPr>
        <p:spPr>
          <a:xfrm>
            <a:off x="212875" y="1354125"/>
            <a:ext cx="45306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DKubeX 2.0 App Store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9"/>
          <p:cNvSpPr/>
          <p:nvPr/>
        </p:nvSpPr>
        <p:spPr>
          <a:xfrm>
            <a:off x="2381391" y="4760371"/>
            <a:ext cx="6170400" cy="156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87400" lIns="87400" spcFirstLastPara="1" rIns="87400" wrap="square" tIns="87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38"/>
          </a:p>
        </p:txBody>
      </p:sp>
      <p:sp>
        <p:nvSpPr>
          <p:cNvPr id="215" name="Google Shape;215;p19"/>
          <p:cNvSpPr txBox="1"/>
          <p:nvPr/>
        </p:nvSpPr>
        <p:spPr>
          <a:xfrm>
            <a:off x="256650" y="264550"/>
            <a:ext cx="69840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7660A9"/>
                </a:solidFill>
                <a:latin typeface="Poppins"/>
                <a:ea typeface="Poppins"/>
                <a:cs typeface="Poppins"/>
                <a:sym typeface="Poppins"/>
              </a:rPr>
              <a:t>Application Management and Lifecycle </a:t>
            </a:r>
            <a:endParaRPr sz="2400">
              <a:solidFill>
                <a:srgbClr val="7660A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6" name="Google Shape;216;p19"/>
          <p:cNvSpPr txBox="1"/>
          <p:nvPr/>
        </p:nvSpPr>
        <p:spPr>
          <a:xfrm>
            <a:off x="142076" y="4659450"/>
            <a:ext cx="1128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dkube.io</a:t>
            </a:r>
            <a:endParaRPr b="0" i="0" sz="1500" u="none" cap="none" strike="noStrike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217" name="Google Shape;21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6297" y="205400"/>
            <a:ext cx="401253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9"/>
          <p:cNvSpPr txBox="1"/>
          <p:nvPr/>
        </p:nvSpPr>
        <p:spPr>
          <a:xfrm>
            <a:off x="5264350" y="4705650"/>
            <a:ext cx="3573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7660A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Empowering Enterprise AI on Kubernetes</a:t>
            </a:r>
            <a:endParaRPr sz="1300">
              <a:solidFill>
                <a:srgbClr val="7660A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19" name="Google Shape;219;p19"/>
          <p:cNvSpPr/>
          <p:nvPr/>
        </p:nvSpPr>
        <p:spPr>
          <a:xfrm>
            <a:off x="256650" y="862150"/>
            <a:ext cx="1079400" cy="3708000"/>
          </a:xfrm>
          <a:prstGeom prst="roundRect">
            <a:avLst>
              <a:gd fmla="val 6533" name="adj"/>
            </a:avLst>
          </a:prstGeom>
          <a:noFill/>
          <a:ln cap="flat" cmpd="sng" w="8000">
            <a:solidFill>
              <a:srgbClr val="9483BA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76925" lIns="76925" spcFirstLastPara="1" rIns="76925" wrap="square" tIns="7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78"/>
          </a:p>
        </p:txBody>
      </p:sp>
      <p:sp>
        <p:nvSpPr>
          <p:cNvPr id="220" name="Google Shape;220;p19"/>
          <p:cNvSpPr/>
          <p:nvPr/>
        </p:nvSpPr>
        <p:spPr>
          <a:xfrm>
            <a:off x="1506883" y="862150"/>
            <a:ext cx="1079400" cy="3708000"/>
          </a:xfrm>
          <a:prstGeom prst="roundRect">
            <a:avLst>
              <a:gd fmla="val 6533" name="adj"/>
            </a:avLst>
          </a:prstGeom>
          <a:noFill/>
          <a:ln cap="flat" cmpd="sng" w="8000">
            <a:solidFill>
              <a:srgbClr val="9483BA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76925" lIns="76925" spcFirstLastPara="1" rIns="76925" wrap="square" tIns="7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78"/>
          </a:p>
        </p:txBody>
      </p:sp>
      <p:sp>
        <p:nvSpPr>
          <p:cNvPr id="221" name="Google Shape;221;p19"/>
          <p:cNvSpPr/>
          <p:nvPr/>
        </p:nvSpPr>
        <p:spPr>
          <a:xfrm>
            <a:off x="2757117" y="862150"/>
            <a:ext cx="1079400" cy="3708000"/>
          </a:xfrm>
          <a:prstGeom prst="roundRect">
            <a:avLst>
              <a:gd fmla="val 6533" name="adj"/>
            </a:avLst>
          </a:prstGeom>
          <a:noFill/>
          <a:ln cap="flat" cmpd="sng" w="8000">
            <a:solidFill>
              <a:srgbClr val="9483BA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76925" lIns="76925" spcFirstLastPara="1" rIns="76925" wrap="square" tIns="7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78"/>
          </a:p>
        </p:txBody>
      </p:sp>
      <p:sp>
        <p:nvSpPr>
          <p:cNvPr id="222" name="Google Shape;222;p19"/>
          <p:cNvSpPr/>
          <p:nvPr/>
        </p:nvSpPr>
        <p:spPr>
          <a:xfrm>
            <a:off x="4007350" y="862150"/>
            <a:ext cx="1079400" cy="3708000"/>
          </a:xfrm>
          <a:prstGeom prst="roundRect">
            <a:avLst>
              <a:gd fmla="val 6533" name="adj"/>
            </a:avLst>
          </a:prstGeom>
          <a:noFill/>
          <a:ln cap="flat" cmpd="sng" w="8000">
            <a:solidFill>
              <a:srgbClr val="9483BA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76925" lIns="76925" spcFirstLastPara="1" rIns="76925" wrap="square" tIns="7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78"/>
          </a:p>
        </p:txBody>
      </p:sp>
      <p:sp>
        <p:nvSpPr>
          <p:cNvPr id="223" name="Google Shape;223;p19"/>
          <p:cNvSpPr/>
          <p:nvPr/>
        </p:nvSpPr>
        <p:spPr>
          <a:xfrm>
            <a:off x="5257583" y="862150"/>
            <a:ext cx="1079400" cy="3708000"/>
          </a:xfrm>
          <a:prstGeom prst="roundRect">
            <a:avLst>
              <a:gd fmla="val 6533" name="adj"/>
            </a:avLst>
          </a:prstGeom>
          <a:noFill/>
          <a:ln cap="flat" cmpd="sng" w="8000">
            <a:solidFill>
              <a:srgbClr val="9483BA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76925" lIns="76925" spcFirstLastPara="1" rIns="76925" wrap="square" tIns="7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78"/>
          </a:p>
        </p:txBody>
      </p:sp>
      <p:sp>
        <p:nvSpPr>
          <p:cNvPr id="224" name="Google Shape;224;p19"/>
          <p:cNvSpPr/>
          <p:nvPr/>
        </p:nvSpPr>
        <p:spPr>
          <a:xfrm>
            <a:off x="6507825" y="862150"/>
            <a:ext cx="1079400" cy="1815900"/>
          </a:xfrm>
          <a:prstGeom prst="roundRect">
            <a:avLst>
              <a:gd fmla="val 6533" name="adj"/>
            </a:avLst>
          </a:prstGeom>
          <a:noFill/>
          <a:ln cap="flat" cmpd="sng" w="8000">
            <a:solidFill>
              <a:srgbClr val="9483BA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76925" lIns="76925" spcFirstLastPara="1" rIns="76925" wrap="square" tIns="7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78"/>
          </a:p>
        </p:txBody>
      </p:sp>
      <p:sp>
        <p:nvSpPr>
          <p:cNvPr id="225" name="Google Shape;225;p19"/>
          <p:cNvSpPr/>
          <p:nvPr/>
        </p:nvSpPr>
        <p:spPr>
          <a:xfrm>
            <a:off x="7758050" y="879897"/>
            <a:ext cx="1079400" cy="3708000"/>
          </a:xfrm>
          <a:prstGeom prst="roundRect">
            <a:avLst>
              <a:gd fmla="val 6533" name="adj"/>
            </a:avLst>
          </a:prstGeom>
          <a:noFill/>
          <a:ln cap="flat" cmpd="sng" w="8000">
            <a:solidFill>
              <a:srgbClr val="9483BA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76925" lIns="76925" spcFirstLastPara="1" rIns="76925" wrap="square" tIns="7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78"/>
          </a:p>
        </p:txBody>
      </p:sp>
      <p:sp>
        <p:nvSpPr>
          <p:cNvPr id="226" name="Google Shape;226;p19"/>
          <p:cNvSpPr txBox="1"/>
          <p:nvPr/>
        </p:nvSpPr>
        <p:spPr>
          <a:xfrm>
            <a:off x="328500" y="901564"/>
            <a:ext cx="9357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6925" lIns="76925" spcFirstLastPara="1" rIns="76925" wrap="square" tIns="769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7660A8"/>
                </a:solidFill>
                <a:latin typeface="Poppins"/>
                <a:ea typeface="Poppins"/>
                <a:cs typeface="Poppins"/>
                <a:sym typeface="Poppins"/>
              </a:rPr>
              <a:t>User Intent</a:t>
            </a:r>
            <a:endParaRPr b="1" sz="900">
              <a:solidFill>
                <a:srgbClr val="7660A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27" name="Google Shape;227;p19"/>
          <p:cNvGrpSpPr/>
          <p:nvPr/>
        </p:nvGrpSpPr>
        <p:grpSpPr>
          <a:xfrm>
            <a:off x="328251" y="1773851"/>
            <a:ext cx="935696" cy="802061"/>
            <a:chOff x="7226671" y="2967915"/>
            <a:chExt cx="703848" cy="218694"/>
          </a:xfrm>
        </p:grpSpPr>
        <p:sp>
          <p:nvSpPr>
            <p:cNvPr id="228" name="Google Shape;228;p19"/>
            <p:cNvSpPr/>
            <p:nvPr/>
          </p:nvSpPr>
          <p:spPr>
            <a:xfrm>
              <a:off x="7242019" y="2980209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2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229" name="Google Shape;229;p19"/>
            <p:cNvSpPr/>
            <p:nvPr/>
          </p:nvSpPr>
          <p:spPr>
            <a:xfrm>
              <a:off x="7226671" y="2967915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5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Install From Catalog</a:t>
              </a:r>
              <a:endParaRPr sz="70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grpSp>
        <p:nvGrpSpPr>
          <p:cNvPr id="230" name="Google Shape;230;p19"/>
          <p:cNvGrpSpPr/>
          <p:nvPr/>
        </p:nvGrpSpPr>
        <p:grpSpPr>
          <a:xfrm>
            <a:off x="328251" y="2711556"/>
            <a:ext cx="935696" cy="802061"/>
            <a:chOff x="7226671" y="2967915"/>
            <a:chExt cx="703848" cy="218694"/>
          </a:xfrm>
        </p:grpSpPr>
        <p:sp>
          <p:nvSpPr>
            <p:cNvPr id="231" name="Google Shape;231;p19"/>
            <p:cNvSpPr/>
            <p:nvPr/>
          </p:nvSpPr>
          <p:spPr>
            <a:xfrm>
              <a:off x="7242019" y="2980209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2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232" name="Google Shape;232;p19"/>
            <p:cNvSpPr/>
            <p:nvPr/>
          </p:nvSpPr>
          <p:spPr>
            <a:xfrm>
              <a:off x="7226671" y="2967915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5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Upgrade Existing App</a:t>
              </a:r>
              <a:endParaRPr sz="70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grpSp>
        <p:nvGrpSpPr>
          <p:cNvPr id="233" name="Google Shape;233;p19"/>
          <p:cNvGrpSpPr/>
          <p:nvPr/>
        </p:nvGrpSpPr>
        <p:grpSpPr>
          <a:xfrm>
            <a:off x="328251" y="3649261"/>
            <a:ext cx="935696" cy="802061"/>
            <a:chOff x="7226671" y="2967915"/>
            <a:chExt cx="703848" cy="218694"/>
          </a:xfrm>
        </p:grpSpPr>
        <p:sp>
          <p:nvSpPr>
            <p:cNvPr id="234" name="Google Shape;234;p19"/>
            <p:cNvSpPr/>
            <p:nvPr/>
          </p:nvSpPr>
          <p:spPr>
            <a:xfrm>
              <a:off x="7242019" y="2980209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2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235" name="Google Shape;235;p19"/>
            <p:cNvSpPr/>
            <p:nvPr/>
          </p:nvSpPr>
          <p:spPr>
            <a:xfrm>
              <a:off x="7226671" y="2967915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5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Uninstall App</a:t>
              </a:r>
              <a:endParaRPr sz="70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sp>
        <p:nvSpPr>
          <p:cNvPr id="236" name="Google Shape;236;p19"/>
          <p:cNvSpPr txBox="1"/>
          <p:nvPr/>
        </p:nvSpPr>
        <p:spPr>
          <a:xfrm>
            <a:off x="1506938" y="901575"/>
            <a:ext cx="1079400" cy="5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6925" lIns="76925" spcFirstLastPara="1" rIns="76925" wrap="square" tIns="769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7660A8"/>
                </a:solidFill>
                <a:latin typeface="Poppins"/>
                <a:ea typeface="Poppins"/>
                <a:cs typeface="Poppins"/>
                <a:sym typeface="Poppins"/>
              </a:rPr>
              <a:t>Frontend → Backend (REST/api/v1)</a:t>
            </a:r>
            <a:endParaRPr b="1" sz="900">
              <a:solidFill>
                <a:srgbClr val="7660A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37" name="Google Shape;237;p19"/>
          <p:cNvGrpSpPr/>
          <p:nvPr/>
        </p:nvGrpSpPr>
        <p:grpSpPr>
          <a:xfrm>
            <a:off x="1578557" y="1773851"/>
            <a:ext cx="935696" cy="802061"/>
            <a:chOff x="7226671" y="2967915"/>
            <a:chExt cx="703848" cy="218694"/>
          </a:xfrm>
        </p:grpSpPr>
        <p:sp>
          <p:nvSpPr>
            <p:cNvPr id="238" name="Google Shape;238;p19"/>
            <p:cNvSpPr/>
            <p:nvPr/>
          </p:nvSpPr>
          <p:spPr>
            <a:xfrm>
              <a:off x="7242019" y="2980209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2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239" name="Google Shape;239;p19"/>
            <p:cNvSpPr/>
            <p:nvPr/>
          </p:nvSpPr>
          <p:spPr>
            <a:xfrm>
              <a:off x="7226671" y="2967915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5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POST/applications</a:t>
              </a:r>
              <a:endParaRPr sz="70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5">
                  <a:solidFill>
                    <a:srgbClr val="CCCCCC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Install + role assign</a:t>
              </a:r>
              <a:endParaRPr sz="605">
                <a:solidFill>
                  <a:srgbClr val="CCCCCC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grpSp>
        <p:nvGrpSpPr>
          <p:cNvPr id="240" name="Google Shape;240;p19"/>
          <p:cNvGrpSpPr/>
          <p:nvPr/>
        </p:nvGrpSpPr>
        <p:grpSpPr>
          <a:xfrm>
            <a:off x="1578557" y="2711556"/>
            <a:ext cx="935696" cy="802061"/>
            <a:chOff x="7226671" y="2967915"/>
            <a:chExt cx="703848" cy="218694"/>
          </a:xfrm>
        </p:grpSpPr>
        <p:sp>
          <p:nvSpPr>
            <p:cNvPr id="241" name="Google Shape;241;p19"/>
            <p:cNvSpPr/>
            <p:nvPr/>
          </p:nvSpPr>
          <p:spPr>
            <a:xfrm>
              <a:off x="7242019" y="2980209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2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242" name="Google Shape;242;p19"/>
            <p:cNvSpPr/>
            <p:nvPr/>
          </p:nvSpPr>
          <p:spPr>
            <a:xfrm>
              <a:off x="7226671" y="2967915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705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PUT/applications/{id}</a:t>
              </a:r>
              <a:endParaRPr sz="705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705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5">
                  <a:solidFill>
                    <a:srgbClr val="CCCCCC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Upgrade chart version</a:t>
              </a:r>
              <a:endParaRPr sz="70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grpSp>
        <p:nvGrpSpPr>
          <p:cNvPr id="243" name="Google Shape;243;p19"/>
          <p:cNvGrpSpPr/>
          <p:nvPr/>
        </p:nvGrpSpPr>
        <p:grpSpPr>
          <a:xfrm>
            <a:off x="1578563" y="3623575"/>
            <a:ext cx="935696" cy="827561"/>
            <a:chOff x="7226671" y="2967915"/>
            <a:chExt cx="703848" cy="218694"/>
          </a:xfrm>
        </p:grpSpPr>
        <p:sp>
          <p:nvSpPr>
            <p:cNvPr id="244" name="Google Shape;244;p19"/>
            <p:cNvSpPr/>
            <p:nvPr/>
          </p:nvSpPr>
          <p:spPr>
            <a:xfrm>
              <a:off x="7242019" y="2980209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2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245" name="Google Shape;245;p19"/>
            <p:cNvSpPr/>
            <p:nvPr/>
          </p:nvSpPr>
          <p:spPr>
            <a:xfrm>
              <a:off x="7226671" y="2967915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705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DELETE/applications/{id}</a:t>
              </a:r>
              <a:endParaRPr sz="705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705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5">
                  <a:solidFill>
                    <a:srgbClr val="CCCCCC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Remove release</a:t>
              </a:r>
              <a:endParaRPr sz="70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sp>
        <p:nvSpPr>
          <p:cNvPr id="246" name="Google Shape;246;p19"/>
          <p:cNvSpPr txBox="1"/>
          <p:nvPr/>
        </p:nvSpPr>
        <p:spPr>
          <a:xfrm>
            <a:off x="2757100" y="901575"/>
            <a:ext cx="1079400" cy="8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76925" lIns="76925" spcFirstLastPara="1" rIns="76925" wrap="square" tIns="769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7660A8"/>
                </a:solidFill>
                <a:latin typeface="Poppins"/>
                <a:ea typeface="Poppins"/>
                <a:cs typeface="Poppins"/>
                <a:sym typeface="Poppins"/>
              </a:rPr>
              <a:t>Backend Translates Intent into a Kubernetes Resource</a:t>
            </a:r>
            <a:endParaRPr b="1" sz="900">
              <a:solidFill>
                <a:srgbClr val="7660A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47" name="Google Shape;247;p19"/>
          <p:cNvGrpSpPr/>
          <p:nvPr/>
        </p:nvGrpSpPr>
        <p:grpSpPr>
          <a:xfrm>
            <a:off x="2828723" y="1773851"/>
            <a:ext cx="935696" cy="802061"/>
            <a:chOff x="7226671" y="2967915"/>
            <a:chExt cx="703848" cy="218694"/>
          </a:xfrm>
        </p:grpSpPr>
        <p:sp>
          <p:nvSpPr>
            <p:cNvPr id="248" name="Google Shape;248;p19"/>
            <p:cNvSpPr/>
            <p:nvPr/>
          </p:nvSpPr>
          <p:spPr>
            <a:xfrm>
              <a:off x="7242019" y="2980209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2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249" name="Google Shape;249;p19"/>
            <p:cNvSpPr/>
            <p:nvPr/>
          </p:nvSpPr>
          <p:spPr>
            <a:xfrm>
              <a:off x="7226671" y="2967915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5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FastAPI Handler</a:t>
              </a:r>
              <a:endParaRPr sz="70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5">
                  <a:solidFill>
                    <a:srgbClr val="CCCCCC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RBAC check, validate</a:t>
              </a:r>
              <a:endParaRPr sz="605">
                <a:solidFill>
                  <a:srgbClr val="CCCCCC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grpSp>
        <p:nvGrpSpPr>
          <p:cNvPr id="250" name="Google Shape;250;p19"/>
          <p:cNvGrpSpPr/>
          <p:nvPr/>
        </p:nvGrpSpPr>
        <p:grpSpPr>
          <a:xfrm>
            <a:off x="2828723" y="2711556"/>
            <a:ext cx="935696" cy="802061"/>
            <a:chOff x="7226671" y="2967915"/>
            <a:chExt cx="703848" cy="218694"/>
          </a:xfrm>
        </p:grpSpPr>
        <p:sp>
          <p:nvSpPr>
            <p:cNvPr id="251" name="Google Shape;251;p19"/>
            <p:cNvSpPr/>
            <p:nvPr/>
          </p:nvSpPr>
          <p:spPr>
            <a:xfrm>
              <a:off x="7242019" y="2980209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2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252" name="Google Shape;252;p19"/>
            <p:cNvSpPr/>
            <p:nvPr/>
          </p:nvSpPr>
          <p:spPr>
            <a:xfrm>
              <a:off x="7226671" y="2967915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5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Persist Metadata</a:t>
              </a:r>
              <a:endParaRPr sz="705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5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5">
                  <a:solidFill>
                    <a:srgbClr val="CCCCCC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Postgres: app + roles</a:t>
              </a:r>
              <a:endParaRPr sz="70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grpSp>
        <p:nvGrpSpPr>
          <p:cNvPr id="253" name="Google Shape;253;p19"/>
          <p:cNvGrpSpPr/>
          <p:nvPr/>
        </p:nvGrpSpPr>
        <p:grpSpPr>
          <a:xfrm>
            <a:off x="2828728" y="3623575"/>
            <a:ext cx="935696" cy="827561"/>
            <a:chOff x="7226671" y="2967915"/>
            <a:chExt cx="703848" cy="218694"/>
          </a:xfrm>
        </p:grpSpPr>
        <p:sp>
          <p:nvSpPr>
            <p:cNvPr id="254" name="Google Shape;254;p19"/>
            <p:cNvSpPr/>
            <p:nvPr/>
          </p:nvSpPr>
          <p:spPr>
            <a:xfrm>
              <a:off x="7242019" y="2980209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2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255" name="Google Shape;255;p19"/>
            <p:cNvSpPr/>
            <p:nvPr/>
          </p:nvSpPr>
          <p:spPr>
            <a:xfrm>
              <a:off x="7226671" y="2967915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5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Apply Application CR</a:t>
              </a:r>
              <a:endParaRPr sz="705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5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5">
                  <a:solidFill>
                    <a:srgbClr val="CCCCCC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Create / patch / release</a:t>
              </a:r>
              <a:endParaRPr sz="70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sp>
        <p:nvSpPr>
          <p:cNvPr id="256" name="Google Shape;256;p19"/>
          <p:cNvSpPr txBox="1"/>
          <p:nvPr/>
        </p:nvSpPr>
        <p:spPr>
          <a:xfrm>
            <a:off x="4007350" y="901575"/>
            <a:ext cx="1079400" cy="8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76925" lIns="76925" spcFirstLastPara="1" rIns="76925" wrap="square" tIns="769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7660A8"/>
                </a:solidFill>
                <a:latin typeface="Poppins"/>
                <a:ea typeface="Poppins"/>
                <a:cs typeface="Poppins"/>
                <a:sym typeface="Poppins"/>
              </a:rPr>
              <a:t>Application Custom Resource (Source of Truth)</a:t>
            </a:r>
            <a:endParaRPr b="1" sz="900">
              <a:solidFill>
                <a:srgbClr val="7660A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57" name="Google Shape;257;p19"/>
          <p:cNvGrpSpPr/>
          <p:nvPr/>
        </p:nvGrpSpPr>
        <p:grpSpPr>
          <a:xfrm>
            <a:off x="4078925" y="1773825"/>
            <a:ext cx="935692" cy="2677478"/>
            <a:chOff x="7226665" y="2967916"/>
            <a:chExt cx="703845" cy="218695"/>
          </a:xfrm>
        </p:grpSpPr>
        <p:sp>
          <p:nvSpPr>
            <p:cNvPr id="258" name="Google Shape;258;p19"/>
            <p:cNvSpPr/>
            <p:nvPr/>
          </p:nvSpPr>
          <p:spPr>
            <a:xfrm>
              <a:off x="7242010" y="2972710"/>
              <a:ext cx="688500" cy="2139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2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259" name="Google Shape;259;p19"/>
            <p:cNvSpPr/>
            <p:nvPr/>
          </p:nvSpPr>
          <p:spPr>
            <a:xfrm>
              <a:off x="7226665" y="2967916"/>
              <a:ext cx="688500" cy="2151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5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dkubex.io/v1alpha1</a:t>
              </a:r>
              <a:r>
                <a:rPr lang="en" sz="705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・namespace dkubex-apps</a:t>
              </a:r>
              <a:endParaRPr sz="70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5">
                  <a:solidFill>
                    <a:srgbClr val="CCCCCC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.spec = chart, version, values・.status.phase = lifecycle state</a:t>
              </a:r>
              <a:endParaRPr sz="605">
                <a:solidFill>
                  <a:srgbClr val="CCCCCC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sp>
        <p:nvSpPr>
          <p:cNvPr id="260" name="Google Shape;260;p19"/>
          <p:cNvSpPr txBox="1"/>
          <p:nvPr/>
        </p:nvSpPr>
        <p:spPr>
          <a:xfrm>
            <a:off x="5257575" y="901575"/>
            <a:ext cx="1079400" cy="7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76925" lIns="76925" spcFirstLastPara="1" rIns="76925" wrap="square" tIns="769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7660A8"/>
                </a:solidFill>
                <a:latin typeface="Poppins"/>
                <a:ea typeface="Poppins"/>
                <a:cs typeface="Poppins"/>
                <a:sym typeface="Poppins"/>
              </a:rPr>
              <a:t>Kopf Operator Reconcile Loop (Watches CR Events)</a:t>
            </a:r>
            <a:endParaRPr b="1" sz="900">
              <a:solidFill>
                <a:srgbClr val="7660A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61" name="Google Shape;261;p19"/>
          <p:cNvGrpSpPr/>
          <p:nvPr/>
        </p:nvGrpSpPr>
        <p:grpSpPr>
          <a:xfrm>
            <a:off x="5329952" y="1770880"/>
            <a:ext cx="451800" cy="613940"/>
            <a:chOff x="7226671" y="2967915"/>
            <a:chExt cx="703848" cy="218694"/>
          </a:xfrm>
        </p:grpSpPr>
        <p:sp>
          <p:nvSpPr>
            <p:cNvPr id="262" name="Google Shape;262;p19"/>
            <p:cNvSpPr/>
            <p:nvPr/>
          </p:nvSpPr>
          <p:spPr>
            <a:xfrm>
              <a:off x="7242019" y="2980209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0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263" name="Google Shape;263;p19"/>
            <p:cNvSpPr/>
            <p:nvPr/>
          </p:nvSpPr>
          <p:spPr>
            <a:xfrm>
              <a:off x="7226671" y="2967915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5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on.</a:t>
              </a:r>
              <a:endParaRPr sz="60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5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create</a:t>
              </a:r>
              <a:endParaRPr sz="505">
                <a:solidFill>
                  <a:srgbClr val="CCCCCC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grpSp>
        <p:nvGrpSpPr>
          <p:cNvPr id="264" name="Google Shape;264;p19"/>
          <p:cNvGrpSpPr/>
          <p:nvPr/>
        </p:nvGrpSpPr>
        <p:grpSpPr>
          <a:xfrm>
            <a:off x="5813850" y="1771000"/>
            <a:ext cx="451798" cy="1295322"/>
            <a:chOff x="7226657" y="2967916"/>
            <a:chExt cx="703845" cy="218767"/>
          </a:xfrm>
        </p:grpSpPr>
        <p:sp>
          <p:nvSpPr>
            <p:cNvPr id="265" name="Google Shape;265;p19"/>
            <p:cNvSpPr/>
            <p:nvPr/>
          </p:nvSpPr>
          <p:spPr>
            <a:xfrm>
              <a:off x="7242002" y="2973984"/>
              <a:ext cx="688500" cy="2127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2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266" name="Google Shape;266;p19"/>
            <p:cNvSpPr/>
            <p:nvPr/>
          </p:nvSpPr>
          <p:spPr>
            <a:xfrm>
              <a:off x="7226657" y="2967916"/>
              <a:ext cx="688500" cy="2139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5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Provision deps before chart runs</a:t>
              </a:r>
              <a:endParaRPr sz="505">
                <a:solidFill>
                  <a:srgbClr val="CCCCCC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grpSp>
        <p:nvGrpSpPr>
          <p:cNvPr id="267" name="Google Shape;267;p19"/>
          <p:cNvGrpSpPr/>
          <p:nvPr/>
        </p:nvGrpSpPr>
        <p:grpSpPr>
          <a:xfrm>
            <a:off x="5329427" y="2451698"/>
            <a:ext cx="451800" cy="613940"/>
            <a:chOff x="7226671" y="2967915"/>
            <a:chExt cx="703848" cy="218694"/>
          </a:xfrm>
        </p:grpSpPr>
        <p:sp>
          <p:nvSpPr>
            <p:cNvPr id="268" name="Google Shape;268;p19"/>
            <p:cNvSpPr/>
            <p:nvPr/>
          </p:nvSpPr>
          <p:spPr>
            <a:xfrm>
              <a:off x="7242019" y="2980209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0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269" name="Google Shape;269;p19"/>
            <p:cNvSpPr/>
            <p:nvPr/>
          </p:nvSpPr>
          <p:spPr>
            <a:xfrm>
              <a:off x="7226671" y="2967915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5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on.</a:t>
              </a:r>
              <a:endParaRPr sz="60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5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update</a:t>
              </a:r>
              <a:endParaRPr sz="505">
                <a:solidFill>
                  <a:srgbClr val="CCCCCC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grpSp>
        <p:nvGrpSpPr>
          <p:cNvPr id="270" name="Google Shape;270;p19"/>
          <p:cNvGrpSpPr/>
          <p:nvPr/>
        </p:nvGrpSpPr>
        <p:grpSpPr>
          <a:xfrm>
            <a:off x="5329427" y="3132516"/>
            <a:ext cx="451800" cy="613940"/>
            <a:chOff x="7226671" y="2967915"/>
            <a:chExt cx="703848" cy="218694"/>
          </a:xfrm>
        </p:grpSpPr>
        <p:sp>
          <p:nvSpPr>
            <p:cNvPr id="271" name="Google Shape;271;p19"/>
            <p:cNvSpPr/>
            <p:nvPr/>
          </p:nvSpPr>
          <p:spPr>
            <a:xfrm>
              <a:off x="7242019" y="2980209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0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272" name="Google Shape;272;p19"/>
            <p:cNvSpPr/>
            <p:nvPr/>
          </p:nvSpPr>
          <p:spPr>
            <a:xfrm>
              <a:off x="7226671" y="2967915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5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on.</a:t>
              </a:r>
              <a:endParaRPr sz="60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5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delete</a:t>
              </a:r>
              <a:endParaRPr sz="505">
                <a:solidFill>
                  <a:srgbClr val="CCCCCC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grpSp>
        <p:nvGrpSpPr>
          <p:cNvPr id="273" name="Google Shape;273;p19"/>
          <p:cNvGrpSpPr/>
          <p:nvPr/>
        </p:nvGrpSpPr>
        <p:grpSpPr>
          <a:xfrm>
            <a:off x="5329427" y="3823928"/>
            <a:ext cx="451800" cy="613940"/>
            <a:chOff x="7226671" y="2967915"/>
            <a:chExt cx="703848" cy="218694"/>
          </a:xfrm>
        </p:grpSpPr>
        <p:sp>
          <p:nvSpPr>
            <p:cNvPr id="274" name="Google Shape;274;p19"/>
            <p:cNvSpPr/>
            <p:nvPr/>
          </p:nvSpPr>
          <p:spPr>
            <a:xfrm>
              <a:off x="7242019" y="2980209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0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275" name="Google Shape;275;p19"/>
            <p:cNvSpPr/>
            <p:nvPr/>
          </p:nvSpPr>
          <p:spPr>
            <a:xfrm>
              <a:off x="7226671" y="2967915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5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on.</a:t>
              </a:r>
              <a:endParaRPr sz="60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5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timer</a:t>
              </a:r>
              <a:endParaRPr sz="505">
                <a:solidFill>
                  <a:srgbClr val="CCCCCC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grpSp>
        <p:nvGrpSpPr>
          <p:cNvPr id="276" name="Google Shape;276;p19"/>
          <p:cNvGrpSpPr/>
          <p:nvPr/>
        </p:nvGrpSpPr>
        <p:grpSpPr>
          <a:xfrm>
            <a:off x="5813350" y="3132425"/>
            <a:ext cx="451798" cy="1295194"/>
            <a:chOff x="7226667" y="2967914"/>
            <a:chExt cx="703845" cy="218768"/>
          </a:xfrm>
        </p:grpSpPr>
        <p:sp>
          <p:nvSpPr>
            <p:cNvPr id="277" name="Google Shape;277;p19"/>
            <p:cNvSpPr/>
            <p:nvPr/>
          </p:nvSpPr>
          <p:spPr>
            <a:xfrm>
              <a:off x="7242012" y="2974282"/>
              <a:ext cx="688500" cy="212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2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278" name="Google Shape;278;p19"/>
            <p:cNvSpPr/>
            <p:nvPr/>
          </p:nvSpPr>
          <p:spPr>
            <a:xfrm>
              <a:off x="7226667" y="2967914"/>
              <a:ext cx="688500" cy="2136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5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Patch .status.phase + conditions</a:t>
              </a:r>
              <a:endParaRPr sz="505">
                <a:solidFill>
                  <a:srgbClr val="CCCCCC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sp>
        <p:nvSpPr>
          <p:cNvPr id="279" name="Google Shape;279;p19"/>
          <p:cNvSpPr/>
          <p:nvPr/>
        </p:nvSpPr>
        <p:spPr>
          <a:xfrm>
            <a:off x="6507800" y="2754240"/>
            <a:ext cx="1079400" cy="1815900"/>
          </a:xfrm>
          <a:prstGeom prst="roundRect">
            <a:avLst>
              <a:gd fmla="val 6533" name="adj"/>
            </a:avLst>
          </a:prstGeom>
          <a:noFill/>
          <a:ln cap="flat" cmpd="sng" w="8000">
            <a:solidFill>
              <a:srgbClr val="9483BA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76925" lIns="76925" spcFirstLastPara="1" rIns="76925" wrap="square" tIns="7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78"/>
          </a:p>
        </p:txBody>
      </p:sp>
      <p:sp>
        <p:nvSpPr>
          <p:cNvPr id="280" name="Google Shape;280;p19"/>
          <p:cNvSpPr txBox="1"/>
          <p:nvPr/>
        </p:nvSpPr>
        <p:spPr>
          <a:xfrm>
            <a:off x="6579787" y="868214"/>
            <a:ext cx="935700" cy="4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76925" lIns="76925" spcFirstLastPara="1" rIns="76925" wrap="square" tIns="769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7660A8"/>
                </a:solidFill>
                <a:latin typeface="Poppins"/>
                <a:ea typeface="Poppins"/>
                <a:cs typeface="Poppins"/>
                <a:sym typeface="Poppins"/>
              </a:rPr>
              <a:t>Dependency Provisioning</a:t>
            </a:r>
            <a:endParaRPr b="1" sz="900">
              <a:solidFill>
                <a:srgbClr val="7660A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81" name="Google Shape;281;p19"/>
          <p:cNvGrpSpPr/>
          <p:nvPr/>
        </p:nvGrpSpPr>
        <p:grpSpPr>
          <a:xfrm>
            <a:off x="6568427" y="1300650"/>
            <a:ext cx="965680" cy="317347"/>
            <a:chOff x="7226671" y="2967915"/>
            <a:chExt cx="703848" cy="218694"/>
          </a:xfrm>
        </p:grpSpPr>
        <p:sp>
          <p:nvSpPr>
            <p:cNvPr id="282" name="Google Shape;282;p19"/>
            <p:cNvSpPr/>
            <p:nvPr/>
          </p:nvSpPr>
          <p:spPr>
            <a:xfrm>
              <a:off x="7242019" y="2980209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283" name="Google Shape;283;p19"/>
            <p:cNvSpPr/>
            <p:nvPr/>
          </p:nvSpPr>
          <p:spPr>
            <a:xfrm>
              <a:off x="7226671" y="2967915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0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Create Postgres DB + credentials</a:t>
              </a:r>
              <a:endParaRPr sz="50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grpSp>
        <p:nvGrpSpPr>
          <p:cNvPr id="284" name="Google Shape;284;p19"/>
          <p:cNvGrpSpPr/>
          <p:nvPr/>
        </p:nvGrpSpPr>
        <p:grpSpPr>
          <a:xfrm>
            <a:off x="6565076" y="1643923"/>
            <a:ext cx="965680" cy="317347"/>
            <a:chOff x="7226671" y="2967915"/>
            <a:chExt cx="703848" cy="218694"/>
          </a:xfrm>
        </p:grpSpPr>
        <p:sp>
          <p:nvSpPr>
            <p:cNvPr id="285" name="Google Shape;285;p19"/>
            <p:cNvSpPr/>
            <p:nvPr/>
          </p:nvSpPr>
          <p:spPr>
            <a:xfrm>
              <a:off x="7242019" y="2980209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286" name="Google Shape;286;p19"/>
            <p:cNvSpPr/>
            <p:nvPr/>
          </p:nvSpPr>
          <p:spPr>
            <a:xfrm>
              <a:off x="7226671" y="2967915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0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Create MinIO bucket + access keys</a:t>
              </a:r>
              <a:endParaRPr sz="50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grpSp>
        <p:nvGrpSpPr>
          <p:cNvPr id="287" name="Google Shape;287;p19"/>
          <p:cNvGrpSpPr/>
          <p:nvPr/>
        </p:nvGrpSpPr>
        <p:grpSpPr>
          <a:xfrm>
            <a:off x="6566751" y="1987199"/>
            <a:ext cx="965680" cy="317347"/>
            <a:chOff x="7226671" y="2967915"/>
            <a:chExt cx="703848" cy="218694"/>
          </a:xfrm>
        </p:grpSpPr>
        <p:sp>
          <p:nvSpPr>
            <p:cNvPr id="288" name="Google Shape;288;p19"/>
            <p:cNvSpPr/>
            <p:nvPr/>
          </p:nvSpPr>
          <p:spPr>
            <a:xfrm>
              <a:off x="7242019" y="2980209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289" name="Google Shape;289;p19"/>
            <p:cNvSpPr/>
            <p:nvPr/>
          </p:nvSpPr>
          <p:spPr>
            <a:xfrm>
              <a:off x="7226671" y="2967915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0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Label namespace dkubex.io/managed-by</a:t>
              </a:r>
              <a:endParaRPr sz="50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grpSp>
        <p:nvGrpSpPr>
          <p:cNvPr id="290" name="Google Shape;290;p19"/>
          <p:cNvGrpSpPr/>
          <p:nvPr/>
        </p:nvGrpSpPr>
        <p:grpSpPr>
          <a:xfrm>
            <a:off x="6563401" y="2330472"/>
            <a:ext cx="965680" cy="317347"/>
            <a:chOff x="7226671" y="2967915"/>
            <a:chExt cx="703848" cy="218694"/>
          </a:xfrm>
        </p:grpSpPr>
        <p:sp>
          <p:nvSpPr>
            <p:cNvPr id="291" name="Google Shape;291;p19"/>
            <p:cNvSpPr/>
            <p:nvPr/>
          </p:nvSpPr>
          <p:spPr>
            <a:xfrm>
              <a:off x="7242019" y="2980209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292" name="Google Shape;292;p19"/>
            <p:cNvSpPr/>
            <p:nvPr/>
          </p:nvSpPr>
          <p:spPr>
            <a:xfrm>
              <a:off x="7226671" y="2967915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0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Kyverno auto-generates PV + PVC (NFS)</a:t>
              </a:r>
              <a:endParaRPr sz="50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sp>
        <p:nvSpPr>
          <p:cNvPr id="293" name="Google Shape;293;p19"/>
          <p:cNvSpPr txBox="1"/>
          <p:nvPr/>
        </p:nvSpPr>
        <p:spPr>
          <a:xfrm>
            <a:off x="6578650" y="2772389"/>
            <a:ext cx="935700" cy="4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76925" lIns="76925" spcFirstLastPara="1" rIns="76925" wrap="square" tIns="769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7660A8"/>
                </a:solidFill>
                <a:latin typeface="Poppins"/>
                <a:ea typeface="Poppins"/>
                <a:cs typeface="Poppins"/>
                <a:sym typeface="Poppins"/>
              </a:rPr>
              <a:t>Helm Execution</a:t>
            </a:r>
            <a:endParaRPr b="1" sz="900">
              <a:solidFill>
                <a:srgbClr val="7660A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94" name="Google Shape;294;p19"/>
          <p:cNvGrpSpPr/>
          <p:nvPr/>
        </p:nvGrpSpPr>
        <p:grpSpPr>
          <a:xfrm>
            <a:off x="6567361" y="3204831"/>
            <a:ext cx="965680" cy="317347"/>
            <a:chOff x="7226671" y="2967915"/>
            <a:chExt cx="703848" cy="218694"/>
          </a:xfrm>
        </p:grpSpPr>
        <p:sp>
          <p:nvSpPr>
            <p:cNvPr id="295" name="Google Shape;295;p19"/>
            <p:cNvSpPr/>
            <p:nvPr/>
          </p:nvSpPr>
          <p:spPr>
            <a:xfrm>
              <a:off x="7242019" y="2980209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296" name="Google Shape;296;p19"/>
            <p:cNvSpPr/>
            <p:nvPr/>
          </p:nvSpPr>
          <p:spPr>
            <a:xfrm>
              <a:off x="7226671" y="2967915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0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Install</a:t>
              </a:r>
              <a:r>
                <a:rPr lang="en" sz="500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・helm install (new release)</a:t>
              </a:r>
              <a:endParaRPr sz="50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grpSp>
        <p:nvGrpSpPr>
          <p:cNvPr id="297" name="Google Shape;297;p19"/>
          <p:cNvGrpSpPr/>
          <p:nvPr/>
        </p:nvGrpSpPr>
        <p:grpSpPr>
          <a:xfrm>
            <a:off x="6564010" y="3548104"/>
            <a:ext cx="965680" cy="317347"/>
            <a:chOff x="7226671" y="2967915"/>
            <a:chExt cx="703848" cy="218694"/>
          </a:xfrm>
        </p:grpSpPr>
        <p:sp>
          <p:nvSpPr>
            <p:cNvPr id="298" name="Google Shape;298;p19"/>
            <p:cNvSpPr/>
            <p:nvPr/>
          </p:nvSpPr>
          <p:spPr>
            <a:xfrm>
              <a:off x="7242019" y="2980209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299" name="Google Shape;299;p19"/>
            <p:cNvSpPr/>
            <p:nvPr/>
          </p:nvSpPr>
          <p:spPr>
            <a:xfrm>
              <a:off x="7226671" y="2967915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0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Upgrade・helm upgrade (new values)</a:t>
              </a:r>
              <a:endParaRPr sz="50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grpSp>
        <p:nvGrpSpPr>
          <p:cNvPr id="300" name="Google Shape;300;p19"/>
          <p:cNvGrpSpPr/>
          <p:nvPr/>
        </p:nvGrpSpPr>
        <p:grpSpPr>
          <a:xfrm>
            <a:off x="6565685" y="3891379"/>
            <a:ext cx="965680" cy="317347"/>
            <a:chOff x="7226671" y="2967915"/>
            <a:chExt cx="703848" cy="218694"/>
          </a:xfrm>
        </p:grpSpPr>
        <p:sp>
          <p:nvSpPr>
            <p:cNvPr id="301" name="Google Shape;301;p19"/>
            <p:cNvSpPr/>
            <p:nvPr/>
          </p:nvSpPr>
          <p:spPr>
            <a:xfrm>
              <a:off x="7242019" y="2980209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302" name="Google Shape;302;p19"/>
            <p:cNvSpPr/>
            <p:nvPr/>
          </p:nvSpPr>
          <p:spPr>
            <a:xfrm>
              <a:off x="7226671" y="2967915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0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Uninstall・helm uninstall + cleanup</a:t>
              </a:r>
              <a:endParaRPr sz="50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grpSp>
        <p:nvGrpSpPr>
          <p:cNvPr id="303" name="Google Shape;303;p19"/>
          <p:cNvGrpSpPr/>
          <p:nvPr/>
        </p:nvGrpSpPr>
        <p:grpSpPr>
          <a:xfrm>
            <a:off x="6562335" y="4234653"/>
            <a:ext cx="965680" cy="317347"/>
            <a:chOff x="7226671" y="2967915"/>
            <a:chExt cx="703848" cy="218694"/>
          </a:xfrm>
        </p:grpSpPr>
        <p:sp>
          <p:nvSpPr>
            <p:cNvPr id="304" name="Google Shape;304;p19"/>
            <p:cNvSpPr/>
            <p:nvPr/>
          </p:nvSpPr>
          <p:spPr>
            <a:xfrm>
              <a:off x="7242019" y="2980209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305" name="Google Shape;305;p19"/>
            <p:cNvSpPr/>
            <p:nvPr/>
          </p:nvSpPr>
          <p:spPr>
            <a:xfrm>
              <a:off x="7226671" y="2967915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0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Release pods scheduled in app namespace</a:t>
              </a:r>
              <a:endParaRPr sz="50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sp>
        <p:nvSpPr>
          <p:cNvPr id="306" name="Google Shape;306;p19"/>
          <p:cNvSpPr txBox="1"/>
          <p:nvPr/>
        </p:nvSpPr>
        <p:spPr>
          <a:xfrm>
            <a:off x="7758063" y="901575"/>
            <a:ext cx="1079400" cy="5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6925" lIns="76925" spcFirstLastPara="1" rIns="76925" wrap="square" tIns="769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7660A8"/>
                </a:solidFill>
                <a:latin typeface="Poppins"/>
                <a:ea typeface="Poppins"/>
                <a:cs typeface="Poppins"/>
                <a:sym typeface="Poppins"/>
              </a:rPr>
              <a:t>Status Feedback to the UI</a:t>
            </a:r>
            <a:endParaRPr b="1" sz="900">
              <a:solidFill>
                <a:srgbClr val="7660A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07" name="Google Shape;307;p19"/>
          <p:cNvGrpSpPr/>
          <p:nvPr/>
        </p:nvGrpSpPr>
        <p:grpSpPr>
          <a:xfrm>
            <a:off x="7829682" y="1773851"/>
            <a:ext cx="935696" cy="802061"/>
            <a:chOff x="7226671" y="2967915"/>
            <a:chExt cx="703848" cy="218694"/>
          </a:xfrm>
        </p:grpSpPr>
        <p:sp>
          <p:nvSpPr>
            <p:cNvPr id="308" name="Google Shape;308;p19"/>
            <p:cNvSpPr/>
            <p:nvPr/>
          </p:nvSpPr>
          <p:spPr>
            <a:xfrm>
              <a:off x="7242019" y="2980209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2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309" name="Google Shape;309;p19"/>
            <p:cNvSpPr/>
            <p:nvPr/>
          </p:nvSpPr>
          <p:spPr>
            <a:xfrm>
              <a:off x="7226671" y="2967915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5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Phase Transitions</a:t>
              </a:r>
              <a:endParaRPr sz="70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5">
                  <a:solidFill>
                    <a:srgbClr val="CCCCCC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Pending → Installing → Ready</a:t>
              </a:r>
              <a:endParaRPr sz="605">
                <a:solidFill>
                  <a:srgbClr val="CCCCCC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grpSp>
        <p:nvGrpSpPr>
          <p:cNvPr id="310" name="Google Shape;310;p19"/>
          <p:cNvGrpSpPr/>
          <p:nvPr/>
        </p:nvGrpSpPr>
        <p:grpSpPr>
          <a:xfrm>
            <a:off x="7829682" y="2711556"/>
            <a:ext cx="935696" cy="802061"/>
            <a:chOff x="7226671" y="2967915"/>
            <a:chExt cx="703848" cy="218694"/>
          </a:xfrm>
        </p:grpSpPr>
        <p:sp>
          <p:nvSpPr>
            <p:cNvPr id="311" name="Google Shape;311;p19"/>
            <p:cNvSpPr/>
            <p:nvPr/>
          </p:nvSpPr>
          <p:spPr>
            <a:xfrm>
              <a:off x="7242019" y="2980209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2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312" name="Google Shape;312;p19"/>
            <p:cNvSpPr/>
            <p:nvPr/>
          </p:nvSpPr>
          <p:spPr>
            <a:xfrm>
              <a:off x="7226671" y="2967915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5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Live Install Logs</a:t>
              </a:r>
              <a:endParaRPr sz="705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5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5">
                  <a:solidFill>
                    <a:srgbClr val="CCCCCC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CR conditions + pod logs</a:t>
              </a:r>
              <a:endParaRPr sz="70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grpSp>
        <p:nvGrpSpPr>
          <p:cNvPr id="313" name="Google Shape;313;p19"/>
          <p:cNvGrpSpPr/>
          <p:nvPr/>
        </p:nvGrpSpPr>
        <p:grpSpPr>
          <a:xfrm>
            <a:off x="7829688" y="3623575"/>
            <a:ext cx="935696" cy="827561"/>
            <a:chOff x="7226671" y="2967915"/>
            <a:chExt cx="703848" cy="218694"/>
          </a:xfrm>
        </p:grpSpPr>
        <p:sp>
          <p:nvSpPr>
            <p:cNvPr id="314" name="Google Shape;314;p19"/>
            <p:cNvSpPr/>
            <p:nvPr/>
          </p:nvSpPr>
          <p:spPr>
            <a:xfrm>
              <a:off x="7242019" y="2980209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2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315" name="Google Shape;315;p19"/>
            <p:cNvSpPr/>
            <p:nvPr/>
          </p:nvSpPr>
          <p:spPr>
            <a:xfrm>
              <a:off x="7226671" y="2967915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5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UI Poll / Stream</a:t>
              </a:r>
              <a:endParaRPr sz="705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5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5">
                  <a:solidFill>
                    <a:srgbClr val="CCCCCC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GET install logs</a:t>
              </a:r>
              <a:r>
                <a:rPr lang="en" sz="500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・</a:t>
              </a:r>
              <a:r>
                <a:rPr lang="en" sz="605">
                  <a:solidFill>
                    <a:srgbClr val="CCCCCC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admin</a:t>
              </a:r>
              <a:endParaRPr sz="70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cxnSp>
        <p:nvCxnSpPr>
          <p:cNvPr id="316" name="Google Shape;316;p19"/>
          <p:cNvCxnSpPr>
            <a:stCxn id="219" idx="3"/>
            <a:endCxn id="220" idx="1"/>
          </p:cNvCxnSpPr>
          <p:nvPr/>
        </p:nvCxnSpPr>
        <p:spPr>
          <a:xfrm>
            <a:off x="1336050" y="2716150"/>
            <a:ext cx="170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7" name="Google Shape;317;p19"/>
          <p:cNvCxnSpPr>
            <a:stCxn id="220" idx="3"/>
            <a:endCxn id="221" idx="1"/>
          </p:cNvCxnSpPr>
          <p:nvPr/>
        </p:nvCxnSpPr>
        <p:spPr>
          <a:xfrm>
            <a:off x="2586283" y="2716150"/>
            <a:ext cx="170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8" name="Google Shape;318;p19"/>
          <p:cNvCxnSpPr>
            <a:stCxn id="221" idx="3"/>
            <a:endCxn id="222" idx="1"/>
          </p:cNvCxnSpPr>
          <p:nvPr/>
        </p:nvCxnSpPr>
        <p:spPr>
          <a:xfrm>
            <a:off x="3836517" y="2716150"/>
            <a:ext cx="170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9" name="Google Shape;319;p19"/>
          <p:cNvCxnSpPr>
            <a:endCxn id="223" idx="1"/>
          </p:cNvCxnSpPr>
          <p:nvPr/>
        </p:nvCxnSpPr>
        <p:spPr>
          <a:xfrm flipH="1" rot="10800000">
            <a:off x="5097383" y="2716150"/>
            <a:ext cx="1602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0" name="Google Shape;320;p19"/>
          <p:cNvCxnSpPr>
            <a:stCxn id="224" idx="1"/>
          </p:cNvCxnSpPr>
          <p:nvPr/>
        </p:nvCxnSpPr>
        <p:spPr>
          <a:xfrm rot="10800000">
            <a:off x="6332625" y="1770100"/>
            <a:ext cx="17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21" name="Google Shape;321;p19"/>
          <p:cNvCxnSpPr>
            <a:stCxn id="279" idx="1"/>
          </p:cNvCxnSpPr>
          <p:nvPr/>
        </p:nvCxnSpPr>
        <p:spPr>
          <a:xfrm rot="10800000">
            <a:off x="6338000" y="3662190"/>
            <a:ext cx="169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22" name="Google Shape;322;p19"/>
          <p:cNvCxnSpPr/>
          <p:nvPr/>
        </p:nvCxnSpPr>
        <p:spPr>
          <a:xfrm rot="10800000">
            <a:off x="7587225" y="1770100"/>
            <a:ext cx="17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23" name="Google Shape;323;p19"/>
          <p:cNvCxnSpPr/>
          <p:nvPr/>
        </p:nvCxnSpPr>
        <p:spPr>
          <a:xfrm rot="10800000">
            <a:off x="7592100" y="3675263"/>
            <a:ext cx="17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8" name="Google Shape;328;p20" title="image (6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7450" y="152400"/>
            <a:ext cx="4749095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1"/>
          <p:cNvSpPr txBox="1"/>
          <p:nvPr>
            <p:ph type="title"/>
          </p:nvPr>
        </p:nvSpPr>
        <p:spPr>
          <a:xfrm>
            <a:off x="212884" y="1039375"/>
            <a:ext cx="27468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21"/>
          <p:cNvSpPr txBox="1"/>
          <p:nvPr>
            <p:ph idx="1" type="body"/>
          </p:nvPr>
        </p:nvSpPr>
        <p:spPr>
          <a:xfrm>
            <a:off x="212875" y="1354125"/>
            <a:ext cx="45306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Securellm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2"/>
          <p:cNvSpPr/>
          <p:nvPr/>
        </p:nvSpPr>
        <p:spPr>
          <a:xfrm>
            <a:off x="2381391" y="4760371"/>
            <a:ext cx="6170400" cy="156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87400" lIns="87400" spcFirstLastPara="1" rIns="87400" wrap="square" tIns="87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38"/>
          </a:p>
        </p:txBody>
      </p:sp>
      <p:sp>
        <p:nvSpPr>
          <p:cNvPr id="340" name="Google Shape;340;p22"/>
          <p:cNvSpPr txBox="1"/>
          <p:nvPr/>
        </p:nvSpPr>
        <p:spPr>
          <a:xfrm>
            <a:off x="256650" y="264550"/>
            <a:ext cx="69840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7660A9"/>
                </a:solidFill>
                <a:latin typeface="Poppins"/>
                <a:ea typeface="Poppins"/>
                <a:cs typeface="Poppins"/>
                <a:sym typeface="Poppins"/>
              </a:rPr>
              <a:t>SecureLLM Architecture</a:t>
            </a:r>
            <a:endParaRPr sz="2400">
              <a:solidFill>
                <a:srgbClr val="7660A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1" name="Google Shape;341;p22"/>
          <p:cNvSpPr txBox="1"/>
          <p:nvPr/>
        </p:nvSpPr>
        <p:spPr>
          <a:xfrm>
            <a:off x="142076" y="4659450"/>
            <a:ext cx="1128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dkube.io</a:t>
            </a:r>
            <a:endParaRPr b="0" i="0" sz="1500" u="none" cap="none" strike="noStrike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342" name="Google Shape;34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6297" y="205400"/>
            <a:ext cx="401253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22"/>
          <p:cNvSpPr txBox="1"/>
          <p:nvPr/>
        </p:nvSpPr>
        <p:spPr>
          <a:xfrm>
            <a:off x="5264350" y="4705650"/>
            <a:ext cx="3573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7660A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Empowering Enterprise AI on Kubernetes</a:t>
            </a:r>
            <a:endParaRPr sz="1300">
              <a:solidFill>
                <a:srgbClr val="7660A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44" name="Google Shape;344;p22"/>
          <p:cNvSpPr/>
          <p:nvPr/>
        </p:nvSpPr>
        <p:spPr>
          <a:xfrm>
            <a:off x="292785" y="792879"/>
            <a:ext cx="615600" cy="623700"/>
          </a:xfrm>
          <a:prstGeom prst="roundRect">
            <a:avLst>
              <a:gd fmla="val 6533" name="adj"/>
            </a:avLst>
          </a:prstGeom>
          <a:noFill/>
          <a:ln cap="flat" cmpd="sng" w="9525">
            <a:solidFill>
              <a:srgbClr val="9E9E9E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76925" lIns="76925" spcFirstLastPara="1" rIns="76925" wrap="square" tIns="7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78"/>
          </a:p>
        </p:txBody>
      </p:sp>
      <p:sp>
        <p:nvSpPr>
          <p:cNvPr id="345" name="Google Shape;345;p22"/>
          <p:cNvSpPr txBox="1"/>
          <p:nvPr/>
        </p:nvSpPr>
        <p:spPr>
          <a:xfrm>
            <a:off x="256638" y="1471421"/>
            <a:ext cx="6879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76925" lIns="76925" spcFirstLastPara="1" rIns="76925" wrap="square" tIns="769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89">
                <a:solidFill>
                  <a:srgbClr val="4D4D4D"/>
                </a:solidFill>
                <a:latin typeface="Poppins"/>
                <a:ea typeface="Poppins"/>
                <a:cs typeface="Poppins"/>
                <a:sym typeface="Poppins"/>
              </a:rPr>
              <a:t>AI Client</a:t>
            </a:r>
            <a:r>
              <a:rPr b="1" lang="en" sz="589">
                <a:solidFill>
                  <a:srgbClr val="4D4D4D"/>
                </a:solidFill>
                <a:latin typeface="Poppins"/>
                <a:ea typeface="Poppins"/>
                <a:cs typeface="Poppins"/>
                <a:sym typeface="Poppins"/>
              </a:rPr>
              <a:t>/UI</a:t>
            </a:r>
            <a:endParaRPr b="1" sz="589">
              <a:solidFill>
                <a:srgbClr val="4D4D4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46" name="Google Shape;346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7987" y="912126"/>
            <a:ext cx="385212" cy="385212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22"/>
          <p:cNvSpPr/>
          <p:nvPr/>
        </p:nvSpPr>
        <p:spPr>
          <a:xfrm>
            <a:off x="1172058" y="790620"/>
            <a:ext cx="615600" cy="628200"/>
          </a:xfrm>
          <a:prstGeom prst="roundRect">
            <a:avLst>
              <a:gd fmla="val 6533" name="adj"/>
            </a:avLst>
          </a:prstGeom>
          <a:noFill/>
          <a:ln cap="flat" cmpd="sng" w="9525">
            <a:solidFill>
              <a:srgbClr val="9E9E9E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122925" lIns="122925" spcFirstLastPara="1" rIns="122925" wrap="square" tIns="122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83"/>
          </a:p>
        </p:txBody>
      </p:sp>
      <p:sp>
        <p:nvSpPr>
          <p:cNvPr id="348" name="Google Shape;348;p22"/>
          <p:cNvSpPr txBox="1"/>
          <p:nvPr/>
        </p:nvSpPr>
        <p:spPr>
          <a:xfrm>
            <a:off x="1083876" y="1471425"/>
            <a:ext cx="7920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76925" lIns="76925" spcFirstLastPara="1" rIns="76925" wrap="square" tIns="769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89">
                <a:solidFill>
                  <a:srgbClr val="4D4D4D"/>
                </a:solidFill>
                <a:latin typeface="Poppins"/>
                <a:ea typeface="Poppins"/>
                <a:cs typeface="Poppins"/>
                <a:sym typeface="Poppins"/>
              </a:rPr>
              <a:t>SSO Proxy</a:t>
            </a:r>
            <a:endParaRPr b="1" sz="589">
              <a:solidFill>
                <a:srgbClr val="4D4D4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89">
                <a:solidFill>
                  <a:srgbClr val="4D4D4D"/>
                </a:solidFill>
                <a:latin typeface="Poppins"/>
                <a:ea typeface="Poppins"/>
                <a:cs typeface="Poppins"/>
                <a:sym typeface="Poppins"/>
              </a:rPr>
              <a:t>oauth2-proxy</a:t>
            </a:r>
            <a:endParaRPr sz="589">
              <a:solidFill>
                <a:srgbClr val="4D4D4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49" name="Google Shape;349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84114" y="907962"/>
            <a:ext cx="391578" cy="393335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22"/>
          <p:cNvSpPr/>
          <p:nvPr/>
        </p:nvSpPr>
        <p:spPr>
          <a:xfrm>
            <a:off x="2051325" y="790625"/>
            <a:ext cx="5457000" cy="3091500"/>
          </a:xfrm>
          <a:prstGeom prst="roundRect">
            <a:avLst>
              <a:gd fmla="val 891" name="adj"/>
            </a:avLst>
          </a:prstGeom>
          <a:noFill/>
          <a:ln cap="flat" cmpd="sng" w="9525">
            <a:solidFill>
              <a:srgbClr val="9483BA"/>
            </a:solidFill>
            <a:prstDash val="lgDashDot"/>
            <a:round/>
            <a:headEnd len="sm" w="sm" type="none"/>
            <a:tailEnd len="sm" w="sm" type="none"/>
          </a:ln>
        </p:spPr>
        <p:txBody>
          <a:bodyPr anchorCtr="0" anchor="ctr" bIns="76925" lIns="76925" spcFirstLastPara="1" rIns="76925" wrap="square" tIns="7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78"/>
          </a:p>
        </p:txBody>
      </p:sp>
      <p:sp>
        <p:nvSpPr>
          <p:cNvPr id="351" name="Google Shape;351;p22"/>
          <p:cNvSpPr txBox="1"/>
          <p:nvPr/>
        </p:nvSpPr>
        <p:spPr>
          <a:xfrm>
            <a:off x="4466613" y="661950"/>
            <a:ext cx="603600" cy="246000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txBody>
          <a:bodyPr anchorCtr="0" anchor="t" bIns="76925" lIns="76925" spcFirstLastPara="1" rIns="76925" wrap="square" tIns="769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89">
                <a:solidFill>
                  <a:srgbClr val="7660A8"/>
                </a:solidFill>
                <a:latin typeface="Poppins"/>
                <a:ea typeface="Poppins"/>
                <a:cs typeface="Poppins"/>
                <a:sym typeface="Poppins"/>
              </a:rPr>
              <a:t>SecureLLM</a:t>
            </a:r>
            <a:endParaRPr b="1" sz="589">
              <a:solidFill>
                <a:srgbClr val="7660A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2" name="Google Shape;352;p22"/>
          <p:cNvSpPr/>
          <p:nvPr/>
        </p:nvSpPr>
        <p:spPr>
          <a:xfrm>
            <a:off x="2166525" y="927650"/>
            <a:ext cx="5203800" cy="691500"/>
          </a:xfrm>
          <a:prstGeom prst="roundRect">
            <a:avLst>
              <a:gd fmla="val 6533" name="adj"/>
            </a:avLst>
          </a:prstGeom>
          <a:noFill/>
          <a:ln cap="flat" cmpd="sng" w="8000">
            <a:solidFill>
              <a:srgbClr val="9483BA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76925" lIns="76925" spcFirstLastPara="1" rIns="76925" wrap="square" tIns="7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78"/>
          </a:p>
        </p:txBody>
      </p:sp>
      <p:sp>
        <p:nvSpPr>
          <p:cNvPr id="353" name="Google Shape;353;p22"/>
          <p:cNvSpPr txBox="1"/>
          <p:nvPr/>
        </p:nvSpPr>
        <p:spPr>
          <a:xfrm>
            <a:off x="3831252" y="927648"/>
            <a:ext cx="18972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76925" lIns="76925" spcFirstLastPara="1" rIns="76925" wrap="square" tIns="769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89">
                <a:solidFill>
                  <a:srgbClr val="7660A8"/>
                </a:solidFill>
                <a:latin typeface="Poppins"/>
                <a:ea typeface="Poppins"/>
                <a:cs typeface="Poppins"/>
                <a:sym typeface="Poppins"/>
              </a:rPr>
              <a:t>API Layer</a:t>
            </a:r>
            <a:endParaRPr b="1" sz="589">
              <a:solidFill>
                <a:srgbClr val="7660A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54" name="Google Shape;354;p22"/>
          <p:cNvGrpSpPr/>
          <p:nvPr/>
        </p:nvGrpSpPr>
        <p:grpSpPr>
          <a:xfrm>
            <a:off x="4126997" y="1138741"/>
            <a:ext cx="1282763" cy="218694"/>
            <a:chOff x="7226671" y="2967915"/>
            <a:chExt cx="703848" cy="218694"/>
          </a:xfrm>
        </p:grpSpPr>
        <p:sp>
          <p:nvSpPr>
            <p:cNvPr id="355" name="Google Shape;355;p22"/>
            <p:cNvSpPr/>
            <p:nvPr/>
          </p:nvSpPr>
          <p:spPr>
            <a:xfrm>
              <a:off x="7242019" y="2980209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2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356" name="Google Shape;356;p22"/>
            <p:cNvSpPr/>
            <p:nvPr/>
          </p:nvSpPr>
          <p:spPr>
            <a:xfrm>
              <a:off x="7226671" y="2967915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5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Admin API /admin/api/*</a:t>
              </a:r>
              <a:endParaRPr sz="50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sp>
        <p:nvSpPr>
          <p:cNvPr id="357" name="Google Shape;357;p22"/>
          <p:cNvSpPr txBox="1"/>
          <p:nvPr/>
        </p:nvSpPr>
        <p:spPr>
          <a:xfrm>
            <a:off x="3979417" y="1318447"/>
            <a:ext cx="15780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76925" lIns="76925" spcFirstLastPara="1" rIns="76925" wrap="square" tIns="769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89">
                <a:solidFill>
                  <a:srgbClr val="4D4D4D"/>
                </a:solidFill>
                <a:latin typeface="Poppins"/>
                <a:ea typeface="Poppins"/>
                <a:cs typeface="Poppins"/>
                <a:sym typeface="Poppins"/>
              </a:rPr>
              <a:t>Keys, Providers, Usage</a:t>
            </a:r>
            <a:endParaRPr sz="589">
              <a:solidFill>
                <a:srgbClr val="4D4D4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58" name="Google Shape;358;p22"/>
          <p:cNvGrpSpPr/>
          <p:nvPr/>
        </p:nvGrpSpPr>
        <p:grpSpPr>
          <a:xfrm>
            <a:off x="2443780" y="1138741"/>
            <a:ext cx="1282763" cy="218694"/>
            <a:chOff x="7226671" y="2967915"/>
            <a:chExt cx="703848" cy="218694"/>
          </a:xfrm>
        </p:grpSpPr>
        <p:sp>
          <p:nvSpPr>
            <p:cNvPr id="359" name="Google Shape;359;p22"/>
            <p:cNvSpPr/>
            <p:nvPr/>
          </p:nvSpPr>
          <p:spPr>
            <a:xfrm>
              <a:off x="7242019" y="2980209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2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360" name="Google Shape;360;p22"/>
            <p:cNvSpPr/>
            <p:nvPr/>
          </p:nvSpPr>
          <p:spPr>
            <a:xfrm>
              <a:off x="7226671" y="2967915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5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Gateway API /v1/*</a:t>
              </a:r>
              <a:endParaRPr sz="50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sp>
        <p:nvSpPr>
          <p:cNvPr id="361" name="Google Shape;361;p22"/>
          <p:cNvSpPr txBox="1"/>
          <p:nvPr/>
        </p:nvSpPr>
        <p:spPr>
          <a:xfrm>
            <a:off x="2296200" y="1318447"/>
            <a:ext cx="15780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76925" lIns="76925" spcFirstLastPara="1" rIns="76925" wrap="square" tIns="769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89">
                <a:solidFill>
                  <a:srgbClr val="4D4D4D"/>
                </a:solidFill>
                <a:latin typeface="Poppins"/>
                <a:ea typeface="Poppins"/>
                <a:cs typeface="Poppins"/>
                <a:sym typeface="Poppins"/>
              </a:rPr>
              <a:t>Chat, Embeddings, Models</a:t>
            </a:r>
            <a:endParaRPr sz="589">
              <a:solidFill>
                <a:srgbClr val="4D4D4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62" name="Google Shape;362;p22"/>
          <p:cNvGrpSpPr/>
          <p:nvPr/>
        </p:nvGrpSpPr>
        <p:grpSpPr>
          <a:xfrm>
            <a:off x="5810214" y="1138741"/>
            <a:ext cx="1282763" cy="218694"/>
            <a:chOff x="7226671" y="2967915"/>
            <a:chExt cx="703848" cy="218694"/>
          </a:xfrm>
        </p:grpSpPr>
        <p:sp>
          <p:nvSpPr>
            <p:cNvPr id="363" name="Google Shape;363;p22"/>
            <p:cNvSpPr/>
            <p:nvPr/>
          </p:nvSpPr>
          <p:spPr>
            <a:xfrm>
              <a:off x="7242019" y="2980209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2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364" name="Google Shape;364;p22"/>
            <p:cNvSpPr/>
            <p:nvPr/>
          </p:nvSpPr>
          <p:spPr>
            <a:xfrm>
              <a:off x="7226671" y="2967915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5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User UI (SPA)</a:t>
              </a:r>
              <a:endParaRPr sz="50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sp>
        <p:nvSpPr>
          <p:cNvPr id="365" name="Google Shape;365;p22"/>
          <p:cNvSpPr txBox="1"/>
          <p:nvPr/>
        </p:nvSpPr>
        <p:spPr>
          <a:xfrm>
            <a:off x="5662634" y="1318447"/>
            <a:ext cx="15780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76925" lIns="76925" spcFirstLastPara="1" rIns="76925" wrap="square" tIns="769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89">
                <a:solidFill>
                  <a:srgbClr val="4D4D4D"/>
                </a:solidFill>
                <a:latin typeface="Poppins"/>
                <a:ea typeface="Poppins"/>
                <a:cs typeface="Poppins"/>
                <a:sym typeface="Poppins"/>
              </a:rPr>
              <a:t>Vite + React 18</a:t>
            </a:r>
            <a:endParaRPr sz="589">
              <a:solidFill>
                <a:srgbClr val="4D4D4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6" name="Google Shape;366;p22"/>
          <p:cNvSpPr/>
          <p:nvPr/>
        </p:nvSpPr>
        <p:spPr>
          <a:xfrm>
            <a:off x="2166475" y="1776350"/>
            <a:ext cx="5203800" cy="691500"/>
          </a:xfrm>
          <a:prstGeom prst="roundRect">
            <a:avLst>
              <a:gd fmla="val 6533" name="adj"/>
            </a:avLst>
          </a:prstGeom>
          <a:noFill/>
          <a:ln cap="flat" cmpd="sng" w="8000">
            <a:solidFill>
              <a:srgbClr val="9483BA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76925" lIns="76925" spcFirstLastPara="1" rIns="76925" wrap="square" tIns="7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78"/>
          </a:p>
        </p:txBody>
      </p:sp>
      <p:sp>
        <p:nvSpPr>
          <p:cNvPr id="367" name="Google Shape;367;p22"/>
          <p:cNvSpPr txBox="1"/>
          <p:nvPr/>
        </p:nvSpPr>
        <p:spPr>
          <a:xfrm>
            <a:off x="3831202" y="1776348"/>
            <a:ext cx="18972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76925" lIns="76925" spcFirstLastPara="1" rIns="76925" wrap="square" tIns="769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89">
                <a:solidFill>
                  <a:srgbClr val="7660A8"/>
                </a:solidFill>
                <a:latin typeface="Poppins"/>
                <a:ea typeface="Poppins"/>
                <a:cs typeface="Poppins"/>
                <a:sym typeface="Poppins"/>
              </a:rPr>
              <a:t>Core Engine</a:t>
            </a:r>
            <a:endParaRPr b="1" sz="589">
              <a:solidFill>
                <a:srgbClr val="7660A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68" name="Google Shape;368;p22"/>
          <p:cNvGrpSpPr/>
          <p:nvPr/>
        </p:nvGrpSpPr>
        <p:grpSpPr>
          <a:xfrm>
            <a:off x="4126947" y="1987441"/>
            <a:ext cx="1282763" cy="218694"/>
            <a:chOff x="7226671" y="2967915"/>
            <a:chExt cx="703848" cy="218694"/>
          </a:xfrm>
        </p:grpSpPr>
        <p:sp>
          <p:nvSpPr>
            <p:cNvPr id="369" name="Google Shape;369;p22"/>
            <p:cNvSpPr/>
            <p:nvPr/>
          </p:nvSpPr>
          <p:spPr>
            <a:xfrm>
              <a:off x="7242019" y="2980209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2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370" name="Google Shape;370;p22"/>
            <p:cNvSpPr/>
            <p:nvPr/>
          </p:nvSpPr>
          <p:spPr>
            <a:xfrm>
              <a:off x="7226671" y="2967915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5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Provider Registry</a:t>
              </a:r>
              <a:endParaRPr sz="50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sp>
        <p:nvSpPr>
          <p:cNvPr id="371" name="Google Shape;371;p22"/>
          <p:cNvSpPr txBox="1"/>
          <p:nvPr/>
        </p:nvSpPr>
        <p:spPr>
          <a:xfrm>
            <a:off x="3979367" y="2167147"/>
            <a:ext cx="15780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76925" lIns="76925" spcFirstLastPara="1" rIns="76925" wrap="square" tIns="769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89">
                <a:solidFill>
                  <a:srgbClr val="4D4D4D"/>
                </a:solidFill>
                <a:latin typeface="Poppins"/>
                <a:ea typeface="Poppins"/>
                <a:cs typeface="Poppins"/>
                <a:sym typeface="Poppins"/>
              </a:rPr>
              <a:t>Circuit Breaker</a:t>
            </a:r>
            <a:endParaRPr sz="589">
              <a:solidFill>
                <a:srgbClr val="4D4D4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72" name="Google Shape;372;p22"/>
          <p:cNvGrpSpPr/>
          <p:nvPr/>
        </p:nvGrpSpPr>
        <p:grpSpPr>
          <a:xfrm>
            <a:off x="2443730" y="1987441"/>
            <a:ext cx="1282763" cy="218694"/>
            <a:chOff x="7226671" y="2967915"/>
            <a:chExt cx="703848" cy="218694"/>
          </a:xfrm>
        </p:grpSpPr>
        <p:sp>
          <p:nvSpPr>
            <p:cNvPr id="373" name="Google Shape;373;p22"/>
            <p:cNvSpPr/>
            <p:nvPr/>
          </p:nvSpPr>
          <p:spPr>
            <a:xfrm>
              <a:off x="7242019" y="2980209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2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374" name="Google Shape;374;p22"/>
            <p:cNvSpPr/>
            <p:nvPr/>
          </p:nvSpPr>
          <p:spPr>
            <a:xfrm>
              <a:off x="7226671" y="2967915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5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Provider Router</a:t>
              </a:r>
              <a:endParaRPr sz="50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sp>
        <p:nvSpPr>
          <p:cNvPr id="375" name="Google Shape;375;p22"/>
          <p:cNvSpPr txBox="1"/>
          <p:nvPr/>
        </p:nvSpPr>
        <p:spPr>
          <a:xfrm>
            <a:off x="2296150" y="2167147"/>
            <a:ext cx="15780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76925" lIns="76925" spcFirstLastPara="1" rIns="76925" wrap="square" tIns="769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89">
                <a:solidFill>
                  <a:srgbClr val="4D4D4D"/>
                </a:solidFill>
                <a:latin typeface="Poppins"/>
                <a:ea typeface="Poppins"/>
                <a:cs typeface="Poppins"/>
                <a:sym typeface="Poppins"/>
              </a:rPr>
              <a:t>Routing Strategy</a:t>
            </a:r>
            <a:endParaRPr sz="589">
              <a:solidFill>
                <a:srgbClr val="4D4D4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76" name="Google Shape;376;p22"/>
          <p:cNvGrpSpPr/>
          <p:nvPr/>
        </p:nvGrpSpPr>
        <p:grpSpPr>
          <a:xfrm>
            <a:off x="5810164" y="1987441"/>
            <a:ext cx="1282763" cy="218694"/>
            <a:chOff x="7226671" y="2967915"/>
            <a:chExt cx="703848" cy="218694"/>
          </a:xfrm>
        </p:grpSpPr>
        <p:sp>
          <p:nvSpPr>
            <p:cNvPr id="377" name="Google Shape;377;p22"/>
            <p:cNvSpPr/>
            <p:nvPr/>
          </p:nvSpPr>
          <p:spPr>
            <a:xfrm>
              <a:off x="7242019" y="2980209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2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378" name="Google Shape;378;p22"/>
            <p:cNvSpPr/>
            <p:nvPr/>
          </p:nvSpPr>
          <p:spPr>
            <a:xfrm>
              <a:off x="7226671" y="2967915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5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Guardrail Pipeline</a:t>
              </a:r>
              <a:endParaRPr sz="50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sp>
        <p:nvSpPr>
          <p:cNvPr id="379" name="Google Shape;379;p22"/>
          <p:cNvSpPr txBox="1"/>
          <p:nvPr/>
        </p:nvSpPr>
        <p:spPr>
          <a:xfrm>
            <a:off x="5662584" y="2167147"/>
            <a:ext cx="15780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76925" lIns="76925" spcFirstLastPara="1" rIns="76925" wrap="square" tIns="769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89">
                <a:solidFill>
                  <a:srgbClr val="4D4D4D"/>
                </a:solidFill>
                <a:latin typeface="Poppins"/>
                <a:ea typeface="Poppins"/>
                <a:cs typeface="Poppins"/>
                <a:sym typeface="Poppins"/>
              </a:rPr>
              <a:t>Pre-call, Post-call</a:t>
            </a:r>
            <a:endParaRPr sz="589">
              <a:solidFill>
                <a:srgbClr val="4D4D4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0" name="Google Shape;380;p22"/>
          <p:cNvSpPr/>
          <p:nvPr/>
        </p:nvSpPr>
        <p:spPr>
          <a:xfrm>
            <a:off x="2166438" y="2625050"/>
            <a:ext cx="2540700" cy="1149900"/>
          </a:xfrm>
          <a:prstGeom prst="roundRect">
            <a:avLst>
              <a:gd fmla="val 6533" name="adj"/>
            </a:avLst>
          </a:prstGeom>
          <a:noFill/>
          <a:ln cap="flat" cmpd="sng" w="8000">
            <a:solidFill>
              <a:srgbClr val="9483BA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76925" lIns="76925" spcFirstLastPara="1" rIns="76925" wrap="square" tIns="7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78"/>
          </a:p>
        </p:txBody>
      </p:sp>
      <p:sp>
        <p:nvSpPr>
          <p:cNvPr id="381" name="Google Shape;381;p22"/>
          <p:cNvSpPr txBox="1"/>
          <p:nvPr/>
        </p:nvSpPr>
        <p:spPr>
          <a:xfrm>
            <a:off x="2979317" y="2625050"/>
            <a:ext cx="9264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76925" lIns="76925" spcFirstLastPara="1" rIns="76925" wrap="square" tIns="769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89">
                <a:solidFill>
                  <a:srgbClr val="7660A8"/>
                </a:solidFill>
                <a:latin typeface="Poppins"/>
                <a:ea typeface="Poppins"/>
                <a:cs typeface="Poppins"/>
                <a:sym typeface="Poppins"/>
              </a:rPr>
              <a:t>API Layer</a:t>
            </a:r>
            <a:endParaRPr b="1" sz="589">
              <a:solidFill>
                <a:srgbClr val="7660A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82" name="Google Shape;382;p22"/>
          <p:cNvGrpSpPr/>
          <p:nvPr/>
        </p:nvGrpSpPr>
        <p:grpSpPr>
          <a:xfrm>
            <a:off x="2302277" y="2871140"/>
            <a:ext cx="2269981" cy="378057"/>
            <a:chOff x="7226671" y="2967915"/>
            <a:chExt cx="703848" cy="218694"/>
          </a:xfrm>
        </p:grpSpPr>
        <p:sp>
          <p:nvSpPr>
            <p:cNvPr id="383" name="Google Shape;383;p22"/>
            <p:cNvSpPr/>
            <p:nvPr/>
          </p:nvSpPr>
          <p:spPr>
            <a:xfrm>
              <a:off x="7242019" y="2980209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2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384" name="Google Shape;384;p22"/>
            <p:cNvSpPr/>
            <p:nvPr/>
          </p:nvSpPr>
          <p:spPr>
            <a:xfrm>
              <a:off x="7226671" y="2967915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5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Health Checker &amp; Model Synchronizer</a:t>
              </a:r>
              <a:endParaRPr sz="50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sp>
        <p:nvSpPr>
          <p:cNvPr id="385" name="Google Shape;385;p22"/>
          <p:cNvSpPr/>
          <p:nvPr/>
        </p:nvSpPr>
        <p:spPr>
          <a:xfrm>
            <a:off x="4829513" y="2625051"/>
            <a:ext cx="2540700" cy="1149900"/>
          </a:xfrm>
          <a:prstGeom prst="roundRect">
            <a:avLst>
              <a:gd fmla="val 6533" name="adj"/>
            </a:avLst>
          </a:prstGeom>
          <a:noFill/>
          <a:ln cap="flat" cmpd="sng" w="8000">
            <a:solidFill>
              <a:srgbClr val="9483BA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76925" lIns="76925" spcFirstLastPara="1" rIns="76925" wrap="square" tIns="7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78"/>
          </a:p>
        </p:txBody>
      </p:sp>
      <p:sp>
        <p:nvSpPr>
          <p:cNvPr id="386" name="Google Shape;386;p22"/>
          <p:cNvSpPr txBox="1"/>
          <p:nvPr/>
        </p:nvSpPr>
        <p:spPr>
          <a:xfrm>
            <a:off x="5642400" y="2625050"/>
            <a:ext cx="9264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76925" lIns="76925" spcFirstLastPara="1" rIns="76925" wrap="square" tIns="769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89">
                <a:solidFill>
                  <a:srgbClr val="7660A8"/>
                </a:solidFill>
                <a:latin typeface="Poppins"/>
                <a:ea typeface="Poppins"/>
                <a:cs typeface="Poppins"/>
                <a:sym typeface="Poppins"/>
              </a:rPr>
              <a:t>API Layer</a:t>
            </a:r>
            <a:endParaRPr b="1" sz="589">
              <a:solidFill>
                <a:srgbClr val="7660A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87" name="Google Shape;387;p22"/>
          <p:cNvGrpSpPr/>
          <p:nvPr/>
        </p:nvGrpSpPr>
        <p:grpSpPr>
          <a:xfrm>
            <a:off x="6210362" y="2871079"/>
            <a:ext cx="923449" cy="211259"/>
            <a:chOff x="7226671" y="2967915"/>
            <a:chExt cx="703848" cy="218694"/>
          </a:xfrm>
        </p:grpSpPr>
        <p:sp>
          <p:nvSpPr>
            <p:cNvPr id="388" name="Google Shape;388;p22"/>
            <p:cNvSpPr/>
            <p:nvPr/>
          </p:nvSpPr>
          <p:spPr>
            <a:xfrm>
              <a:off x="7242019" y="2980209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2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389" name="Google Shape;389;p22"/>
            <p:cNvSpPr/>
            <p:nvPr/>
          </p:nvSpPr>
          <p:spPr>
            <a:xfrm>
              <a:off x="7226671" y="2967915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5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Rate Limiter</a:t>
              </a:r>
              <a:endParaRPr sz="50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sp>
        <p:nvSpPr>
          <p:cNvPr id="390" name="Google Shape;390;p22"/>
          <p:cNvSpPr txBox="1"/>
          <p:nvPr/>
        </p:nvSpPr>
        <p:spPr>
          <a:xfrm>
            <a:off x="6104636" y="3044591"/>
            <a:ext cx="11358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76925" lIns="76925" spcFirstLastPara="1" rIns="76925" wrap="square" tIns="769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89">
                <a:solidFill>
                  <a:srgbClr val="4D4D4D"/>
                </a:solidFill>
                <a:latin typeface="Poppins"/>
                <a:ea typeface="Poppins"/>
                <a:cs typeface="Poppins"/>
                <a:sym typeface="Poppins"/>
              </a:rPr>
              <a:t>Token Bucket</a:t>
            </a:r>
            <a:endParaRPr sz="589">
              <a:solidFill>
                <a:srgbClr val="4D4D4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91" name="Google Shape;391;p22"/>
          <p:cNvGrpSpPr/>
          <p:nvPr/>
        </p:nvGrpSpPr>
        <p:grpSpPr>
          <a:xfrm>
            <a:off x="4998563" y="2871079"/>
            <a:ext cx="923449" cy="211259"/>
            <a:chOff x="7226671" y="2967915"/>
            <a:chExt cx="703848" cy="218694"/>
          </a:xfrm>
        </p:grpSpPr>
        <p:sp>
          <p:nvSpPr>
            <p:cNvPr id="392" name="Google Shape;392;p22"/>
            <p:cNvSpPr/>
            <p:nvPr/>
          </p:nvSpPr>
          <p:spPr>
            <a:xfrm>
              <a:off x="7242019" y="2980209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2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393" name="Google Shape;393;p22"/>
            <p:cNvSpPr/>
            <p:nvPr/>
          </p:nvSpPr>
          <p:spPr>
            <a:xfrm>
              <a:off x="7226671" y="2967915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5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API Key Cache</a:t>
              </a:r>
              <a:endParaRPr sz="50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sp>
        <p:nvSpPr>
          <p:cNvPr id="394" name="Google Shape;394;p22"/>
          <p:cNvSpPr txBox="1"/>
          <p:nvPr/>
        </p:nvSpPr>
        <p:spPr>
          <a:xfrm>
            <a:off x="4892838" y="3044591"/>
            <a:ext cx="11358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76925" lIns="76925" spcFirstLastPara="1" rIns="76925" wrap="square" tIns="769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89">
                <a:solidFill>
                  <a:srgbClr val="4D4D4D"/>
                </a:solidFill>
                <a:latin typeface="Poppins"/>
                <a:ea typeface="Poppins"/>
                <a:cs typeface="Poppins"/>
                <a:sym typeface="Poppins"/>
              </a:rPr>
              <a:t>5 Min TTL</a:t>
            </a:r>
            <a:endParaRPr sz="589">
              <a:solidFill>
                <a:srgbClr val="4D4D4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95" name="Google Shape;395;p22"/>
          <p:cNvGrpSpPr/>
          <p:nvPr/>
        </p:nvGrpSpPr>
        <p:grpSpPr>
          <a:xfrm>
            <a:off x="3590047" y="3316134"/>
            <a:ext cx="981868" cy="378057"/>
            <a:chOff x="7226671" y="2967915"/>
            <a:chExt cx="703848" cy="218694"/>
          </a:xfrm>
        </p:grpSpPr>
        <p:sp>
          <p:nvSpPr>
            <p:cNvPr id="396" name="Google Shape;396;p22"/>
            <p:cNvSpPr/>
            <p:nvPr/>
          </p:nvSpPr>
          <p:spPr>
            <a:xfrm>
              <a:off x="7242019" y="2980209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2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397" name="Google Shape;397;p22"/>
            <p:cNvSpPr/>
            <p:nvPr/>
          </p:nvSpPr>
          <p:spPr>
            <a:xfrm>
              <a:off x="7226671" y="2967915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5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Audit Logger</a:t>
              </a:r>
              <a:endParaRPr sz="50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grpSp>
        <p:nvGrpSpPr>
          <p:cNvPr id="398" name="Google Shape;398;p22"/>
          <p:cNvGrpSpPr/>
          <p:nvPr/>
        </p:nvGrpSpPr>
        <p:grpSpPr>
          <a:xfrm>
            <a:off x="2301665" y="3316134"/>
            <a:ext cx="981868" cy="378057"/>
            <a:chOff x="7226671" y="2967915"/>
            <a:chExt cx="703848" cy="218694"/>
          </a:xfrm>
        </p:grpSpPr>
        <p:sp>
          <p:nvSpPr>
            <p:cNvPr id="399" name="Google Shape;399;p22"/>
            <p:cNvSpPr/>
            <p:nvPr/>
          </p:nvSpPr>
          <p:spPr>
            <a:xfrm>
              <a:off x="7242019" y="2980209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2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400" name="Google Shape;400;p22"/>
            <p:cNvSpPr/>
            <p:nvPr/>
          </p:nvSpPr>
          <p:spPr>
            <a:xfrm>
              <a:off x="7226671" y="2967915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5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Usage Tracker</a:t>
              </a:r>
              <a:endParaRPr sz="50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grpSp>
        <p:nvGrpSpPr>
          <p:cNvPr id="401" name="Google Shape;401;p22"/>
          <p:cNvGrpSpPr/>
          <p:nvPr/>
        </p:nvGrpSpPr>
        <p:grpSpPr>
          <a:xfrm>
            <a:off x="6210362" y="3286061"/>
            <a:ext cx="923449" cy="211259"/>
            <a:chOff x="7226671" y="2967915"/>
            <a:chExt cx="703848" cy="218694"/>
          </a:xfrm>
        </p:grpSpPr>
        <p:sp>
          <p:nvSpPr>
            <p:cNvPr id="402" name="Google Shape;402;p22"/>
            <p:cNvSpPr/>
            <p:nvPr/>
          </p:nvSpPr>
          <p:spPr>
            <a:xfrm>
              <a:off x="7242019" y="2980209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2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403" name="Google Shape;403;p22"/>
            <p:cNvSpPr/>
            <p:nvPr/>
          </p:nvSpPr>
          <p:spPr>
            <a:xfrm>
              <a:off x="7226671" y="2967915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5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SSE Broadcaster</a:t>
              </a:r>
              <a:endParaRPr sz="50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sp>
        <p:nvSpPr>
          <p:cNvPr id="404" name="Google Shape;404;p22"/>
          <p:cNvSpPr txBox="1"/>
          <p:nvPr/>
        </p:nvSpPr>
        <p:spPr>
          <a:xfrm>
            <a:off x="6104636" y="3459573"/>
            <a:ext cx="11358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76925" lIns="76925" spcFirstLastPara="1" rIns="76925" wrap="square" tIns="769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89">
                <a:solidFill>
                  <a:srgbClr val="4D4D4D"/>
                </a:solidFill>
                <a:latin typeface="Poppins"/>
                <a:ea typeface="Poppins"/>
                <a:cs typeface="Poppins"/>
                <a:sym typeface="Poppins"/>
              </a:rPr>
              <a:t>Providers, Routes</a:t>
            </a:r>
            <a:endParaRPr sz="589">
              <a:solidFill>
                <a:srgbClr val="4D4D4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405" name="Google Shape;405;p22"/>
          <p:cNvGrpSpPr/>
          <p:nvPr/>
        </p:nvGrpSpPr>
        <p:grpSpPr>
          <a:xfrm>
            <a:off x="4998563" y="3286061"/>
            <a:ext cx="923449" cy="211259"/>
            <a:chOff x="7226671" y="2967915"/>
            <a:chExt cx="703848" cy="218694"/>
          </a:xfrm>
        </p:grpSpPr>
        <p:sp>
          <p:nvSpPr>
            <p:cNvPr id="406" name="Google Shape;406;p22"/>
            <p:cNvSpPr/>
            <p:nvPr/>
          </p:nvSpPr>
          <p:spPr>
            <a:xfrm>
              <a:off x="7242019" y="2980209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2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407" name="Google Shape;407;p22"/>
            <p:cNvSpPr/>
            <p:nvPr/>
          </p:nvSpPr>
          <p:spPr>
            <a:xfrm>
              <a:off x="7226671" y="2967915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5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Metrics</a:t>
              </a:r>
              <a:endParaRPr sz="50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sp>
        <p:nvSpPr>
          <p:cNvPr id="408" name="Google Shape;408;p22"/>
          <p:cNvSpPr txBox="1"/>
          <p:nvPr/>
        </p:nvSpPr>
        <p:spPr>
          <a:xfrm>
            <a:off x="4892838" y="3459573"/>
            <a:ext cx="11358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76925" lIns="76925" spcFirstLastPara="1" rIns="76925" wrap="square" tIns="769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89">
                <a:solidFill>
                  <a:srgbClr val="4D4D4D"/>
                </a:solidFill>
                <a:latin typeface="Poppins"/>
                <a:ea typeface="Poppins"/>
                <a:cs typeface="Poppins"/>
                <a:sym typeface="Poppins"/>
              </a:rPr>
              <a:t>p50 p95 p99</a:t>
            </a:r>
            <a:endParaRPr sz="589">
              <a:solidFill>
                <a:srgbClr val="4D4D4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9" name="Google Shape;409;p22"/>
          <p:cNvSpPr/>
          <p:nvPr/>
        </p:nvSpPr>
        <p:spPr>
          <a:xfrm>
            <a:off x="2051250" y="4009400"/>
            <a:ext cx="5457000" cy="484500"/>
          </a:xfrm>
          <a:prstGeom prst="roundRect">
            <a:avLst>
              <a:gd fmla="val 6533" name="adj"/>
            </a:avLst>
          </a:prstGeom>
          <a:noFill/>
          <a:ln cap="flat" cmpd="sng" w="9525">
            <a:solidFill>
              <a:srgbClr val="9E9E9E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76925" lIns="76925" spcFirstLastPara="1" rIns="76925" wrap="square" tIns="7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78"/>
          </a:p>
        </p:txBody>
      </p:sp>
      <p:sp>
        <p:nvSpPr>
          <p:cNvPr id="410" name="Google Shape;410;p22"/>
          <p:cNvSpPr txBox="1"/>
          <p:nvPr/>
        </p:nvSpPr>
        <p:spPr>
          <a:xfrm>
            <a:off x="4305217" y="4022941"/>
            <a:ext cx="9264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76925" lIns="76925" spcFirstLastPara="1" rIns="76925" wrap="square" tIns="769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89">
                <a:solidFill>
                  <a:srgbClr val="7660A8"/>
                </a:solidFill>
                <a:latin typeface="Poppins"/>
                <a:ea typeface="Poppins"/>
                <a:cs typeface="Poppins"/>
                <a:sym typeface="Poppins"/>
              </a:rPr>
              <a:t>SQLite / PostgreSQL</a:t>
            </a:r>
            <a:endParaRPr b="1" sz="589">
              <a:solidFill>
                <a:srgbClr val="7660A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1" name="Google Shape;411;p22"/>
          <p:cNvSpPr txBox="1"/>
          <p:nvPr/>
        </p:nvSpPr>
        <p:spPr>
          <a:xfrm>
            <a:off x="2425700" y="4198250"/>
            <a:ext cx="47082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76925" lIns="76925" spcFirstLastPara="1" rIns="76925" wrap="square" tIns="769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89">
                <a:solidFill>
                  <a:srgbClr val="4D4D4D"/>
                </a:solidFill>
                <a:latin typeface="Poppins"/>
                <a:ea typeface="Poppins"/>
                <a:cs typeface="Poppins"/>
                <a:sym typeface="Poppins"/>
              </a:rPr>
              <a:t>API Keys, Usage Logs, Providers, Routes, Guardrails, Users</a:t>
            </a:r>
            <a:endParaRPr sz="589">
              <a:solidFill>
                <a:srgbClr val="4D4D4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2" name="Google Shape;412;p22"/>
          <p:cNvSpPr/>
          <p:nvPr/>
        </p:nvSpPr>
        <p:spPr>
          <a:xfrm>
            <a:off x="7660975" y="790625"/>
            <a:ext cx="1176600" cy="3703200"/>
          </a:xfrm>
          <a:prstGeom prst="roundRect">
            <a:avLst>
              <a:gd fmla="val 6533" name="adj"/>
            </a:avLst>
          </a:prstGeom>
          <a:noFill/>
          <a:ln cap="flat" cmpd="sng" w="8000">
            <a:solidFill>
              <a:srgbClr val="9E9E9E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76925" lIns="76925" spcFirstLastPara="1" rIns="76925" wrap="square" tIns="7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78"/>
          </a:p>
        </p:txBody>
      </p:sp>
      <p:sp>
        <p:nvSpPr>
          <p:cNvPr id="413" name="Google Shape;413;p22"/>
          <p:cNvSpPr txBox="1"/>
          <p:nvPr/>
        </p:nvSpPr>
        <p:spPr>
          <a:xfrm>
            <a:off x="7946800" y="816875"/>
            <a:ext cx="6051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76925" lIns="76925" spcFirstLastPara="1" rIns="76925" wrap="square" tIns="769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89">
                <a:solidFill>
                  <a:srgbClr val="7660A8"/>
                </a:solidFill>
                <a:latin typeface="Poppins"/>
                <a:ea typeface="Poppins"/>
                <a:cs typeface="Poppins"/>
                <a:sym typeface="Poppins"/>
              </a:rPr>
              <a:t>Providers</a:t>
            </a:r>
            <a:endParaRPr b="1" sz="589">
              <a:solidFill>
                <a:srgbClr val="7660A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414" name="Google Shape;414;p22"/>
          <p:cNvGrpSpPr/>
          <p:nvPr/>
        </p:nvGrpSpPr>
        <p:grpSpPr>
          <a:xfrm>
            <a:off x="7795700" y="1138688"/>
            <a:ext cx="908175" cy="539890"/>
            <a:chOff x="7226671" y="2967915"/>
            <a:chExt cx="703848" cy="218694"/>
          </a:xfrm>
        </p:grpSpPr>
        <p:sp>
          <p:nvSpPr>
            <p:cNvPr id="415" name="Google Shape;415;p22"/>
            <p:cNvSpPr/>
            <p:nvPr/>
          </p:nvSpPr>
          <p:spPr>
            <a:xfrm>
              <a:off x="7242019" y="2980209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2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416" name="Google Shape;416;p22"/>
            <p:cNvSpPr/>
            <p:nvPr/>
          </p:nvSpPr>
          <p:spPr>
            <a:xfrm>
              <a:off x="7226671" y="2967915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5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DKubeX</a:t>
              </a:r>
              <a:endParaRPr sz="50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grpSp>
        <p:nvGrpSpPr>
          <p:cNvPr id="417" name="Google Shape;417;p22"/>
          <p:cNvGrpSpPr/>
          <p:nvPr/>
        </p:nvGrpSpPr>
        <p:grpSpPr>
          <a:xfrm>
            <a:off x="7794538" y="1798543"/>
            <a:ext cx="908175" cy="539890"/>
            <a:chOff x="7226671" y="2967915"/>
            <a:chExt cx="703848" cy="218694"/>
          </a:xfrm>
        </p:grpSpPr>
        <p:sp>
          <p:nvSpPr>
            <p:cNvPr id="418" name="Google Shape;418;p22"/>
            <p:cNvSpPr/>
            <p:nvPr/>
          </p:nvSpPr>
          <p:spPr>
            <a:xfrm>
              <a:off x="7242019" y="2980209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2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419" name="Google Shape;419;p22"/>
            <p:cNvSpPr/>
            <p:nvPr/>
          </p:nvSpPr>
          <p:spPr>
            <a:xfrm>
              <a:off x="7226671" y="2967915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5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OpenAI</a:t>
              </a:r>
              <a:endParaRPr sz="50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grpSp>
        <p:nvGrpSpPr>
          <p:cNvPr id="420" name="Google Shape;420;p22"/>
          <p:cNvGrpSpPr/>
          <p:nvPr/>
        </p:nvGrpSpPr>
        <p:grpSpPr>
          <a:xfrm>
            <a:off x="7794538" y="2458368"/>
            <a:ext cx="908175" cy="539890"/>
            <a:chOff x="7226671" y="2967915"/>
            <a:chExt cx="703848" cy="218694"/>
          </a:xfrm>
        </p:grpSpPr>
        <p:sp>
          <p:nvSpPr>
            <p:cNvPr id="421" name="Google Shape;421;p22"/>
            <p:cNvSpPr/>
            <p:nvPr/>
          </p:nvSpPr>
          <p:spPr>
            <a:xfrm>
              <a:off x="7242019" y="2980209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2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422" name="Google Shape;422;p22"/>
            <p:cNvSpPr/>
            <p:nvPr/>
          </p:nvSpPr>
          <p:spPr>
            <a:xfrm>
              <a:off x="7226671" y="2967915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5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Anthropic</a:t>
              </a:r>
              <a:endParaRPr sz="50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grpSp>
        <p:nvGrpSpPr>
          <p:cNvPr id="423" name="Google Shape;423;p22"/>
          <p:cNvGrpSpPr/>
          <p:nvPr/>
        </p:nvGrpSpPr>
        <p:grpSpPr>
          <a:xfrm>
            <a:off x="7794538" y="3118193"/>
            <a:ext cx="908175" cy="539890"/>
            <a:chOff x="7226671" y="2967915"/>
            <a:chExt cx="703848" cy="218694"/>
          </a:xfrm>
        </p:grpSpPr>
        <p:sp>
          <p:nvSpPr>
            <p:cNvPr id="424" name="Google Shape;424;p22"/>
            <p:cNvSpPr/>
            <p:nvPr/>
          </p:nvSpPr>
          <p:spPr>
            <a:xfrm>
              <a:off x="7242019" y="2980209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2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425" name="Google Shape;425;p22"/>
            <p:cNvSpPr/>
            <p:nvPr/>
          </p:nvSpPr>
          <p:spPr>
            <a:xfrm>
              <a:off x="7226671" y="2967915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5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OpenAI-Compatible</a:t>
              </a:r>
              <a:endParaRPr sz="50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grpSp>
        <p:nvGrpSpPr>
          <p:cNvPr id="426" name="Google Shape;426;p22"/>
          <p:cNvGrpSpPr/>
          <p:nvPr/>
        </p:nvGrpSpPr>
        <p:grpSpPr>
          <a:xfrm>
            <a:off x="7794551" y="3778018"/>
            <a:ext cx="908175" cy="539890"/>
            <a:chOff x="7226671" y="2967915"/>
            <a:chExt cx="703848" cy="218694"/>
          </a:xfrm>
        </p:grpSpPr>
        <p:sp>
          <p:nvSpPr>
            <p:cNvPr id="427" name="Google Shape;427;p22"/>
            <p:cNvSpPr/>
            <p:nvPr/>
          </p:nvSpPr>
          <p:spPr>
            <a:xfrm>
              <a:off x="7242019" y="2980209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2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428" name="Google Shape;428;p22"/>
            <p:cNvSpPr/>
            <p:nvPr/>
          </p:nvSpPr>
          <p:spPr>
            <a:xfrm>
              <a:off x="7226671" y="2967915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5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Ollama / Custom</a:t>
              </a:r>
              <a:endParaRPr sz="50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cxnSp>
        <p:nvCxnSpPr>
          <p:cNvPr id="429" name="Google Shape;429;p22"/>
          <p:cNvCxnSpPr>
            <a:stCxn id="344" idx="3"/>
            <a:endCxn id="347" idx="1"/>
          </p:cNvCxnSpPr>
          <p:nvPr/>
        </p:nvCxnSpPr>
        <p:spPr>
          <a:xfrm>
            <a:off x="908385" y="1104729"/>
            <a:ext cx="263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0" name="Google Shape;430;p22"/>
          <p:cNvCxnSpPr>
            <a:stCxn id="347" idx="3"/>
          </p:cNvCxnSpPr>
          <p:nvPr/>
        </p:nvCxnSpPr>
        <p:spPr>
          <a:xfrm>
            <a:off x="1787658" y="1104720"/>
            <a:ext cx="275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1" name="Google Shape;431;p22"/>
          <p:cNvCxnSpPr/>
          <p:nvPr/>
        </p:nvCxnSpPr>
        <p:spPr>
          <a:xfrm>
            <a:off x="4765021" y="1624475"/>
            <a:ext cx="0" cy="15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2" name="Google Shape;432;p22"/>
          <p:cNvCxnSpPr>
            <a:stCxn id="378" idx="1"/>
            <a:endCxn id="370" idx="3"/>
          </p:cNvCxnSpPr>
          <p:nvPr/>
        </p:nvCxnSpPr>
        <p:spPr>
          <a:xfrm rot="10800000">
            <a:off x="5381764" y="2090641"/>
            <a:ext cx="428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3" name="Google Shape;433;p22"/>
          <p:cNvCxnSpPr>
            <a:stCxn id="370" idx="1"/>
            <a:endCxn id="374" idx="3"/>
          </p:cNvCxnSpPr>
          <p:nvPr/>
        </p:nvCxnSpPr>
        <p:spPr>
          <a:xfrm rot="10800000">
            <a:off x="3698547" y="2090641"/>
            <a:ext cx="428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4" name="Google Shape;434;p22"/>
          <p:cNvCxnSpPr>
            <a:stCxn id="386" idx="0"/>
          </p:cNvCxnSpPr>
          <p:nvPr/>
        </p:nvCxnSpPr>
        <p:spPr>
          <a:xfrm rot="10800000">
            <a:off x="6105600" y="2467250"/>
            <a:ext cx="0" cy="157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435" name="Google Shape;435;p22"/>
          <p:cNvCxnSpPr>
            <a:stCxn id="381" idx="0"/>
          </p:cNvCxnSpPr>
          <p:nvPr/>
        </p:nvCxnSpPr>
        <p:spPr>
          <a:xfrm rot="10800000">
            <a:off x="3442517" y="2469950"/>
            <a:ext cx="0" cy="15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436" name="Google Shape;436;p22"/>
          <p:cNvCxnSpPr/>
          <p:nvPr/>
        </p:nvCxnSpPr>
        <p:spPr>
          <a:xfrm>
            <a:off x="4771625" y="3895500"/>
            <a:ext cx="0" cy="10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7" name="Google Shape;437;p22"/>
          <p:cNvCxnSpPr>
            <a:stCxn id="350" idx="3"/>
          </p:cNvCxnSpPr>
          <p:nvPr/>
        </p:nvCxnSpPr>
        <p:spPr>
          <a:xfrm>
            <a:off x="7508325" y="2336375"/>
            <a:ext cx="164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2" name="Google Shape;442;p23" title="securellm_gateway_architecture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59488" y="152400"/>
            <a:ext cx="3225014" cy="4838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24"/>
          <p:cNvSpPr txBox="1"/>
          <p:nvPr>
            <p:ph type="title"/>
          </p:nvPr>
        </p:nvSpPr>
        <p:spPr>
          <a:xfrm>
            <a:off x="212884" y="1039375"/>
            <a:ext cx="27468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24"/>
          <p:cNvSpPr txBox="1"/>
          <p:nvPr>
            <p:ph idx="1" type="body"/>
          </p:nvPr>
        </p:nvSpPr>
        <p:spPr>
          <a:xfrm>
            <a:off x="212875" y="1354125"/>
            <a:ext cx="45306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Model studio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25"/>
          <p:cNvSpPr txBox="1"/>
          <p:nvPr/>
        </p:nvSpPr>
        <p:spPr>
          <a:xfrm>
            <a:off x="256650" y="264550"/>
            <a:ext cx="69840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7660A9"/>
                </a:solidFill>
                <a:latin typeface="Poppins"/>
                <a:ea typeface="Poppins"/>
                <a:cs typeface="Poppins"/>
                <a:sym typeface="Poppins"/>
              </a:rPr>
              <a:t>ModelStudio </a:t>
            </a:r>
            <a:r>
              <a:rPr b="1" lang="en" sz="2400">
                <a:solidFill>
                  <a:srgbClr val="7660A9"/>
                </a:solidFill>
                <a:latin typeface="Poppins"/>
                <a:ea typeface="Poppins"/>
                <a:cs typeface="Poppins"/>
                <a:sym typeface="Poppins"/>
              </a:rPr>
              <a:t>Architecture</a:t>
            </a:r>
            <a:endParaRPr sz="2400">
              <a:solidFill>
                <a:srgbClr val="7660A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4" name="Google Shape;454;p25"/>
          <p:cNvSpPr txBox="1"/>
          <p:nvPr/>
        </p:nvSpPr>
        <p:spPr>
          <a:xfrm>
            <a:off x="142076" y="4659450"/>
            <a:ext cx="1128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dkube.io</a:t>
            </a:r>
            <a:endParaRPr b="0" i="0" sz="1500" u="none" cap="none" strike="noStrike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455" name="Google Shape;45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6297" y="205400"/>
            <a:ext cx="401253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25"/>
          <p:cNvSpPr txBox="1"/>
          <p:nvPr/>
        </p:nvSpPr>
        <p:spPr>
          <a:xfrm>
            <a:off x="5264350" y="4705650"/>
            <a:ext cx="3573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7660A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Empowering Enterprise AI on Kubernetes</a:t>
            </a:r>
            <a:endParaRPr sz="1300">
              <a:solidFill>
                <a:srgbClr val="7660A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457" name="Google Shape;457;p25"/>
          <p:cNvSpPr/>
          <p:nvPr/>
        </p:nvSpPr>
        <p:spPr>
          <a:xfrm>
            <a:off x="292785" y="777773"/>
            <a:ext cx="615600" cy="623700"/>
          </a:xfrm>
          <a:prstGeom prst="roundRect">
            <a:avLst>
              <a:gd fmla="val 6533" name="adj"/>
            </a:avLst>
          </a:prstGeom>
          <a:noFill/>
          <a:ln cap="flat" cmpd="sng" w="9525">
            <a:solidFill>
              <a:srgbClr val="9E9E9E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76925" lIns="76925" spcFirstLastPara="1" rIns="76925" wrap="square" tIns="7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78"/>
          </a:p>
        </p:txBody>
      </p:sp>
      <p:sp>
        <p:nvSpPr>
          <p:cNvPr id="458" name="Google Shape;458;p25"/>
          <p:cNvSpPr txBox="1"/>
          <p:nvPr/>
        </p:nvSpPr>
        <p:spPr>
          <a:xfrm>
            <a:off x="256638" y="1456315"/>
            <a:ext cx="6879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76925" lIns="76925" spcFirstLastPara="1" rIns="76925" wrap="square" tIns="769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89">
                <a:solidFill>
                  <a:srgbClr val="4D4D4D"/>
                </a:solidFill>
                <a:latin typeface="Poppins"/>
                <a:ea typeface="Poppins"/>
                <a:cs typeface="Poppins"/>
                <a:sym typeface="Poppins"/>
              </a:rPr>
              <a:t>User Browser</a:t>
            </a:r>
            <a:endParaRPr b="1" sz="589">
              <a:solidFill>
                <a:srgbClr val="4D4D4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59" name="Google Shape;459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7987" y="897020"/>
            <a:ext cx="385212" cy="385212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25"/>
          <p:cNvSpPr/>
          <p:nvPr/>
        </p:nvSpPr>
        <p:spPr>
          <a:xfrm>
            <a:off x="1172050" y="775519"/>
            <a:ext cx="870300" cy="1421100"/>
          </a:xfrm>
          <a:prstGeom prst="roundRect">
            <a:avLst>
              <a:gd fmla="val 6533" name="adj"/>
            </a:avLst>
          </a:prstGeom>
          <a:noFill/>
          <a:ln cap="flat" cmpd="sng" w="9525">
            <a:solidFill>
              <a:srgbClr val="9E9E9E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122925" lIns="122925" spcFirstLastPara="1" rIns="122925" wrap="square" tIns="122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83"/>
          </a:p>
        </p:txBody>
      </p:sp>
      <p:sp>
        <p:nvSpPr>
          <p:cNvPr id="461" name="Google Shape;461;p25"/>
          <p:cNvSpPr txBox="1"/>
          <p:nvPr/>
        </p:nvSpPr>
        <p:spPr>
          <a:xfrm>
            <a:off x="1143992" y="777769"/>
            <a:ext cx="9264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76925" lIns="76925" spcFirstLastPara="1" rIns="76925" wrap="square" tIns="769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89">
                <a:solidFill>
                  <a:srgbClr val="4D4D4D"/>
                </a:solidFill>
                <a:latin typeface="Poppins"/>
                <a:ea typeface="Poppins"/>
                <a:cs typeface="Poppins"/>
                <a:sym typeface="Poppins"/>
              </a:rPr>
              <a:t>Edge / Auth</a:t>
            </a:r>
            <a:endParaRPr b="1" sz="589">
              <a:solidFill>
                <a:srgbClr val="4D4D4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462" name="Google Shape;462;p25"/>
          <p:cNvGrpSpPr/>
          <p:nvPr/>
        </p:nvGrpSpPr>
        <p:grpSpPr>
          <a:xfrm>
            <a:off x="1279206" y="1023680"/>
            <a:ext cx="654860" cy="211259"/>
            <a:chOff x="7226671" y="2967915"/>
            <a:chExt cx="703848" cy="218694"/>
          </a:xfrm>
        </p:grpSpPr>
        <p:sp>
          <p:nvSpPr>
            <p:cNvPr id="463" name="Google Shape;463;p25"/>
            <p:cNvSpPr/>
            <p:nvPr/>
          </p:nvSpPr>
          <p:spPr>
            <a:xfrm>
              <a:off x="7242019" y="2980209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2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464" name="Google Shape;464;p25"/>
            <p:cNvSpPr/>
            <p:nvPr/>
          </p:nvSpPr>
          <p:spPr>
            <a:xfrm>
              <a:off x="7226671" y="2967915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5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Traefik</a:t>
              </a:r>
              <a:endParaRPr sz="50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sp>
        <p:nvSpPr>
          <p:cNvPr id="465" name="Google Shape;465;p25"/>
          <p:cNvSpPr txBox="1"/>
          <p:nvPr/>
        </p:nvSpPr>
        <p:spPr>
          <a:xfrm>
            <a:off x="1204450" y="1197287"/>
            <a:ext cx="805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76925" lIns="76925" spcFirstLastPara="1" rIns="76925" wrap="square" tIns="769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89">
                <a:solidFill>
                  <a:srgbClr val="4D4D4D"/>
                </a:solidFill>
                <a:latin typeface="Poppins"/>
                <a:ea typeface="Poppins"/>
                <a:cs typeface="Poppins"/>
                <a:sym typeface="Poppins"/>
              </a:rPr>
              <a:t>Gateway / Ingress</a:t>
            </a:r>
            <a:endParaRPr sz="589">
              <a:solidFill>
                <a:srgbClr val="4D4D4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466" name="Google Shape;466;p25"/>
          <p:cNvGrpSpPr/>
          <p:nvPr/>
        </p:nvGrpSpPr>
        <p:grpSpPr>
          <a:xfrm>
            <a:off x="1278643" y="1707430"/>
            <a:ext cx="654860" cy="211259"/>
            <a:chOff x="7226671" y="2967915"/>
            <a:chExt cx="703848" cy="218694"/>
          </a:xfrm>
        </p:grpSpPr>
        <p:sp>
          <p:nvSpPr>
            <p:cNvPr id="467" name="Google Shape;467;p25"/>
            <p:cNvSpPr/>
            <p:nvPr/>
          </p:nvSpPr>
          <p:spPr>
            <a:xfrm>
              <a:off x="7242019" y="2980209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2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468" name="Google Shape;468;p25"/>
            <p:cNvSpPr/>
            <p:nvPr/>
          </p:nvSpPr>
          <p:spPr>
            <a:xfrm>
              <a:off x="7226671" y="2967915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5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OAuth2-Proxy</a:t>
              </a:r>
              <a:endParaRPr sz="50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sp>
        <p:nvSpPr>
          <p:cNvPr id="469" name="Google Shape;469;p25"/>
          <p:cNvSpPr txBox="1"/>
          <p:nvPr/>
        </p:nvSpPr>
        <p:spPr>
          <a:xfrm>
            <a:off x="1203888" y="1881037"/>
            <a:ext cx="8055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76925" lIns="76925" spcFirstLastPara="1" rIns="76925" wrap="square" tIns="769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89">
                <a:solidFill>
                  <a:srgbClr val="4D4D4D"/>
                </a:solidFill>
                <a:latin typeface="Poppins"/>
                <a:ea typeface="Poppins"/>
                <a:cs typeface="Poppins"/>
                <a:sym typeface="Poppins"/>
              </a:rPr>
              <a:t>Auth Middleware</a:t>
            </a:r>
            <a:endParaRPr sz="589">
              <a:solidFill>
                <a:srgbClr val="4D4D4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70" name="Google Shape;470;p25"/>
          <p:cNvSpPr/>
          <p:nvPr/>
        </p:nvSpPr>
        <p:spPr>
          <a:xfrm>
            <a:off x="345770" y="3223244"/>
            <a:ext cx="1643700" cy="1421100"/>
          </a:xfrm>
          <a:prstGeom prst="roundRect">
            <a:avLst>
              <a:gd fmla="val 6533" name="adj"/>
            </a:avLst>
          </a:prstGeom>
          <a:noFill/>
          <a:ln cap="flat" cmpd="sng" w="9525">
            <a:solidFill>
              <a:srgbClr val="9E9E9E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122925" lIns="122925" spcFirstLastPara="1" rIns="122925" wrap="square" tIns="122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83"/>
          </a:p>
        </p:txBody>
      </p:sp>
      <p:sp>
        <p:nvSpPr>
          <p:cNvPr id="471" name="Google Shape;471;p25"/>
          <p:cNvSpPr txBox="1"/>
          <p:nvPr/>
        </p:nvSpPr>
        <p:spPr>
          <a:xfrm>
            <a:off x="292782" y="3225494"/>
            <a:ext cx="17496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76925" lIns="76925" spcFirstLastPara="1" rIns="76925" wrap="square" tIns="769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89">
                <a:solidFill>
                  <a:srgbClr val="4D4D4D"/>
                </a:solidFill>
                <a:latin typeface="Poppins"/>
                <a:ea typeface="Poppins"/>
                <a:cs typeface="Poppins"/>
                <a:sym typeface="Poppins"/>
              </a:rPr>
              <a:t>External (Off-Cluster)</a:t>
            </a:r>
            <a:endParaRPr b="1" sz="589">
              <a:solidFill>
                <a:srgbClr val="4D4D4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472" name="Google Shape;472;p25"/>
          <p:cNvGrpSpPr/>
          <p:nvPr/>
        </p:nvGrpSpPr>
        <p:grpSpPr>
          <a:xfrm>
            <a:off x="548120" y="3471505"/>
            <a:ext cx="1236732" cy="430084"/>
            <a:chOff x="7226671" y="2967915"/>
            <a:chExt cx="703848" cy="218694"/>
          </a:xfrm>
        </p:grpSpPr>
        <p:sp>
          <p:nvSpPr>
            <p:cNvPr id="473" name="Google Shape;473;p25"/>
            <p:cNvSpPr/>
            <p:nvPr/>
          </p:nvSpPr>
          <p:spPr>
            <a:xfrm>
              <a:off x="7242019" y="2980209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2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474" name="Google Shape;474;p25"/>
            <p:cNvSpPr/>
            <p:nvPr/>
          </p:nvSpPr>
          <p:spPr>
            <a:xfrm>
              <a:off x="7226671" y="2967915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5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nvcr.io</a:t>
              </a:r>
              <a:endParaRPr sz="50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5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NIM Registry</a:t>
              </a:r>
              <a:endParaRPr sz="50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grpSp>
        <p:nvGrpSpPr>
          <p:cNvPr id="475" name="Google Shape;475;p25"/>
          <p:cNvGrpSpPr/>
          <p:nvPr/>
        </p:nvGrpSpPr>
        <p:grpSpPr>
          <a:xfrm>
            <a:off x="548121" y="4057933"/>
            <a:ext cx="1236732" cy="430084"/>
            <a:chOff x="7226671" y="2967915"/>
            <a:chExt cx="703848" cy="218694"/>
          </a:xfrm>
        </p:grpSpPr>
        <p:sp>
          <p:nvSpPr>
            <p:cNvPr id="476" name="Google Shape;476;p25"/>
            <p:cNvSpPr/>
            <p:nvPr/>
          </p:nvSpPr>
          <p:spPr>
            <a:xfrm>
              <a:off x="7242019" y="2980209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2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477" name="Google Shape;477;p25"/>
            <p:cNvSpPr/>
            <p:nvPr/>
          </p:nvSpPr>
          <p:spPr>
            <a:xfrm>
              <a:off x="7226671" y="2967915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5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HuggingFace Hub</a:t>
              </a:r>
              <a:endParaRPr sz="50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5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Model Weights</a:t>
              </a:r>
              <a:endParaRPr sz="50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sp>
        <p:nvSpPr>
          <p:cNvPr id="478" name="Google Shape;478;p25"/>
          <p:cNvSpPr/>
          <p:nvPr/>
        </p:nvSpPr>
        <p:spPr>
          <a:xfrm>
            <a:off x="7466550" y="775519"/>
            <a:ext cx="1371000" cy="3868800"/>
          </a:xfrm>
          <a:prstGeom prst="roundRect">
            <a:avLst>
              <a:gd fmla="val 6533" name="adj"/>
            </a:avLst>
          </a:prstGeom>
          <a:noFill/>
          <a:ln cap="flat" cmpd="sng" w="8000">
            <a:solidFill>
              <a:srgbClr val="9E9E9E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76925" lIns="76925" spcFirstLastPara="1" rIns="76925" wrap="square" tIns="7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78"/>
          </a:p>
        </p:txBody>
      </p:sp>
      <p:sp>
        <p:nvSpPr>
          <p:cNvPr id="479" name="Google Shape;479;p25"/>
          <p:cNvSpPr txBox="1"/>
          <p:nvPr/>
        </p:nvSpPr>
        <p:spPr>
          <a:xfrm>
            <a:off x="7505675" y="797465"/>
            <a:ext cx="12927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76925" lIns="76925" spcFirstLastPara="1" rIns="76925" wrap="square" tIns="769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89">
                <a:solidFill>
                  <a:srgbClr val="4D4D4D"/>
                </a:solidFill>
                <a:latin typeface="Poppins"/>
                <a:ea typeface="Poppins"/>
                <a:cs typeface="Poppins"/>
                <a:sym typeface="Poppins"/>
              </a:rPr>
              <a:t>DKubeX Platform</a:t>
            </a:r>
            <a:endParaRPr b="1" sz="589">
              <a:solidFill>
                <a:srgbClr val="4D4D4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0" name="Google Shape;480;p25"/>
          <p:cNvSpPr/>
          <p:nvPr/>
        </p:nvSpPr>
        <p:spPr>
          <a:xfrm>
            <a:off x="7544825" y="1023669"/>
            <a:ext cx="1214400" cy="1487700"/>
          </a:xfrm>
          <a:prstGeom prst="roundRect">
            <a:avLst>
              <a:gd fmla="val 6533" name="adj"/>
            </a:avLst>
          </a:prstGeom>
          <a:noFill/>
          <a:ln cap="flat" cmpd="sng" w="9525">
            <a:solidFill>
              <a:srgbClr val="9E9E9E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122925" lIns="122925" spcFirstLastPara="1" rIns="122925" wrap="square" tIns="122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83"/>
          </a:p>
        </p:txBody>
      </p:sp>
      <p:sp>
        <p:nvSpPr>
          <p:cNvPr id="481" name="Google Shape;481;p25"/>
          <p:cNvSpPr txBox="1"/>
          <p:nvPr/>
        </p:nvSpPr>
        <p:spPr>
          <a:xfrm>
            <a:off x="7505677" y="992729"/>
            <a:ext cx="12927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76925" lIns="76925" spcFirstLastPara="1" rIns="76925" wrap="square" tIns="769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89">
                <a:solidFill>
                  <a:srgbClr val="4D4D4D"/>
                </a:solidFill>
                <a:latin typeface="Poppins"/>
                <a:ea typeface="Poppins"/>
                <a:cs typeface="Poppins"/>
                <a:sym typeface="Poppins"/>
              </a:rPr>
              <a:t>Services</a:t>
            </a:r>
            <a:endParaRPr b="1" sz="589">
              <a:solidFill>
                <a:srgbClr val="4D4D4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482" name="Google Shape;482;p25"/>
          <p:cNvGrpSpPr/>
          <p:nvPr/>
        </p:nvGrpSpPr>
        <p:grpSpPr>
          <a:xfrm>
            <a:off x="7693880" y="1214514"/>
            <a:ext cx="913736" cy="237939"/>
            <a:chOff x="7226671" y="2967915"/>
            <a:chExt cx="703848" cy="218694"/>
          </a:xfrm>
        </p:grpSpPr>
        <p:sp>
          <p:nvSpPr>
            <p:cNvPr id="483" name="Google Shape;483;p25"/>
            <p:cNvSpPr/>
            <p:nvPr/>
          </p:nvSpPr>
          <p:spPr>
            <a:xfrm>
              <a:off x="7242019" y="2980209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2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484" name="Google Shape;484;p25"/>
            <p:cNvSpPr/>
            <p:nvPr/>
          </p:nvSpPr>
          <p:spPr>
            <a:xfrm>
              <a:off x="7226671" y="2967915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5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Kubernetes API</a:t>
              </a:r>
              <a:endParaRPr sz="50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5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Cluster Control</a:t>
              </a:r>
              <a:endParaRPr sz="50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grpSp>
        <p:nvGrpSpPr>
          <p:cNvPr id="485" name="Google Shape;485;p25"/>
          <p:cNvGrpSpPr/>
          <p:nvPr/>
        </p:nvGrpSpPr>
        <p:grpSpPr>
          <a:xfrm>
            <a:off x="7693880" y="1538949"/>
            <a:ext cx="913736" cy="237939"/>
            <a:chOff x="7226671" y="2967915"/>
            <a:chExt cx="703848" cy="218694"/>
          </a:xfrm>
        </p:grpSpPr>
        <p:sp>
          <p:nvSpPr>
            <p:cNvPr id="486" name="Google Shape;486;p25"/>
            <p:cNvSpPr/>
            <p:nvPr/>
          </p:nvSpPr>
          <p:spPr>
            <a:xfrm>
              <a:off x="7242019" y="2980209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2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487" name="Google Shape;487;p25"/>
            <p:cNvSpPr/>
            <p:nvPr/>
          </p:nvSpPr>
          <p:spPr>
            <a:xfrm>
              <a:off x="7226671" y="2967915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5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Postgres 16 (Platform)</a:t>
              </a:r>
              <a:endParaRPr sz="50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5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ModelStudio DB BE</a:t>
              </a:r>
              <a:endParaRPr sz="50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grpSp>
        <p:nvGrpSpPr>
          <p:cNvPr id="488" name="Google Shape;488;p25"/>
          <p:cNvGrpSpPr/>
          <p:nvPr/>
        </p:nvGrpSpPr>
        <p:grpSpPr>
          <a:xfrm>
            <a:off x="7695155" y="1863364"/>
            <a:ext cx="913736" cy="237939"/>
            <a:chOff x="7226671" y="2967915"/>
            <a:chExt cx="703848" cy="218694"/>
          </a:xfrm>
        </p:grpSpPr>
        <p:sp>
          <p:nvSpPr>
            <p:cNvPr id="489" name="Google Shape;489;p25"/>
            <p:cNvSpPr/>
            <p:nvPr/>
          </p:nvSpPr>
          <p:spPr>
            <a:xfrm>
              <a:off x="7242019" y="2980209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2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490" name="Google Shape;490;p25"/>
            <p:cNvSpPr/>
            <p:nvPr/>
          </p:nvSpPr>
          <p:spPr>
            <a:xfrm>
              <a:off x="7226671" y="2967915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5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MinIO / S3</a:t>
              </a:r>
              <a:endParaRPr sz="50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5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MLFlow Artifacts</a:t>
              </a:r>
              <a:endParaRPr sz="50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grpSp>
        <p:nvGrpSpPr>
          <p:cNvPr id="491" name="Google Shape;491;p25"/>
          <p:cNvGrpSpPr/>
          <p:nvPr/>
        </p:nvGrpSpPr>
        <p:grpSpPr>
          <a:xfrm>
            <a:off x="7695155" y="2187799"/>
            <a:ext cx="913736" cy="237939"/>
            <a:chOff x="7226671" y="2967915"/>
            <a:chExt cx="703848" cy="218694"/>
          </a:xfrm>
        </p:grpSpPr>
        <p:sp>
          <p:nvSpPr>
            <p:cNvPr id="492" name="Google Shape;492;p25"/>
            <p:cNvSpPr/>
            <p:nvPr/>
          </p:nvSpPr>
          <p:spPr>
            <a:xfrm>
              <a:off x="7242019" y="2980209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2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493" name="Google Shape;493;p25"/>
            <p:cNvSpPr/>
            <p:nvPr/>
          </p:nvSpPr>
          <p:spPr>
            <a:xfrm>
              <a:off x="7226671" y="2967915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5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NVIDIA GPU Operator</a:t>
              </a:r>
              <a:endParaRPr sz="50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5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(For Self-Hosted NIM)</a:t>
              </a:r>
              <a:endParaRPr sz="50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sp>
        <p:nvSpPr>
          <p:cNvPr id="494" name="Google Shape;494;p25"/>
          <p:cNvSpPr/>
          <p:nvPr/>
        </p:nvSpPr>
        <p:spPr>
          <a:xfrm>
            <a:off x="7544850" y="2559025"/>
            <a:ext cx="1214400" cy="1137900"/>
          </a:xfrm>
          <a:prstGeom prst="roundRect">
            <a:avLst>
              <a:gd fmla="val 6533" name="adj"/>
            </a:avLst>
          </a:prstGeom>
          <a:noFill/>
          <a:ln cap="flat" cmpd="sng" w="9525">
            <a:solidFill>
              <a:srgbClr val="9E9E9E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122925" lIns="122925" spcFirstLastPara="1" rIns="122925" wrap="square" tIns="122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83"/>
          </a:p>
        </p:txBody>
      </p:sp>
      <p:sp>
        <p:nvSpPr>
          <p:cNvPr id="495" name="Google Shape;495;p25"/>
          <p:cNvSpPr txBox="1"/>
          <p:nvPr/>
        </p:nvSpPr>
        <p:spPr>
          <a:xfrm>
            <a:off x="7505702" y="2528085"/>
            <a:ext cx="12927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76925" lIns="76925" spcFirstLastPara="1" rIns="76925" wrap="square" tIns="769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89">
                <a:solidFill>
                  <a:srgbClr val="4D4D4D"/>
                </a:solidFill>
                <a:latin typeface="Poppins"/>
                <a:ea typeface="Poppins"/>
                <a:cs typeface="Poppins"/>
                <a:sym typeface="Poppins"/>
              </a:rPr>
              <a:t>Observability</a:t>
            </a:r>
            <a:endParaRPr b="1" sz="589">
              <a:solidFill>
                <a:srgbClr val="4D4D4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496" name="Google Shape;496;p25"/>
          <p:cNvGrpSpPr/>
          <p:nvPr/>
        </p:nvGrpSpPr>
        <p:grpSpPr>
          <a:xfrm>
            <a:off x="7693905" y="2749870"/>
            <a:ext cx="913736" cy="237939"/>
            <a:chOff x="7226671" y="2967915"/>
            <a:chExt cx="703848" cy="218694"/>
          </a:xfrm>
        </p:grpSpPr>
        <p:sp>
          <p:nvSpPr>
            <p:cNvPr id="497" name="Google Shape;497;p25"/>
            <p:cNvSpPr/>
            <p:nvPr/>
          </p:nvSpPr>
          <p:spPr>
            <a:xfrm>
              <a:off x="7242019" y="2980209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2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498" name="Google Shape;498;p25"/>
            <p:cNvSpPr/>
            <p:nvPr/>
          </p:nvSpPr>
          <p:spPr>
            <a:xfrm>
              <a:off x="7226671" y="2967915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5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OTel Daemonset</a:t>
              </a:r>
              <a:endParaRPr sz="50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5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Node + Pod Telemetry</a:t>
              </a:r>
              <a:endParaRPr sz="50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grpSp>
        <p:nvGrpSpPr>
          <p:cNvPr id="499" name="Google Shape;499;p25"/>
          <p:cNvGrpSpPr/>
          <p:nvPr/>
        </p:nvGrpSpPr>
        <p:grpSpPr>
          <a:xfrm>
            <a:off x="7693905" y="3074305"/>
            <a:ext cx="913736" cy="237939"/>
            <a:chOff x="7226671" y="2967915"/>
            <a:chExt cx="703848" cy="218694"/>
          </a:xfrm>
        </p:grpSpPr>
        <p:sp>
          <p:nvSpPr>
            <p:cNvPr id="500" name="Google Shape;500;p25"/>
            <p:cNvSpPr/>
            <p:nvPr/>
          </p:nvSpPr>
          <p:spPr>
            <a:xfrm>
              <a:off x="7242019" y="2980209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2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501" name="Google Shape;501;p25"/>
            <p:cNvSpPr/>
            <p:nvPr/>
          </p:nvSpPr>
          <p:spPr>
            <a:xfrm>
              <a:off x="7226671" y="2967915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5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OTel Deployment</a:t>
              </a:r>
              <a:endParaRPr sz="50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5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Cluster Telemetry</a:t>
              </a:r>
              <a:endParaRPr sz="50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grpSp>
        <p:nvGrpSpPr>
          <p:cNvPr id="502" name="Google Shape;502;p25"/>
          <p:cNvGrpSpPr/>
          <p:nvPr/>
        </p:nvGrpSpPr>
        <p:grpSpPr>
          <a:xfrm>
            <a:off x="7695180" y="3398720"/>
            <a:ext cx="913736" cy="237939"/>
            <a:chOff x="7226671" y="2967915"/>
            <a:chExt cx="703848" cy="218694"/>
          </a:xfrm>
        </p:grpSpPr>
        <p:sp>
          <p:nvSpPr>
            <p:cNvPr id="503" name="Google Shape;503;p25"/>
            <p:cNvSpPr/>
            <p:nvPr/>
          </p:nvSpPr>
          <p:spPr>
            <a:xfrm>
              <a:off x="7242019" y="2980209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2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504" name="Google Shape;504;p25"/>
            <p:cNvSpPr/>
            <p:nvPr/>
          </p:nvSpPr>
          <p:spPr>
            <a:xfrm>
              <a:off x="7226671" y="2967915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5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ClickStack / HyperDX</a:t>
              </a:r>
              <a:endParaRPr sz="50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5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Telemetry Backend</a:t>
              </a:r>
              <a:endParaRPr sz="50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sp>
        <p:nvSpPr>
          <p:cNvPr id="505" name="Google Shape;505;p25"/>
          <p:cNvSpPr/>
          <p:nvPr/>
        </p:nvSpPr>
        <p:spPr>
          <a:xfrm>
            <a:off x="7544975" y="3745319"/>
            <a:ext cx="1214400" cy="849900"/>
          </a:xfrm>
          <a:prstGeom prst="roundRect">
            <a:avLst>
              <a:gd fmla="val 6533" name="adj"/>
            </a:avLst>
          </a:prstGeom>
          <a:noFill/>
          <a:ln cap="flat" cmpd="sng" w="9525">
            <a:solidFill>
              <a:srgbClr val="9E9E9E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122925" lIns="122925" spcFirstLastPara="1" rIns="122925" wrap="square" tIns="122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83"/>
          </a:p>
        </p:txBody>
      </p:sp>
      <p:sp>
        <p:nvSpPr>
          <p:cNvPr id="506" name="Google Shape;506;p25"/>
          <p:cNvSpPr txBox="1"/>
          <p:nvPr/>
        </p:nvSpPr>
        <p:spPr>
          <a:xfrm>
            <a:off x="7504416" y="3716287"/>
            <a:ext cx="12927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76925" lIns="76925" spcFirstLastPara="1" rIns="76925" wrap="square" tIns="769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89">
                <a:solidFill>
                  <a:srgbClr val="4D4D4D"/>
                </a:solidFill>
                <a:latin typeface="Poppins"/>
                <a:ea typeface="Poppins"/>
                <a:cs typeface="Poppins"/>
                <a:sym typeface="Poppins"/>
              </a:rPr>
              <a:t>Tools &amp; Admin UI</a:t>
            </a:r>
            <a:endParaRPr b="1" sz="589">
              <a:solidFill>
                <a:srgbClr val="4D4D4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507" name="Google Shape;507;p25"/>
          <p:cNvGrpSpPr/>
          <p:nvPr/>
        </p:nvGrpSpPr>
        <p:grpSpPr>
          <a:xfrm>
            <a:off x="7732879" y="3936156"/>
            <a:ext cx="913736" cy="605848"/>
            <a:chOff x="7226671" y="2967915"/>
            <a:chExt cx="703848" cy="218694"/>
          </a:xfrm>
        </p:grpSpPr>
        <p:sp>
          <p:nvSpPr>
            <p:cNvPr id="508" name="Google Shape;508;p25"/>
            <p:cNvSpPr/>
            <p:nvPr/>
          </p:nvSpPr>
          <p:spPr>
            <a:xfrm>
              <a:off x="7242019" y="2980209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2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509" name="Google Shape;509;p25"/>
            <p:cNvSpPr/>
            <p:nvPr/>
          </p:nvSpPr>
          <p:spPr>
            <a:xfrm>
              <a:off x="7226671" y="2967915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5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Cert-Manager, Headlamp, Traefik Dashboard, PGAdmin, MinIO Console, HyperDX UI, File Browser</a:t>
              </a:r>
              <a:endParaRPr sz="50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sp>
        <p:nvSpPr>
          <p:cNvPr id="510" name="Google Shape;510;p25"/>
          <p:cNvSpPr/>
          <p:nvPr/>
        </p:nvSpPr>
        <p:spPr>
          <a:xfrm>
            <a:off x="2312050" y="775669"/>
            <a:ext cx="4899300" cy="3868800"/>
          </a:xfrm>
          <a:prstGeom prst="roundRect">
            <a:avLst>
              <a:gd fmla="val 891" name="adj"/>
            </a:avLst>
          </a:prstGeom>
          <a:noFill/>
          <a:ln cap="flat" cmpd="sng" w="9525">
            <a:solidFill>
              <a:srgbClr val="9483BA"/>
            </a:solidFill>
            <a:prstDash val="lgDashDot"/>
            <a:round/>
            <a:headEnd len="sm" w="sm" type="none"/>
            <a:tailEnd len="sm" w="sm" type="none"/>
          </a:ln>
        </p:spPr>
        <p:txBody>
          <a:bodyPr anchorCtr="0" anchor="ctr" bIns="76925" lIns="76925" spcFirstLastPara="1" rIns="76925" wrap="square" tIns="7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78"/>
          </a:p>
        </p:txBody>
      </p:sp>
      <p:sp>
        <p:nvSpPr>
          <p:cNvPr id="511" name="Google Shape;511;p25"/>
          <p:cNvSpPr txBox="1"/>
          <p:nvPr/>
        </p:nvSpPr>
        <p:spPr>
          <a:xfrm>
            <a:off x="4388527" y="651019"/>
            <a:ext cx="759900" cy="246000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txBody>
          <a:bodyPr anchorCtr="0" anchor="t" bIns="76925" lIns="76925" spcFirstLastPara="1" rIns="76925" wrap="square" tIns="769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89">
                <a:solidFill>
                  <a:srgbClr val="7660A8"/>
                </a:solidFill>
                <a:latin typeface="Poppins"/>
                <a:ea typeface="Poppins"/>
                <a:cs typeface="Poppins"/>
                <a:sym typeface="Poppins"/>
              </a:rPr>
              <a:t>ModelStudio</a:t>
            </a:r>
            <a:endParaRPr b="1" sz="589">
              <a:solidFill>
                <a:srgbClr val="7660A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12" name="Google Shape;512;p25"/>
          <p:cNvSpPr/>
          <p:nvPr/>
        </p:nvSpPr>
        <p:spPr>
          <a:xfrm>
            <a:off x="2425075" y="1021107"/>
            <a:ext cx="4671600" cy="727500"/>
          </a:xfrm>
          <a:prstGeom prst="roundRect">
            <a:avLst>
              <a:gd fmla="val 6533" name="adj"/>
            </a:avLst>
          </a:prstGeom>
          <a:noFill/>
          <a:ln cap="flat" cmpd="sng" w="8000">
            <a:solidFill>
              <a:srgbClr val="9483BA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76925" lIns="76925" spcFirstLastPara="1" rIns="76925" wrap="square" tIns="7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78"/>
          </a:p>
        </p:txBody>
      </p:sp>
      <p:sp>
        <p:nvSpPr>
          <p:cNvPr id="513" name="Google Shape;513;p25"/>
          <p:cNvSpPr txBox="1"/>
          <p:nvPr/>
        </p:nvSpPr>
        <p:spPr>
          <a:xfrm>
            <a:off x="3919528" y="1021107"/>
            <a:ext cx="17031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76925" lIns="76925" spcFirstLastPara="1" rIns="76925" wrap="square" tIns="769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89">
                <a:solidFill>
                  <a:srgbClr val="7660A8"/>
                </a:solidFill>
                <a:latin typeface="Poppins"/>
                <a:ea typeface="Poppins"/>
                <a:cs typeface="Poppins"/>
                <a:sym typeface="Poppins"/>
              </a:rPr>
              <a:t>Core</a:t>
            </a:r>
            <a:endParaRPr b="1" sz="589">
              <a:solidFill>
                <a:srgbClr val="7660A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514" name="Google Shape;514;p25"/>
          <p:cNvGrpSpPr/>
          <p:nvPr/>
        </p:nvGrpSpPr>
        <p:grpSpPr>
          <a:xfrm>
            <a:off x="5029874" y="1232154"/>
            <a:ext cx="1743573" cy="218694"/>
            <a:chOff x="7226671" y="2967915"/>
            <a:chExt cx="703848" cy="218694"/>
          </a:xfrm>
        </p:grpSpPr>
        <p:sp>
          <p:nvSpPr>
            <p:cNvPr id="515" name="Google Shape;515;p25"/>
            <p:cNvSpPr/>
            <p:nvPr/>
          </p:nvSpPr>
          <p:spPr>
            <a:xfrm>
              <a:off x="7242019" y="2980209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2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516" name="Google Shape;516;p25"/>
            <p:cNvSpPr/>
            <p:nvPr/>
          </p:nvSpPr>
          <p:spPr>
            <a:xfrm>
              <a:off x="7226671" y="2967915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5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Backend (FastAPI)</a:t>
              </a:r>
              <a:endParaRPr sz="50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sp>
        <p:nvSpPr>
          <p:cNvPr id="517" name="Google Shape;517;p25"/>
          <p:cNvSpPr txBox="1"/>
          <p:nvPr/>
        </p:nvSpPr>
        <p:spPr>
          <a:xfrm>
            <a:off x="4829363" y="1411899"/>
            <a:ext cx="21450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76925" lIns="76925" spcFirstLastPara="1" rIns="76925" wrap="square" tIns="769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89">
                <a:solidFill>
                  <a:srgbClr val="4D4D4D"/>
                </a:solidFill>
                <a:latin typeface="Poppins"/>
                <a:ea typeface="Poppins"/>
                <a:cs typeface="Poppins"/>
                <a:sym typeface="Poppins"/>
              </a:rPr>
              <a:t>Managers: NIM, KServe, Tokens, Models</a:t>
            </a:r>
            <a:endParaRPr sz="589">
              <a:solidFill>
                <a:srgbClr val="4D4D4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518" name="Google Shape;518;p25"/>
          <p:cNvGrpSpPr/>
          <p:nvPr/>
        </p:nvGrpSpPr>
        <p:grpSpPr>
          <a:xfrm>
            <a:off x="2741981" y="1232154"/>
            <a:ext cx="1743573" cy="218694"/>
            <a:chOff x="7226671" y="2967915"/>
            <a:chExt cx="703848" cy="218694"/>
          </a:xfrm>
        </p:grpSpPr>
        <p:sp>
          <p:nvSpPr>
            <p:cNvPr id="519" name="Google Shape;519;p25"/>
            <p:cNvSpPr/>
            <p:nvPr/>
          </p:nvSpPr>
          <p:spPr>
            <a:xfrm>
              <a:off x="7242019" y="2980209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2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520" name="Google Shape;520;p25"/>
            <p:cNvSpPr/>
            <p:nvPr/>
          </p:nvSpPr>
          <p:spPr>
            <a:xfrm>
              <a:off x="7226671" y="2967915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5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Frontend</a:t>
              </a:r>
              <a:endParaRPr sz="50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sp>
        <p:nvSpPr>
          <p:cNvPr id="521" name="Google Shape;521;p25"/>
          <p:cNvSpPr txBox="1"/>
          <p:nvPr/>
        </p:nvSpPr>
        <p:spPr>
          <a:xfrm>
            <a:off x="2541470" y="1411899"/>
            <a:ext cx="21450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76925" lIns="76925" spcFirstLastPara="1" rIns="76925" wrap="square" tIns="769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89">
                <a:solidFill>
                  <a:srgbClr val="4D4D4D"/>
                </a:solidFill>
                <a:latin typeface="Poppins"/>
                <a:ea typeface="Poppins"/>
                <a:cs typeface="Poppins"/>
                <a:sym typeface="Poppins"/>
              </a:rPr>
              <a:t>Pages: Dashboard, Catalog, Deployed, Playground, Settings, MLFlow, ML Registry</a:t>
            </a:r>
            <a:endParaRPr sz="589">
              <a:solidFill>
                <a:srgbClr val="4D4D4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2" name="Google Shape;522;p25"/>
          <p:cNvSpPr/>
          <p:nvPr/>
        </p:nvSpPr>
        <p:spPr>
          <a:xfrm>
            <a:off x="2425075" y="1971932"/>
            <a:ext cx="4671600" cy="1109400"/>
          </a:xfrm>
          <a:prstGeom prst="roundRect">
            <a:avLst>
              <a:gd fmla="val 6533" name="adj"/>
            </a:avLst>
          </a:prstGeom>
          <a:noFill/>
          <a:ln cap="flat" cmpd="sng" w="8000">
            <a:solidFill>
              <a:srgbClr val="9483BA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76925" lIns="76925" spcFirstLastPara="1" rIns="76925" wrap="square" tIns="7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78"/>
          </a:p>
        </p:txBody>
      </p:sp>
      <p:sp>
        <p:nvSpPr>
          <p:cNvPr id="523" name="Google Shape;523;p25"/>
          <p:cNvSpPr txBox="1"/>
          <p:nvPr/>
        </p:nvSpPr>
        <p:spPr>
          <a:xfrm>
            <a:off x="3919515" y="1971932"/>
            <a:ext cx="17034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76925" lIns="76925" spcFirstLastPara="1" rIns="76925" wrap="square" tIns="769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89">
                <a:solidFill>
                  <a:srgbClr val="7660A8"/>
                </a:solidFill>
                <a:latin typeface="Poppins"/>
                <a:ea typeface="Poppins"/>
                <a:cs typeface="Poppins"/>
                <a:sym typeface="Poppins"/>
              </a:rPr>
              <a:t>Data &amp; Secrets</a:t>
            </a:r>
            <a:endParaRPr b="1" sz="589">
              <a:solidFill>
                <a:srgbClr val="7660A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524" name="Google Shape;524;p25"/>
          <p:cNvGrpSpPr/>
          <p:nvPr/>
        </p:nvGrpSpPr>
        <p:grpSpPr>
          <a:xfrm>
            <a:off x="4185193" y="2183039"/>
            <a:ext cx="1151566" cy="218694"/>
            <a:chOff x="7226671" y="2967915"/>
            <a:chExt cx="703848" cy="218694"/>
          </a:xfrm>
        </p:grpSpPr>
        <p:sp>
          <p:nvSpPr>
            <p:cNvPr id="525" name="Google Shape;525;p25"/>
            <p:cNvSpPr/>
            <p:nvPr/>
          </p:nvSpPr>
          <p:spPr>
            <a:xfrm>
              <a:off x="7242019" y="2980209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2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526" name="Google Shape;526;p25"/>
            <p:cNvSpPr/>
            <p:nvPr/>
          </p:nvSpPr>
          <p:spPr>
            <a:xfrm>
              <a:off x="7226671" y="2967915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5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Kubernetes Secrets</a:t>
              </a:r>
              <a:endParaRPr sz="50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sp>
        <p:nvSpPr>
          <p:cNvPr id="527" name="Google Shape;527;p25"/>
          <p:cNvSpPr txBox="1"/>
          <p:nvPr/>
        </p:nvSpPr>
        <p:spPr>
          <a:xfrm>
            <a:off x="4052524" y="2362729"/>
            <a:ext cx="1416600" cy="6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76925" lIns="76925" spcFirstLastPara="1" rIns="76925" wrap="square" tIns="769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89">
                <a:solidFill>
                  <a:srgbClr val="4D4D4D"/>
                </a:solidFill>
                <a:latin typeface="Poppins"/>
                <a:ea typeface="Poppins"/>
                <a:cs typeface="Poppins"/>
                <a:sym typeface="Poppins"/>
              </a:rPr>
              <a:t>h</a:t>
            </a:r>
            <a:r>
              <a:rPr lang="en" sz="589">
                <a:solidFill>
                  <a:srgbClr val="4D4D4D"/>
                </a:solidFill>
                <a:latin typeface="Poppins"/>
                <a:ea typeface="Poppins"/>
                <a:cs typeface="Poppins"/>
                <a:sym typeface="Poppins"/>
              </a:rPr>
              <a:t>f-token-{id}</a:t>
            </a:r>
            <a:endParaRPr sz="589">
              <a:solidFill>
                <a:srgbClr val="4D4D4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89">
                <a:solidFill>
                  <a:srgbClr val="4D4D4D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" sz="589">
                <a:solidFill>
                  <a:srgbClr val="4D4D4D"/>
                </a:solidFill>
                <a:latin typeface="Poppins"/>
                <a:ea typeface="Poppins"/>
                <a:cs typeface="Poppins"/>
                <a:sym typeface="Poppins"/>
              </a:rPr>
              <a:t>im-api-key-{id} (NGC_API_KEY + NGC_CLI_API_KEY)</a:t>
            </a:r>
            <a:endParaRPr sz="589">
              <a:solidFill>
                <a:srgbClr val="4D4D4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89">
                <a:solidFill>
                  <a:srgbClr val="4D4D4D"/>
                </a:solidFill>
                <a:latin typeface="Poppins"/>
                <a:ea typeface="Poppins"/>
                <a:cs typeface="Poppins"/>
                <a:sym typeface="Poppins"/>
              </a:rPr>
              <a:t>Modelstudio-nim-pull-secret (dockerconfigjson)</a:t>
            </a:r>
            <a:endParaRPr sz="589">
              <a:solidFill>
                <a:srgbClr val="4D4D4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89">
                <a:solidFill>
                  <a:srgbClr val="4D4D4D"/>
                </a:solidFill>
                <a:latin typeface="Poppins"/>
                <a:ea typeface="Poppins"/>
                <a:cs typeface="Poppins"/>
                <a:sym typeface="Poppins"/>
              </a:rPr>
              <a:t>kserve-s3-secret・mlflow-secret</a:t>
            </a:r>
            <a:endParaRPr sz="589">
              <a:solidFill>
                <a:srgbClr val="4D4D4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528" name="Google Shape;528;p25"/>
          <p:cNvGrpSpPr/>
          <p:nvPr/>
        </p:nvGrpSpPr>
        <p:grpSpPr>
          <a:xfrm>
            <a:off x="2674154" y="2183039"/>
            <a:ext cx="1151566" cy="218694"/>
            <a:chOff x="7226671" y="2967915"/>
            <a:chExt cx="703848" cy="218694"/>
          </a:xfrm>
        </p:grpSpPr>
        <p:sp>
          <p:nvSpPr>
            <p:cNvPr id="529" name="Google Shape;529;p25"/>
            <p:cNvSpPr/>
            <p:nvPr/>
          </p:nvSpPr>
          <p:spPr>
            <a:xfrm>
              <a:off x="7242019" y="2980209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2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530" name="Google Shape;530;p25"/>
            <p:cNvSpPr/>
            <p:nvPr/>
          </p:nvSpPr>
          <p:spPr>
            <a:xfrm>
              <a:off x="7226671" y="2967915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5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ModelStudio DB (Postgres 16)</a:t>
              </a:r>
              <a:endParaRPr sz="50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sp>
        <p:nvSpPr>
          <p:cNvPr id="531" name="Google Shape;531;p25"/>
          <p:cNvSpPr txBox="1"/>
          <p:nvPr/>
        </p:nvSpPr>
        <p:spPr>
          <a:xfrm>
            <a:off x="2541485" y="2362729"/>
            <a:ext cx="14166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76925" lIns="76925" spcFirstLastPara="1" rIns="76925" wrap="square" tIns="769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89">
                <a:solidFill>
                  <a:srgbClr val="4D4D4D"/>
                </a:solidFill>
                <a:latin typeface="Poppins"/>
                <a:ea typeface="Poppins"/>
                <a:cs typeface="Poppins"/>
                <a:sym typeface="Poppins"/>
              </a:rPr>
              <a:t>HFTokenVault, NimApiKeyVault, NimModelRegistration, ResourceProfile, Activity, ML deploy records</a:t>
            </a:r>
            <a:endParaRPr sz="589">
              <a:solidFill>
                <a:srgbClr val="4D4D4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532" name="Google Shape;532;p25"/>
          <p:cNvGrpSpPr/>
          <p:nvPr/>
        </p:nvGrpSpPr>
        <p:grpSpPr>
          <a:xfrm>
            <a:off x="5696232" y="2183039"/>
            <a:ext cx="1151566" cy="218694"/>
            <a:chOff x="7226671" y="2967915"/>
            <a:chExt cx="703848" cy="218694"/>
          </a:xfrm>
        </p:grpSpPr>
        <p:sp>
          <p:nvSpPr>
            <p:cNvPr id="533" name="Google Shape;533;p25"/>
            <p:cNvSpPr/>
            <p:nvPr/>
          </p:nvSpPr>
          <p:spPr>
            <a:xfrm>
              <a:off x="7242019" y="2980209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2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534" name="Google Shape;534;p25"/>
            <p:cNvSpPr/>
            <p:nvPr/>
          </p:nvSpPr>
          <p:spPr>
            <a:xfrm>
              <a:off x="7226671" y="2967915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5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PVCs</a:t>
              </a:r>
              <a:endParaRPr sz="50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sp>
        <p:nvSpPr>
          <p:cNvPr id="535" name="Google Shape;535;p25"/>
          <p:cNvSpPr txBox="1"/>
          <p:nvPr/>
        </p:nvSpPr>
        <p:spPr>
          <a:xfrm>
            <a:off x="5563563" y="2362729"/>
            <a:ext cx="1416600" cy="4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76925" lIns="76925" spcFirstLastPara="1" rIns="76925" wrap="square" tIns="769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89">
                <a:solidFill>
                  <a:srgbClr val="4D4D4D"/>
                </a:solidFill>
                <a:latin typeface="Poppins"/>
                <a:ea typeface="Poppins"/>
                <a:cs typeface="Poppins"/>
                <a:sym typeface="Poppins"/>
              </a:rPr>
              <a:t>NIMCache Storage</a:t>
            </a:r>
            <a:endParaRPr sz="589">
              <a:solidFill>
                <a:srgbClr val="4D4D4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89">
                <a:solidFill>
                  <a:srgbClr val="4D4D4D"/>
                </a:solidFill>
                <a:latin typeface="Poppins"/>
                <a:ea typeface="Poppins"/>
                <a:cs typeface="Poppins"/>
                <a:sym typeface="Poppins"/>
              </a:rPr>
              <a:t>RWO・NIM_DEFAULT_PVC_SIZE</a:t>
            </a:r>
            <a:endParaRPr sz="589">
              <a:solidFill>
                <a:srgbClr val="4D4D4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89">
                <a:solidFill>
                  <a:srgbClr val="4D4D4D"/>
                </a:solidFill>
                <a:latin typeface="Poppins"/>
                <a:ea typeface="Poppins"/>
                <a:cs typeface="Poppins"/>
                <a:sym typeface="Poppins"/>
              </a:rPr>
              <a:t>(storageClass configurable)</a:t>
            </a:r>
            <a:endParaRPr sz="589">
              <a:solidFill>
                <a:srgbClr val="4D4D4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36" name="Google Shape;536;p25"/>
          <p:cNvSpPr/>
          <p:nvPr/>
        </p:nvSpPr>
        <p:spPr>
          <a:xfrm>
            <a:off x="2426950" y="3304644"/>
            <a:ext cx="4671600" cy="1109400"/>
          </a:xfrm>
          <a:prstGeom prst="roundRect">
            <a:avLst>
              <a:gd fmla="val 6533" name="adj"/>
            </a:avLst>
          </a:prstGeom>
          <a:noFill/>
          <a:ln cap="flat" cmpd="sng" w="8000">
            <a:solidFill>
              <a:srgbClr val="9483BA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76925" lIns="76925" spcFirstLastPara="1" rIns="76925" wrap="square" tIns="7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78"/>
          </a:p>
        </p:txBody>
      </p:sp>
      <p:sp>
        <p:nvSpPr>
          <p:cNvPr id="537" name="Google Shape;537;p25"/>
          <p:cNvSpPr txBox="1"/>
          <p:nvPr/>
        </p:nvSpPr>
        <p:spPr>
          <a:xfrm>
            <a:off x="3921390" y="3304644"/>
            <a:ext cx="17034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76925" lIns="76925" spcFirstLastPara="1" rIns="76925" wrap="square" tIns="769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89">
                <a:solidFill>
                  <a:srgbClr val="7660A8"/>
                </a:solidFill>
                <a:latin typeface="Poppins"/>
                <a:ea typeface="Poppins"/>
                <a:cs typeface="Poppins"/>
                <a:sym typeface="Poppins"/>
              </a:rPr>
              <a:t>ML / Inference Runtimes</a:t>
            </a:r>
            <a:endParaRPr b="1" sz="589">
              <a:solidFill>
                <a:srgbClr val="7660A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538" name="Google Shape;538;p25"/>
          <p:cNvGrpSpPr/>
          <p:nvPr/>
        </p:nvGrpSpPr>
        <p:grpSpPr>
          <a:xfrm>
            <a:off x="4187068" y="3515752"/>
            <a:ext cx="1151566" cy="218694"/>
            <a:chOff x="7226671" y="2967915"/>
            <a:chExt cx="703848" cy="218694"/>
          </a:xfrm>
        </p:grpSpPr>
        <p:sp>
          <p:nvSpPr>
            <p:cNvPr id="539" name="Google Shape;539;p25"/>
            <p:cNvSpPr/>
            <p:nvPr/>
          </p:nvSpPr>
          <p:spPr>
            <a:xfrm>
              <a:off x="7242019" y="2980209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2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540" name="Google Shape;540;p25"/>
            <p:cNvSpPr/>
            <p:nvPr/>
          </p:nvSpPr>
          <p:spPr>
            <a:xfrm>
              <a:off x="7226671" y="2967915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5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KServe + MLFlow</a:t>
              </a:r>
              <a:endParaRPr sz="50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sp>
        <p:nvSpPr>
          <p:cNvPr id="541" name="Google Shape;541;p25"/>
          <p:cNvSpPr txBox="1"/>
          <p:nvPr/>
        </p:nvSpPr>
        <p:spPr>
          <a:xfrm>
            <a:off x="4054399" y="3695441"/>
            <a:ext cx="1416600" cy="6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76925" lIns="76925" spcFirstLastPara="1" rIns="76925" wrap="square" tIns="769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89">
                <a:solidFill>
                  <a:srgbClr val="4D4D4D"/>
                </a:solidFill>
                <a:latin typeface="Poppins"/>
                <a:ea typeface="Poppins"/>
                <a:cs typeface="Poppins"/>
                <a:sym typeface="Poppins"/>
              </a:rPr>
              <a:t>KServe Controller</a:t>
            </a:r>
            <a:endParaRPr sz="589">
              <a:solidFill>
                <a:srgbClr val="4D4D4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89">
                <a:solidFill>
                  <a:srgbClr val="4D4D4D"/>
                </a:solidFill>
                <a:latin typeface="Poppins"/>
                <a:ea typeface="Poppins"/>
                <a:cs typeface="Poppins"/>
                <a:sym typeface="Poppins"/>
              </a:rPr>
              <a:t>GRD: serving.kserve.io/v1beta1</a:t>
            </a:r>
            <a:endParaRPr sz="589">
              <a:solidFill>
                <a:srgbClr val="4D4D4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89">
                <a:solidFill>
                  <a:srgbClr val="4D4D4D"/>
                </a:solidFill>
                <a:latin typeface="Poppins"/>
                <a:ea typeface="Poppins"/>
                <a:cs typeface="Poppins"/>
                <a:sym typeface="Poppins"/>
              </a:rPr>
              <a:t>InferenceService Predictors:</a:t>
            </a:r>
            <a:endParaRPr sz="589">
              <a:solidFill>
                <a:srgbClr val="4D4D4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89">
                <a:solidFill>
                  <a:srgbClr val="4D4D4D"/>
                </a:solidFill>
                <a:latin typeface="Poppins"/>
                <a:ea typeface="Poppins"/>
                <a:cs typeface="Poppins"/>
                <a:sym typeface="Poppins"/>
              </a:rPr>
              <a:t>Sklearn, xgb, mlflow, huggingface</a:t>
            </a:r>
            <a:endParaRPr sz="589">
              <a:solidFill>
                <a:srgbClr val="4D4D4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89">
                <a:solidFill>
                  <a:srgbClr val="4D4D4D"/>
                </a:solidFill>
                <a:latin typeface="Poppins"/>
                <a:ea typeface="Poppins"/>
                <a:cs typeface="Poppins"/>
                <a:sym typeface="Poppins"/>
              </a:rPr>
              <a:t>MLFlow Server + UI</a:t>
            </a:r>
            <a:endParaRPr sz="589">
              <a:solidFill>
                <a:srgbClr val="4D4D4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542" name="Google Shape;542;p25"/>
          <p:cNvGrpSpPr/>
          <p:nvPr/>
        </p:nvGrpSpPr>
        <p:grpSpPr>
          <a:xfrm>
            <a:off x="2676029" y="3515752"/>
            <a:ext cx="1151566" cy="218694"/>
            <a:chOff x="7226671" y="2967915"/>
            <a:chExt cx="703848" cy="218694"/>
          </a:xfrm>
        </p:grpSpPr>
        <p:sp>
          <p:nvSpPr>
            <p:cNvPr id="543" name="Google Shape;543;p25"/>
            <p:cNvSpPr/>
            <p:nvPr/>
          </p:nvSpPr>
          <p:spPr>
            <a:xfrm>
              <a:off x="7242019" y="2980209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2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544" name="Google Shape;544;p25"/>
            <p:cNvSpPr/>
            <p:nvPr/>
          </p:nvSpPr>
          <p:spPr>
            <a:xfrm>
              <a:off x="7226671" y="2967915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5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KubeAI</a:t>
              </a:r>
              <a:endParaRPr sz="50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sp>
        <p:nvSpPr>
          <p:cNvPr id="545" name="Google Shape;545;p25"/>
          <p:cNvSpPr txBox="1"/>
          <p:nvPr/>
        </p:nvSpPr>
        <p:spPr>
          <a:xfrm>
            <a:off x="2543360" y="3695441"/>
            <a:ext cx="1416600" cy="6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76925" lIns="76925" spcFirstLastPara="1" rIns="76925" wrap="square" tIns="769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89">
                <a:solidFill>
                  <a:srgbClr val="4D4D4D"/>
                </a:solidFill>
                <a:latin typeface="Poppins"/>
                <a:ea typeface="Poppins"/>
                <a:cs typeface="Poppins"/>
                <a:sym typeface="Poppins"/>
              </a:rPr>
              <a:t>KubeAI Operator</a:t>
            </a:r>
            <a:endParaRPr sz="589">
              <a:solidFill>
                <a:srgbClr val="4D4D4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89">
                <a:solidFill>
                  <a:srgbClr val="4D4D4D"/>
                </a:solidFill>
                <a:latin typeface="Poppins"/>
                <a:ea typeface="Poppins"/>
                <a:cs typeface="Poppins"/>
                <a:sym typeface="Poppins"/>
              </a:rPr>
              <a:t>CRD: kubeai.org/v1</a:t>
            </a:r>
            <a:endParaRPr sz="589">
              <a:solidFill>
                <a:srgbClr val="4D4D4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89">
                <a:solidFill>
                  <a:srgbClr val="4D4D4D"/>
                </a:solidFill>
                <a:latin typeface="Poppins"/>
                <a:ea typeface="Poppins"/>
                <a:cs typeface="Poppins"/>
                <a:sym typeface="Poppins"/>
              </a:rPr>
              <a:t>Model Engines:</a:t>
            </a:r>
            <a:endParaRPr sz="589">
              <a:solidFill>
                <a:srgbClr val="4D4D4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89">
                <a:solidFill>
                  <a:srgbClr val="4D4D4D"/>
                </a:solidFill>
                <a:latin typeface="Poppins"/>
                <a:ea typeface="Poppins"/>
                <a:cs typeface="Poppins"/>
                <a:sym typeface="Poppins"/>
              </a:rPr>
              <a:t>Ollama・vLLM・Infinity・FastWhisper</a:t>
            </a:r>
            <a:endParaRPr sz="589">
              <a:solidFill>
                <a:srgbClr val="4D4D4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546" name="Google Shape;546;p25"/>
          <p:cNvGrpSpPr/>
          <p:nvPr/>
        </p:nvGrpSpPr>
        <p:grpSpPr>
          <a:xfrm>
            <a:off x="5698107" y="3515752"/>
            <a:ext cx="1151566" cy="218694"/>
            <a:chOff x="7226671" y="2967915"/>
            <a:chExt cx="703848" cy="218694"/>
          </a:xfrm>
        </p:grpSpPr>
        <p:sp>
          <p:nvSpPr>
            <p:cNvPr id="547" name="Google Shape;547;p25"/>
            <p:cNvSpPr/>
            <p:nvPr/>
          </p:nvSpPr>
          <p:spPr>
            <a:xfrm>
              <a:off x="7242019" y="2980209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2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548" name="Google Shape;548;p25"/>
            <p:cNvSpPr/>
            <p:nvPr/>
          </p:nvSpPr>
          <p:spPr>
            <a:xfrm>
              <a:off x="7226671" y="2967915"/>
              <a:ext cx="688500" cy="206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5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NIM – Self-Hosted</a:t>
              </a:r>
              <a:endParaRPr sz="505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sp>
        <p:nvSpPr>
          <p:cNvPr id="549" name="Google Shape;549;p25"/>
          <p:cNvSpPr txBox="1"/>
          <p:nvPr/>
        </p:nvSpPr>
        <p:spPr>
          <a:xfrm>
            <a:off x="5565438" y="3695441"/>
            <a:ext cx="1416600" cy="6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76925" lIns="76925" spcFirstLastPara="1" rIns="76925" wrap="square" tIns="769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89">
                <a:solidFill>
                  <a:srgbClr val="4D4D4D"/>
                </a:solidFill>
                <a:latin typeface="Poppins"/>
                <a:ea typeface="Poppins"/>
                <a:cs typeface="Poppins"/>
                <a:sym typeface="Poppins"/>
              </a:rPr>
              <a:t>K8s-nim-operator</a:t>
            </a:r>
            <a:endParaRPr sz="589">
              <a:solidFill>
                <a:srgbClr val="4D4D4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89">
                <a:solidFill>
                  <a:srgbClr val="4D4D4D"/>
                </a:solidFill>
                <a:latin typeface="Poppins"/>
                <a:ea typeface="Poppins"/>
                <a:cs typeface="Poppins"/>
                <a:sym typeface="Poppins"/>
              </a:rPr>
              <a:t>CRDs: apps.nvidia.com/v1alpha1</a:t>
            </a:r>
            <a:endParaRPr sz="589">
              <a:solidFill>
                <a:srgbClr val="4D4D4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89">
                <a:solidFill>
                  <a:srgbClr val="4D4D4D"/>
                </a:solidFill>
                <a:latin typeface="Poppins"/>
                <a:ea typeface="Poppins"/>
                <a:cs typeface="Poppins"/>
                <a:sym typeface="Poppins"/>
              </a:rPr>
              <a:t>NIMCache + NIMService</a:t>
            </a:r>
            <a:endParaRPr sz="589">
              <a:solidFill>
                <a:srgbClr val="4D4D4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89">
                <a:solidFill>
                  <a:srgbClr val="4D4D4D"/>
                </a:solidFill>
                <a:latin typeface="Poppins"/>
                <a:ea typeface="Poppins"/>
                <a:cs typeface="Poppins"/>
                <a:sym typeface="Poppins"/>
              </a:rPr>
              <a:t>NIM pods on GPU nodes</a:t>
            </a:r>
            <a:endParaRPr sz="589">
              <a:solidFill>
                <a:srgbClr val="4D4D4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89">
                <a:solidFill>
                  <a:srgbClr val="4D4D4D"/>
                </a:solidFill>
                <a:latin typeface="Poppins"/>
                <a:ea typeface="Poppins"/>
                <a:cs typeface="Poppins"/>
                <a:sym typeface="Poppins"/>
              </a:rPr>
              <a:t>Requires GPU Operator + NGC key</a:t>
            </a:r>
            <a:endParaRPr sz="589">
              <a:solidFill>
                <a:srgbClr val="4D4D4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550" name="Google Shape;550;p25"/>
          <p:cNvCxnSpPr>
            <a:stCxn id="510" idx="3"/>
            <a:endCxn id="478" idx="1"/>
          </p:cNvCxnSpPr>
          <p:nvPr/>
        </p:nvCxnSpPr>
        <p:spPr>
          <a:xfrm>
            <a:off x="7211350" y="2710069"/>
            <a:ext cx="255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1" name="Google Shape;551;p25"/>
          <p:cNvCxnSpPr/>
          <p:nvPr/>
        </p:nvCxnSpPr>
        <p:spPr>
          <a:xfrm>
            <a:off x="4770000" y="1753919"/>
            <a:ext cx="0" cy="21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2" name="Google Shape;552;p25"/>
          <p:cNvCxnSpPr/>
          <p:nvPr/>
        </p:nvCxnSpPr>
        <p:spPr>
          <a:xfrm>
            <a:off x="4797875" y="3075194"/>
            <a:ext cx="0" cy="21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3" name="Google Shape;553;p25"/>
          <p:cNvCxnSpPr>
            <a:stCxn id="457" idx="3"/>
          </p:cNvCxnSpPr>
          <p:nvPr/>
        </p:nvCxnSpPr>
        <p:spPr>
          <a:xfrm>
            <a:off x="908385" y="1089623"/>
            <a:ext cx="280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4" name="Google Shape;554;p25"/>
          <p:cNvCxnSpPr>
            <a:stCxn id="460" idx="3"/>
          </p:cNvCxnSpPr>
          <p:nvPr/>
        </p:nvCxnSpPr>
        <p:spPr>
          <a:xfrm>
            <a:off x="2042350" y="1486069"/>
            <a:ext cx="263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5" name="Google Shape;555;p25"/>
          <p:cNvCxnSpPr>
            <a:stCxn id="470" idx="3"/>
          </p:cNvCxnSpPr>
          <p:nvPr/>
        </p:nvCxnSpPr>
        <p:spPr>
          <a:xfrm>
            <a:off x="1989470" y="3933794"/>
            <a:ext cx="32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0" name="Google Shape;560;p26" title="modelstudio-architecture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7950" y="152400"/>
            <a:ext cx="5888092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