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Poppins"/>
      <p:regular r:id="rId26"/>
      <p:bold r:id="rId27"/>
      <p:italic r:id="rId28"/>
      <p:boldItalic r:id="rId29"/>
    </p:embeddedFont>
    <p:embeddedFont>
      <p:font typeface="Poppins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regular.fntdata"/><Relationship Id="rId25" Type="http://schemas.openxmlformats.org/officeDocument/2006/relationships/slide" Target="slides/slide20.xml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Medium-bold.fntdata"/><Relationship Id="rId30" Type="http://schemas.openxmlformats.org/officeDocument/2006/relationships/font" Target="fonts/PoppinsMedium-regular.fntdata"/><Relationship Id="rId11" Type="http://schemas.openxmlformats.org/officeDocument/2006/relationships/slide" Target="slides/slide6.xml"/><Relationship Id="rId33" Type="http://schemas.openxmlformats.org/officeDocument/2006/relationships/font" Target="fonts/Poppins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Poppins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e008a539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e008a539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e008a539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e008a539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e008a539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e008a539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e008a539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e008a539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e008a539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e008a539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e008a539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e008a539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e008a539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e008a539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e008a539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e008a539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e008a539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e008a539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e01fef17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e01fef17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e01fef17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e01fef17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e01fef17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e01fef17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e01fef17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e01fef17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eb45f96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eb45f96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eb45f965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eb45f965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e01fef17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e01fef17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e01fef17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e01fef17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e01fef17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e01fef17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e01fef17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de01fef17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hyperlink" Target="mailto:info@dkube.io" TargetMode="External"/><Relationship Id="rId5" Type="http://schemas.openxmlformats.org/officeDocument/2006/relationships/hyperlink" Target="https://www.dkube.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56175" y="1712225"/>
            <a:ext cx="36951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DKubeX 2.0</a:t>
            </a:r>
            <a:endParaRPr b="1" sz="33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56175" y="2424475"/>
            <a:ext cx="48450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One platform for enterprise AI applications across hybrid (private and public) environments</a:t>
            </a:r>
            <a:endParaRPr sz="1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56" name="Google Shape;56;p13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52" y="207375"/>
            <a:ext cx="1370373" cy="3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171375" y="4782200"/>
            <a:ext cx="11298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dkube.io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0" l="0" r="28856" t="0"/>
          <a:stretch/>
        </p:blipFill>
        <p:spPr>
          <a:xfrm>
            <a:off x="5857500" y="1261250"/>
            <a:ext cx="3286502" cy="26210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81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52" y="207375"/>
            <a:ext cx="1370373" cy="3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4171375" y="4782200"/>
            <a:ext cx="11298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dkube.io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59200" y="136788"/>
            <a:ext cx="44352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Introducing DKubeX 2.0</a:t>
            </a:r>
            <a:endParaRPr b="1" sz="23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259200" y="577400"/>
            <a:ext cx="6552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Modular Platform for Enterprise AI Applications</a:t>
            </a:r>
            <a:endParaRPr i="1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59200" y="1376600"/>
            <a:ext cx="85932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DKubeX 2.0 brings together the tools needed to deploy and use enterprise AI applications in a flexible and controlled environment.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Built for private AI deployments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Supports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MLOps, ModelOps, GenAI,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agentic workflows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Works across on-prem and public AI models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Delivers capabilities through installable applications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Designed for enterprise control, flexibility, and simplicity</a:t>
            </a:r>
            <a:endParaRPr sz="1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52" y="207375"/>
            <a:ext cx="1370373" cy="3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4171375" y="4782200"/>
            <a:ext cx="11298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dkube.io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259200" y="136788"/>
            <a:ext cx="44352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Platform Overview</a:t>
            </a:r>
            <a:endParaRPr b="1" sz="23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259200" y="577400"/>
            <a:ext cx="6552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One Platform for Enterprise AI Operations</a:t>
            </a:r>
            <a:endParaRPr i="1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259200" y="1485350"/>
            <a:ext cx="8593200" cy="27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DKubeX 2.0 provides a unified experience for users and administrators to access and manage AI applications from one platform.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Unified platform for AI applications and workflows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Separate user and admin experiences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Private (on-prem) model deployments with public models available to use as per need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Flexible platform for different enterprise needs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52" y="207375"/>
            <a:ext cx="1370373" cy="3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4171375" y="4782200"/>
            <a:ext cx="11298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dkube.io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259200" y="136800"/>
            <a:ext cx="6192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Application-Based Experience</a:t>
            </a:r>
            <a:endParaRPr b="1" sz="23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259200" y="577400"/>
            <a:ext cx="6552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Everything is Delivered as an Application</a:t>
            </a:r>
            <a:endParaRPr i="1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59200" y="1614950"/>
            <a:ext cx="8593200" cy="25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DKubeX 2.0 is built around a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simple application-based model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allowing teams to use only what they need for each use case.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Browse available applications from a central catalog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Install applications based on business or technical need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Keep the platform modular and easy to use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Expand capabilities without unnecessary complexity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52" y="207375"/>
            <a:ext cx="1370373" cy="3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4171375" y="4782200"/>
            <a:ext cx="11298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dkube.io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259200" y="136800"/>
            <a:ext cx="6192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User Experience</a:t>
            </a:r>
            <a:endParaRPr b="1" sz="23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259200" y="577400"/>
            <a:ext cx="6552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Simple Access to AI Tools and Applications</a:t>
            </a:r>
            <a:endParaRPr i="1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275400" y="1445050"/>
            <a:ext cx="8593200" cy="25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user console is designed to make application discovery and usage straightforward for day-to-day AI work.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Applications tab: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browse and install available apps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My Apps tab: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access installed applications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Launch and manage tools from one place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Default applications include PGAdmin, MinIO, and Traefik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8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52" y="207375"/>
            <a:ext cx="1370373" cy="3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4171375" y="4782200"/>
            <a:ext cx="11298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dkube.io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259200" y="136800"/>
            <a:ext cx="6192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Core Applications in DKubeX 2.0</a:t>
            </a:r>
            <a:endParaRPr b="1" sz="23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259200" y="577400"/>
            <a:ext cx="6552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Built for Real Enterprise AI Use Cases</a:t>
            </a:r>
            <a:endParaRPr i="1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275400" y="1313900"/>
            <a:ext cx="8593200" cy="31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DKubeX 2.0 includes a growing set of applications that support ML, modelOps, GenAI and agentic workflows.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Workspace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development and experimentation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MLflow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tracking ML workflows, runs, and registering models in MLFlow Model Registry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Model Studio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model search and deployment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RAGFlow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retrieval-augmented AI applications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SecureLLM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a secure gateway for AI models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Langflow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building and orchestrating agentic AI workflows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AgentX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creating and running interactive agent workflows with different agents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Prefect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orchestrating scheduled, event-driven, and automated workflows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9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52" y="207375"/>
            <a:ext cx="1370373" cy="3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/>
        </p:nvSpPr>
        <p:spPr>
          <a:xfrm>
            <a:off x="4171375" y="4782200"/>
            <a:ext cx="11298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dkube.io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259200" y="136800"/>
            <a:ext cx="6192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Hybrid (Private/Public) AI</a:t>
            </a:r>
            <a:endParaRPr b="1" sz="23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259200" y="577400"/>
            <a:ext cx="6552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Keep Sensitive Workloads Private. Use Cloud when Required.</a:t>
            </a:r>
            <a:endParaRPr i="1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259200" y="1614950"/>
            <a:ext cx="85932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DKubeX 2.0 helps enterprises align AI deployment choices with the sensitivity of their workloads and data.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 private AI workloads on-prem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Send selected workloads to public models when appropriate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 different privacy needs across use cases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Balance control, flexibility, and access to advanced model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0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52" y="207375"/>
            <a:ext cx="1370373" cy="3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4171375" y="4782200"/>
            <a:ext cx="11298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dkube.io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259200" y="136800"/>
            <a:ext cx="6192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MLFlow</a:t>
            </a:r>
            <a:endParaRPr b="1" sz="23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259200" y="577400"/>
            <a:ext cx="6552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Track Experiments, Manage Models, &amp; Streamline ML Workflows</a:t>
            </a:r>
            <a:endParaRPr i="1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259200" y="1614950"/>
            <a:ext cx="85932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MLflow in DKubeX 2.0 helps teams organize ML development with better visibility across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experiments, runs, 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model versions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Track experiments, runs, metrics, and artifacts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Compare model performance across different runs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Register and manage models in the MLflow Model Registry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 more organized and reproducible ML workflows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1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52" y="207375"/>
            <a:ext cx="1370373" cy="3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/>
        </p:nvSpPr>
        <p:spPr>
          <a:xfrm>
            <a:off x="4171375" y="4782200"/>
            <a:ext cx="11298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dkube.io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259200" y="136800"/>
            <a:ext cx="6192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Model Studio</a:t>
            </a:r>
            <a:endParaRPr b="1" sz="23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259200" y="577400"/>
            <a:ext cx="6552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Search, Discover, &amp; Deploy Models Faster</a:t>
            </a:r>
            <a:endParaRPr i="1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259200" y="1614950"/>
            <a:ext cx="85932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Model Studio simplifies how enterprise teams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find and deploy models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AI applications.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Search models directly from Hugging Face and NIM catalogs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Discover models from within the platform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Deploy models through a simpler workflow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Playground to interact with deployed models through a chat-based testing experience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2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52" y="207375"/>
            <a:ext cx="1370373" cy="3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 txBox="1"/>
          <p:nvPr/>
        </p:nvSpPr>
        <p:spPr>
          <a:xfrm>
            <a:off x="4171375" y="4782200"/>
            <a:ext cx="11298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dkube.io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259200" y="136800"/>
            <a:ext cx="6192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SecureLLM AI Gateway</a:t>
            </a:r>
            <a:endParaRPr b="1" sz="23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259200" y="577400"/>
            <a:ext cx="6552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Secure Access to Private Models &amp; Third</a:t>
            </a: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-</a:t>
            </a: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Party Model Providers</a:t>
            </a:r>
            <a:endParaRPr i="1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259200" y="1614950"/>
            <a:ext cx="85932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SecureLLM AI Gateway helps enterprises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connect to AI models with better control, visibility, and governance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 private models and third-party model providers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Configure external AI providers such as OpenAI, Anthropic, and Ollama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Centralize API key management across model access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Apply guardrails for safer AI usage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Monitor token usage and cost across interactions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52" y="207375"/>
            <a:ext cx="1370373" cy="3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4171375" y="4782200"/>
            <a:ext cx="11298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dkube.io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259200" y="136800"/>
            <a:ext cx="6192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RAGFlow</a:t>
            </a:r>
            <a:endParaRPr b="1" sz="23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259200" y="577400"/>
            <a:ext cx="70407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Build Retrieval</a:t>
            </a: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-</a:t>
            </a: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Driven AI Applications Grounded in Enterprise Knowledge</a:t>
            </a:r>
            <a:endParaRPr i="1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275400" y="1442600"/>
            <a:ext cx="8593200" cy="28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RAGFlow in DKubeX 2.0 helps teams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create retrieval-based AI applications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connect models to enterprise data and internal knowledge sources for more relevant, context-aware responses.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Build RAG-driven applications and assistants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Connect AI workflows to enterprise knowledge and data sources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 a wide range of data sources for retrieval-driven AI applications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Ground responses in business context and internal knowledge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 internal search, Q&amp;A, and knowledge-based AI use cases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4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52" y="207375"/>
            <a:ext cx="1370373" cy="3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 txBox="1"/>
          <p:nvPr/>
        </p:nvSpPr>
        <p:spPr>
          <a:xfrm>
            <a:off x="4171375" y="4782200"/>
            <a:ext cx="11298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dkube.io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259200" y="136800"/>
            <a:ext cx="6192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Langflow</a:t>
            </a:r>
            <a:endParaRPr b="1" sz="23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259200" y="577400"/>
            <a:ext cx="70407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Design And Orchestrate Agentic Ai Workflows Visually</a:t>
            </a:r>
            <a:endParaRPr i="1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259200" y="1614950"/>
            <a:ext cx="85932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Langflow in DKubeX 2.0 helps teams build and manage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agent-based AI flows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through a more intuitive visual interface.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Build agentic AI workflows with a visual builder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Connect models, prompts, tools, and logic in one flow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Experiment with multi-step AI interactions more easily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 faster development of agent-based applications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5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52" y="207375"/>
            <a:ext cx="1370373" cy="3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 txBox="1"/>
          <p:nvPr/>
        </p:nvSpPr>
        <p:spPr>
          <a:xfrm>
            <a:off x="4171375" y="4782200"/>
            <a:ext cx="11298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dkube.io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259200" y="136800"/>
            <a:ext cx="6192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AgentX</a:t>
            </a:r>
            <a:endParaRPr b="1" sz="23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259200" y="577400"/>
            <a:ext cx="70407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Create &amp; Run Interactive Agentic Workflows</a:t>
            </a:r>
            <a:endParaRPr i="1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259200" y="1614950"/>
            <a:ext cx="85932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AgentX in DKubeX 2.0 enables teams to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create and run interactive agentic workflows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by creating assistants using different agents available with AgentX.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 agents such as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OpenClaw, Claude Code, 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Gemini CLI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with the flexibility to extend to additional agents as needed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 multi-step execution with reasoning, actions, and user interaction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Enable task-oriented AI flows for enterprise use cases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6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52" y="207375"/>
            <a:ext cx="1370373" cy="3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6"/>
          <p:cNvSpPr txBox="1"/>
          <p:nvPr/>
        </p:nvSpPr>
        <p:spPr>
          <a:xfrm>
            <a:off x="4171375" y="4782200"/>
            <a:ext cx="11298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dkube.io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259200" y="136800"/>
            <a:ext cx="6192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Prefect</a:t>
            </a:r>
            <a:endParaRPr b="1" sz="23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259200" y="577400"/>
            <a:ext cx="70407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Orchestrate Automated Workflows Across Data, ML, &amp; AI</a:t>
            </a:r>
            <a:endParaRPr i="1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259200" y="1614950"/>
            <a:ext cx="85932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Prefect in DKubeX 2.0 helps teams build, schedule, and manage automated workflows with better control and visibility.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Build and run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automated workflows across data, ML, and AI tasks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 scheduled and event-driven workflow execution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Manage deployments and workflow runs with greater visibility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Extend orchestration across Kubernetes and other execution environments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7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52" y="207375"/>
            <a:ext cx="1370373" cy="3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7"/>
          <p:cNvSpPr txBox="1"/>
          <p:nvPr/>
        </p:nvSpPr>
        <p:spPr>
          <a:xfrm>
            <a:off x="4171375" y="4782200"/>
            <a:ext cx="11298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dkube.io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259200" y="136800"/>
            <a:ext cx="6192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Law-Lite</a:t>
            </a:r>
            <a:endParaRPr b="1" sz="23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259200" y="577400"/>
            <a:ext cx="70407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Reduce Weeks of Legal Review to Hours</a:t>
            </a:r>
            <a:endParaRPr i="1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275400" y="1451350"/>
            <a:ext cx="85932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Law-Lite is an AI-powered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legal document analysis platform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lawyers and legal teams. It helps automate document review, information extraction, compliance checking, issue identification, and report generation across legal matters.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Automate up to 80% of manual legal review work using AI agents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Extract key information from contracts and other legal documents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Identify missing clauses, conflicting terms, and compliance failures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Generate structured reports for review, delivery, and audit trail purposes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8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52" y="207375"/>
            <a:ext cx="1370373" cy="3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8"/>
          <p:cNvSpPr txBox="1"/>
          <p:nvPr/>
        </p:nvSpPr>
        <p:spPr>
          <a:xfrm>
            <a:off x="4171375" y="4782200"/>
            <a:ext cx="11298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dkube.io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p28"/>
          <p:cNvSpPr txBox="1"/>
          <p:nvPr/>
        </p:nvSpPr>
        <p:spPr>
          <a:xfrm>
            <a:off x="259200" y="136800"/>
            <a:ext cx="6192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Mortgage-Lite</a:t>
            </a:r>
            <a:endParaRPr b="1" sz="23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259200" y="577400"/>
            <a:ext cx="70407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Automate Mortgage Review with Privacy-First AI</a:t>
            </a:r>
            <a:endParaRPr i="1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275400" y="1219550"/>
            <a:ext cx="8593200" cy="3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Mortgage-Lite is an AI-powered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mortgage underwriting assistant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automates document processing, validation, and compliance checking for mortgage applications using a privacy-first multi-agent architecture.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Automate document processing, validation, and compliance checking for mortgage applications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Process applications in ~4 minutes instead of the industry standard of 4 days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 underwriting, servicing transfer, and post-close quality control workflows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Protect sensitive data with local processing and anonymized cloud compliance checks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9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52" y="207375"/>
            <a:ext cx="1370373" cy="3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9"/>
          <p:cNvSpPr txBox="1"/>
          <p:nvPr/>
        </p:nvSpPr>
        <p:spPr>
          <a:xfrm>
            <a:off x="4171375" y="4782200"/>
            <a:ext cx="11298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dkube.io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p29"/>
          <p:cNvSpPr txBox="1"/>
          <p:nvPr/>
        </p:nvSpPr>
        <p:spPr>
          <a:xfrm>
            <a:off x="259200" y="136800"/>
            <a:ext cx="6192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Admin Experience</a:t>
            </a:r>
            <a:endParaRPr b="1" sz="23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259200" y="577400"/>
            <a:ext cx="70407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Centralized Control for Enterprise Environments</a:t>
            </a:r>
            <a:endParaRPr i="1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259200" y="1614950"/>
            <a:ext cx="85932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admin experience is designed to provide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visibility, control, and operational simplicity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across the platform.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Platform-wide dashboard and observability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Manage users and superuser access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Control platform settings from a central console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0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52" y="207375"/>
            <a:ext cx="1370373" cy="3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0"/>
          <p:cNvSpPr txBox="1"/>
          <p:nvPr/>
        </p:nvSpPr>
        <p:spPr>
          <a:xfrm>
            <a:off x="4171375" y="4782200"/>
            <a:ext cx="11298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dkube.io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p30"/>
          <p:cNvSpPr txBox="1"/>
          <p:nvPr/>
        </p:nvSpPr>
        <p:spPr>
          <a:xfrm>
            <a:off x="259200" y="136800"/>
            <a:ext cx="6192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Configurable Platform Services</a:t>
            </a:r>
            <a:endParaRPr b="1" sz="23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p30"/>
          <p:cNvSpPr txBox="1"/>
          <p:nvPr/>
        </p:nvSpPr>
        <p:spPr>
          <a:xfrm>
            <a:off x="259200" y="577400"/>
            <a:ext cx="70407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Enable What Your Environment Needs</a:t>
            </a:r>
            <a:endParaRPr i="1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259200" y="1614950"/>
            <a:ext cx="85932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DKubeX 2.0 allows platform capabilities to be turned on or off based on business, security, or infrastructure requirements.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Configure auth, certs, storage, and telemetry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Enable services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only when needed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 optional components such as object storage, file browser, and telemetry tools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Adapt the platform to enterprise deployment preferences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1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52" y="207375"/>
            <a:ext cx="1370373" cy="3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1"/>
          <p:cNvSpPr txBox="1"/>
          <p:nvPr/>
        </p:nvSpPr>
        <p:spPr>
          <a:xfrm>
            <a:off x="4171375" y="4782200"/>
            <a:ext cx="11298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dkube.io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259200" y="136800"/>
            <a:ext cx="6192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Enterprise-Ready Platform</a:t>
            </a:r>
            <a:endParaRPr b="1" sz="23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9" name="Google Shape;219;p31"/>
          <p:cNvSpPr txBox="1"/>
          <p:nvPr/>
        </p:nvSpPr>
        <p:spPr>
          <a:xfrm>
            <a:off x="259200" y="577400"/>
            <a:ext cx="70407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Built for Practical Enterprise AI Adoption</a:t>
            </a:r>
            <a:endParaRPr i="1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20" name="Google Shape;220;p31"/>
          <p:cNvSpPr txBox="1"/>
          <p:nvPr/>
        </p:nvSpPr>
        <p:spPr>
          <a:xfrm>
            <a:off x="259200" y="1614950"/>
            <a:ext cx="85932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DKubeX 2.0 is designed to support 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real-world enterprise AI programs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with flexibility and control.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Private AI foundation for enterprise environments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Flexible deployment choices across on-prem and hybrid setups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Controlled access to models, services, and applications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Suitable for secure and scalable AI operations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2" title="DKube TM Logo Pur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52" y="207375"/>
            <a:ext cx="1370373" cy="3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2"/>
          <p:cNvSpPr txBox="1"/>
          <p:nvPr/>
        </p:nvSpPr>
        <p:spPr>
          <a:xfrm>
            <a:off x="1476000" y="1207575"/>
            <a:ext cx="61920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DKubeX 2.0</a:t>
            </a:r>
            <a:endParaRPr b="1" sz="33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p32"/>
          <p:cNvSpPr txBox="1"/>
          <p:nvPr/>
        </p:nvSpPr>
        <p:spPr>
          <a:xfrm>
            <a:off x="1977025" y="1700300"/>
            <a:ext cx="55185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One Platform for Enterprise AI Applications Across Hybrid (Private &amp; Public) Environments</a:t>
            </a:r>
            <a:endParaRPr sz="17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28" name="Google Shape;228;p32"/>
          <p:cNvSpPr txBox="1"/>
          <p:nvPr/>
        </p:nvSpPr>
        <p:spPr>
          <a:xfrm>
            <a:off x="281575" y="3342325"/>
            <a:ext cx="40302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Private where it matters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Flexible where it helps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Ready for on-prem and hybrid AI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p32"/>
          <p:cNvSpPr txBox="1"/>
          <p:nvPr/>
        </p:nvSpPr>
        <p:spPr>
          <a:xfrm>
            <a:off x="4832225" y="3342325"/>
            <a:ext cx="4030200" cy="15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Contact Us: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info@dkube.io</a:t>
            </a:r>
            <a:endParaRPr sz="1300">
              <a:solidFill>
                <a:srgbClr val="0000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Know More About Us: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https://www.dkube.io</a:t>
            </a:r>
            <a:endParaRPr sz="1300">
              <a:solidFill>
                <a:srgbClr val="000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