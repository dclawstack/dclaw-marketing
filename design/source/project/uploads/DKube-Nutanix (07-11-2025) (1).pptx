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Roboto"/>
      <p:regular r:id="rId50"/>
      <p:bold r:id="rId51"/>
      <p:italic r:id="rId52"/>
      <p:boldItalic r:id="rId53"/>
    </p:embeddedFont>
    <p:embeddedFont>
      <p:font typeface="Poppins"/>
      <p:regular r:id="rId54"/>
      <p:bold r:id="rId55"/>
      <p:italic r:id="rId56"/>
      <p:boldItalic r:id="rId57"/>
    </p:embeddedFont>
    <p:embeddedFont>
      <p:font typeface="Poppins Light"/>
      <p:regular r:id="rId58"/>
      <p:bold r:id="rId59"/>
      <p:italic r:id="rId60"/>
      <p:boldItalic r:id="rId61"/>
    </p:embeddedFont>
    <p:embeddedFont>
      <p:font typeface="Poppins Medium"/>
      <p:regular r:id="rId62"/>
      <p:bold r:id="rId63"/>
      <p:italic r:id="rId64"/>
      <p:boldItalic r:id="rId65"/>
    </p:embeddedFont>
    <p:embeddedFont>
      <p:font typeface="Poppins SemiBold"/>
      <p:regular r:id="rId66"/>
      <p:bold r:id="rId67"/>
      <p:italic r:id="rId68"/>
      <p:boldItalic r:id="rId69"/>
    </p:embeddedFont>
    <p:embeddedFont>
      <p:font typeface="Comfortaa"/>
      <p:regular r:id="rId70"/>
      <p:bold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Comfortaa-bold.fntdata"/><Relationship Id="rId70" Type="http://schemas.openxmlformats.org/officeDocument/2006/relationships/font" Target="fonts/Comfortaa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oppinsMedium-regular.fntdata"/><Relationship Id="rId61" Type="http://schemas.openxmlformats.org/officeDocument/2006/relationships/font" Target="fonts/PoppinsLight-boldItalic.fntdata"/><Relationship Id="rId20" Type="http://schemas.openxmlformats.org/officeDocument/2006/relationships/slide" Target="slides/slide15.xml"/><Relationship Id="rId64" Type="http://schemas.openxmlformats.org/officeDocument/2006/relationships/font" Target="fonts/PoppinsMedium-italic.fntdata"/><Relationship Id="rId63" Type="http://schemas.openxmlformats.org/officeDocument/2006/relationships/font" Target="fonts/PoppinsMedium-bold.fntdata"/><Relationship Id="rId22" Type="http://schemas.openxmlformats.org/officeDocument/2006/relationships/slide" Target="slides/slide17.xml"/><Relationship Id="rId66" Type="http://schemas.openxmlformats.org/officeDocument/2006/relationships/font" Target="fonts/PoppinsSemiBold-regular.fntdata"/><Relationship Id="rId21" Type="http://schemas.openxmlformats.org/officeDocument/2006/relationships/slide" Target="slides/slide16.xml"/><Relationship Id="rId65" Type="http://schemas.openxmlformats.org/officeDocument/2006/relationships/font" Target="fonts/PoppinsMedium-boldItalic.fntdata"/><Relationship Id="rId24" Type="http://schemas.openxmlformats.org/officeDocument/2006/relationships/slide" Target="slides/slide19.xml"/><Relationship Id="rId68" Type="http://schemas.openxmlformats.org/officeDocument/2006/relationships/font" Target="fonts/PoppinsSemiBold-italic.fntdata"/><Relationship Id="rId23" Type="http://schemas.openxmlformats.org/officeDocument/2006/relationships/slide" Target="slides/slide18.xml"/><Relationship Id="rId67" Type="http://schemas.openxmlformats.org/officeDocument/2006/relationships/font" Target="fonts/PoppinsSemiBold-bold.fntdata"/><Relationship Id="rId60" Type="http://schemas.openxmlformats.org/officeDocument/2006/relationships/font" Target="fonts/PoppinsLight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PoppinsSemiBold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11" Type="http://schemas.openxmlformats.org/officeDocument/2006/relationships/slide" Target="slides/slide6.xml"/><Relationship Id="rId55" Type="http://schemas.openxmlformats.org/officeDocument/2006/relationships/font" Target="fonts/Poppins-bold.fntdata"/><Relationship Id="rId10" Type="http://schemas.openxmlformats.org/officeDocument/2006/relationships/slide" Target="slides/slide5.xml"/><Relationship Id="rId54" Type="http://schemas.openxmlformats.org/officeDocument/2006/relationships/font" Target="fonts/Poppins-regular.fntdata"/><Relationship Id="rId13" Type="http://schemas.openxmlformats.org/officeDocument/2006/relationships/slide" Target="slides/slide8.xml"/><Relationship Id="rId57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56" Type="http://schemas.openxmlformats.org/officeDocument/2006/relationships/font" Target="fonts/Poppins-italic.fntdata"/><Relationship Id="rId15" Type="http://schemas.openxmlformats.org/officeDocument/2006/relationships/slide" Target="slides/slide10.xml"/><Relationship Id="rId59" Type="http://schemas.openxmlformats.org/officeDocument/2006/relationships/font" Target="fonts/PoppinsLight-bold.fntdata"/><Relationship Id="rId14" Type="http://schemas.openxmlformats.org/officeDocument/2006/relationships/slide" Target="slides/slide9.xml"/><Relationship Id="rId58" Type="http://schemas.openxmlformats.org/officeDocument/2006/relationships/font" Target="fonts/PoppinsLight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afeea80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afeea80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Openweb ui for llm stack as a frontend tool, and various observability tools + langflow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0d927599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0d927599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d59abd64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d59abd64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0d9275998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0d9275998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d59abd64c_2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d59abd64c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c060f146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c060f146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cfd3f4321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cfd3f4321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It streamlines the deployment, monitoring, and management of end-to-end AI workflows using tools like OpenWebUI, LiteLLM, Langflow, Arize Phoenix, and HyperDX.</a:t>
            </a:r>
            <a:endParaRPr sz="8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cfd3f4321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cfd3f4321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0d9275998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a0d9275998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Ipv4,ipv6 and dual-stack networking for workloads</a:t>
            </a:r>
            <a:br>
              <a:rPr lang="en"/>
            </a:br>
            <a:br>
              <a:rPr lang="en"/>
            </a:br>
            <a:r>
              <a:rPr lang="en"/>
              <a:t>PCIe, we developed microservices to handle orchestration (who gets which device), network tunneling, monitoring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0d9275998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a0d927599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8bcd5378a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8bcd5378a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altos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thermofischer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roche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cisco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nutanix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stackpath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fungible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8afeea80c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8afeea80c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a0d9275998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a0d9275998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8c060f146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8c060f146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8c060f146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8c060f146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8afeea80c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8afeea80c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8afeea80c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8afeea80c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85e00731a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85e00731a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8afeea80c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8afeea80c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8afeea80c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8afeea80c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8afeea80c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8afeea80c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8afeea80c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8afeea80c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0d927599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a0d927599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a0d927599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a0d927599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0e573f538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a0e573f538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a0d927599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a0d927599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55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The Data Challenge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Data is scattered, technical, and hard to access.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Most users can’t write SQL or build visualizations.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Slow, inconsistent insights = missed opportunities.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a0d927599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a0d927599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0d927599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a0d927599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0d927599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a0d927599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a0d927599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a0d927599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a0d9275998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a0d9275998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a0d9275998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a0d9275998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a0d9275998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a0d9275998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0d9275998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a0d9275998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a0d9275998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a0d9275998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a0d9275998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a0d9275998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0d927599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a0d927599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a0d9275998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a0d9275998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a0d9275998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a0d9275998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0d9275998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a0d9275998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a0d9275998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a0d9275998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a0d9275998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a0d9275998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a0d9275998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a0d9275998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3 - Agenda">
  <p:cSld name="TITLE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12884" y="1039375"/>
            <a:ext cx="274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660A8"/>
              </a:buClr>
              <a:buSzPts val="1200"/>
              <a:buFont typeface="Poppins SemiBold"/>
              <a:buNone/>
              <a:defRPr sz="1200">
                <a:solidFill>
                  <a:srgbClr val="7660A8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12875" y="1354125"/>
            <a:ext cx="4530600" cy="27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Char char="●"/>
              <a:defRPr sz="12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048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○"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indent="-3048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●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048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○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048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■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048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●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048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○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048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■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.png"/><Relationship Id="rId22" Type="http://schemas.openxmlformats.org/officeDocument/2006/relationships/image" Target="../media/image25.png"/><Relationship Id="rId21" Type="http://schemas.openxmlformats.org/officeDocument/2006/relationships/image" Target="../media/image27.png"/><Relationship Id="rId24" Type="http://schemas.openxmlformats.org/officeDocument/2006/relationships/image" Target="../media/image28.png"/><Relationship Id="rId23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26" Type="http://schemas.openxmlformats.org/officeDocument/2006/relationships/image" Target="../media/image29.png"/><Relationship Id="rId25" Type="http://schemas.openxmlformats.org/officeDocument/2006/relationships/image" Target="../media/image21.png"/><Relationship Id="rId28" Type="http://schemas.openxmlformats.org/officeDocument/2006/relationships/image" Target="../media/image30.png"/><Relationship Id="rId27" Type="http://schemas.openxmlformats.org/officeDocument/2006/relationships/image" Target="../media/image38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29" Type="http://schemas.openxmlformats.org/officeDocument/2006/relationships/image" Target="../media/image60.png"/><Relationship Id="rId7" Type="http://schemas.openxmlformats.org/officeDocument/2006/relationships/image" Target="../media/image2.png"/><Relationship Id="rId8" Type="http://schemas.openxmlformats.org/officeDocument/2006/relationships/image" Target="../media/image4.png"/><Relationship Id="rId31" Type="http://schemas.openxmlformats.org/officeDocument/2006/relationships/image" Target="../media/image31.png"/><Relationship Id="rId30" Type="http://schemas.openxmlformats.org/officeDocument/2006/relationships/image" Target="../media/image33.png"/><Relationship Id="rId11" Type="http://schemas.openxmlformats.org/officeDocument/2006/relationships/image" Target="../media/image10.png"/><Relationship Id="rId10" Type="http://schemas.openxmlformats.org/officeDocument/2006/relationships/image" Target="../media/image7.png"/><Relationship Id="rId32" Type="http://schemas.openxmlformats.org/officeDocument/2006/relationships/image" Target="../media/image26.png"/><Relationship Id="rId13" Type="http://schemas.openxmlformats.org/officeDocument/2006/relationships/image" Target="../media/image18.png"/><Relationship Id="rId12" Type="http://schemas.openxmlformats.org/officeDocument/2006/relationships/image" Target="../media/image9.png"/><Relationship Id="rId15" Type="http://schemas.openxmlformats.org/officeDocument/2006/relationships/image" Target="../media/image12.png"/><Relationship Id="rId14" Type="http://schemas.openxmlformats.org/officeDocument/2006/relationships/image" Target="../media/image40.png"/><Relationship Id="rId17" Type="http://schemas.openxmlformats.org/officeDocument/2006/relationships/image" Target="../media/image17.png"/><Relationship Id="rId16" Type="http://schemas.openxmlformats.org/officeDocument/2006/relationships/image" Target="../media/image14.png"/><Relationship Id="rId19" Type="http://schemas.openxmlformats.org/officeDocument/2006/relationships/image" Target="../media/image35.png"/><Relationship Id="rId1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32.png"/><Relationship Id="rId5" Type="http://schemas.openxmlformats.org/officeDocument/2006/relationships/image" Target="../media/image19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23.xml"/><Relationship Id="rId4" Type="http://schemas.openxmlformats.org/officeDocument/2006/relationships/slide" Target="/ppt/slides/slide15.xml"/><Relationship Id="rId9" Type="http://schemas.openxmlformats.org/officeDocument/2006/relationships/slide" Target="/ppt/slides/slide20.xml"/><Relationship Id="rId5" Type="http://schemas.openxmlformats.org/officeDocument/2006/relationships/slide" Target="/ppt/slides/slide16.xml"/><Relationship Id="rId6" Type="http://schemas.openxmlformats.org/officeDocument/2006/relationships/slide" Target="/ppt/slides/slide17.xml"/><Relationship Id="rId7" Type="http://schemas.openxmlformats.org/officeDocument/2006/relationships/slide" Target="/ppt/slides/slide18.xml"/><Relationship Id="rId8" Type="http://schemas.openxmlformats.org/officeDocument/2006/relationships/slide" Target="/ppt/slides/slide19.xml"/><Relationship Id="rId11" Type="http://schemas.openxmlformats.org/officeDocument/2006/relationships/slide" Target="/ppt/slides/slide22.xml"/><Relationship Id="rId10" Type="http://schemas.openxmlformats.org/officeDocument/2006/relationships/slide" Target="/ppt/slides/slide21.xml"/><Relationship Id="rId12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9" Type="http://schemas.openxmlformats.org/officeDocument/2006/relationships/image" Target="../media/image34.png"/><Relationship Id="rId5" Type="http://schemas.openxmlformats.org/officeDocument/2006/relationships/image" Target="../media/image42.png"/><Relationship Id="rId6" Type="http://schemas.openxmlformats.org/officeDocument/2006/relationships/image" Target="../media/image74.png"/><Relationship Id="rId7" Type="http://schemas.openxmlformats.org/officeDocument/2006/relationships/image" Target="../media/image69.png"/><Relationship Id="rId8" Type="http://schemas.openxmlformats.org/officeDocument/2006/relationships/image" Target="../media/image46.png"/><Relationship Id="rId11" Type="http://schemas.openxmlformats.org/officeDocument/2006/relationships/image" Target="../media/image36.png"/><Relationship Id="rId10" Type="http://schemas.openxmlformats.org/officeDocument/2006/relationships/image" Target="../media/image15.png"/><Relationship Id="rId13" Type="http://schemas.openxmlformats.org/officeDocument/2006/relationships/image" Target="../media/image45.png"/><Relationship Id="rId12" Type="http://schemas.openxmlformats.org/officeDocument/2006/relationships/image" Target="../media/image61.png"/><Relationship Id="rId15" Type="http://schemas.openxmlformats.org/officeDocument/2006/relationships/image" Target="../media/image47.png"/><Relationship Id="rId14" Type="http://schemas.openxmlformats.org/officeDocument/2006/relationships/image" Target="../media/image56.png"/><Relationship Id="rId16" Type="http://schemas.openxmlformats.org/officeDocument/2006/relationships/image" Target="../media/image6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slide" Target="/ppt/slides/slide24.xml"/><Relationship Id="rId9" Type="http://schemas.openxmlformats.org/officeDocument/2006/relationships/slide" Target="/ppt/slides/slide42.xml"/><Relationship Id="rId5" Type="http://schemas.openxmlformats.org/officeDocument/2006/relationships/slide" Target="/ppt/slides/slide25.xml"/><Relationship Id="rId6" Type="http://schemas.openxmlformats.org/officeDocument/2006/relationships/slide" Target="/ppt/slides/slide26.xml"/><Relationship Id="rId7" Type="http://schemas.openxmlformats.org/officeDocument/2006/relationships/slide" Target="/ppt/slides/slide41.xml"/><Relationship Id="rId8" Type="http://schemas.openxmlformats.org/officeDocument/2006/relationships/slide" Target="/ppt/slides/slide39.xml"/><Relationship Id="rId11" Type="http://schemas.openxmlformats.org/officeDocument/2006/relationships/slide" Target="/ppt/slides/slide44.xml"/><Relationship Id="rId10" Type="http://schemas.openxmlformats.org/officeDocument/2006/relationships/slide" Target="/ppt/slides/slide43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27.xml"/><Relationship Id="rId4" Type="http://schemas.openxmlformats.org/officeDocument/2006/relationships/slide" Target="/ppt/slides/slide27.xml"/><Relationship Id="rId9" Type="http://schemas.openxmlformats.org/officeDocument/2006/relationships/slide" Target="/ppt/slides/slide35.xml"/><Relationship Id="rId5" Type="http://schemas.openxmlformats.org/officeDocument/2006/relationships/image" Target="../media/image1.png"/><Relationship Id="rId6" Type="http://schemas.openxmlformats.org/officeDocument/2006/relationships/slide" Target="/ppt/slides/slide33.xml"/><Relationship Id="rId7" Type="http://schemas.openxmlformats.org/officeDocument/2006/relationships/slide" Target="/ppt/slides/slide31.xml"/><Relationship Id="rId8" Type="http://schemas.openxmlformats.org/officeDocument/2006/relationships/slide" Target="/ppt/slides/slide37.xml"/><Relationship Id="rId11" Type="http://schemas.openxmlformats.org/officeDocument/2006/relationships/image" Target="../media/image43.png"/><Relationship Id="rId10" Type="http://schemas.openxmlformats.org/officeDocument/2006/relationships/slide" Target="/ppt/slides/slide29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9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50.png"/><Relationship Id="rId7" Type="http://schemas.openxmlformats.org/officeDocument/2006/relationships/image" Target="../media/image72.png"/><Relationship Id="rId8" Type="http://schemas.openxmlformats.org/officeDocument/2006/relationships/image" Target="../media/image71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slide" Target="/ppt/slides/slide7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slide" Target="/ppt/slides/slide7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slide" Target="/ppt/slides/slide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slide" Target="/ppt/slides/slide7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slide" Target="/ppt/slides/slide7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slide" Target="/ppt/slides/slide7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slide" Target="/ppt/slides/slide7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slide" Target="/ppt/slides/slide7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slide" Target="/ppt/slides/slide7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slide" Target="/ppt/slides/slide10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slide" Target="/ppt/slides/slide10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slide" Target="/ppt/slides/slide10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Relationship Id="rId4" Type="http://schemas.openxmlformats.org/officeDocument/2006/relationships/image" Target="../media/image67.png"/><Relationship Id="rId5" Type="http://schemas.openxmlformats.org/officeDocument/2006/relationships/image" Target="../media/image1.png"/><Relationship Id="rId6" Type="http://schemas.openxmlformats.org/officeDocument/2006/relationships/slide" Target="/ppt/slides/slide11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image" Target="../media/image67.png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R5qWTySs077rmKH6jZOXeSGQAZ1q0IIq/view" TargetMode="External"/><Relationship Id="rId7" Type="http://schemas.openxmlformats.org/officeDocument/2006/relationships/image" Target="../media/image73.jpg"/><Relationship Id="rId8" Type="http://schemas.openxmlformats.org/officeDocument/2006/relationships/slide" Target="/ppt/slides/slide11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slide" Target="/ppt/slides/slide11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slide" Target="/ppt/slides/slide11.xml"/><Relationship Id="rId6" Type="http://schemas.openxmlformats.org/officeDocument/2006/relationships/hyperlink" Target="http://drive.google.com/file/d/1NEqonvz14Ed_nKOwIt6oIHYOQEtrKrVX/view" TargetMode="External"/><Relationship Id="rId7" Type="http://schemas.openxmlformats.org/officeDocument/2006/relationships/image" Target="../media/image7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slide" Target="/ppt/slides/slide1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Relationship Id="rId4" Type="http://schemas.openxmlformats.org/officeDocument/2006/relationships/hyperlink" Target="http://drive.google.com/file/d/1_tNYpTY786gWUHSqjoDAv97bE7Zm-SoI/view" TargetMode="External"/><Relationship Id="rId5" Type="http://schemas.openxmlformats.org/officeDocument/2006/relationships/image" Target="../media/image62.jpg"/><Relationship Id="rId6" Type="http://schemas.openxmlformats.org/officeDocument/2006/relationships/image" Target="../media/image1.png"/><Relationship Id="rId7" Type="http://schemas.openxmlformats.org/officeDocument/2006/relationships/slide" Target="/ppt/slides/slide11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slide" Target="/ppt/slides/slide11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Relationship Id="rId4" Type="http://schemas.openxmlformats.org/officeDocument/2006/relationships/hyperlink" Target="http://drive.google.com/file/d/1SmuwCqgzuH_OqPwDVo2gJKKIqPOhDkIF/view" TargetMode="External"/><Relationship Id="rId5" Type="http://schemas.openxmlformats.org/officeDocument/2006/relationships/image" Target="../media/image63.jpg"/><Relationship Id="rId6" Type="http://schemas.openxmlformats.org/officeDocument/2006/relationships/image" Target="../media/image1.png"/><Relationship Id="rId7" Type="http://schemas.openxmlformats.org/officeDocument/2006/relationships/slide" Target="/ppt/slides/slide11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slide" Target="/ppt/slides/slide11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Relationship Id="rId4" Type="http://schemas.openxmlformats.org/officeDocument/2006/relationships/hyperlink" Target="http://drive.google.com/file/d/1O8FcdG9U1hi1Kwv-s45YwtkpZFwkwAPa/view" TargetMode="External"/><Relationship Id="rId5" Type="http://schemas.openxmlformats.org/officeDocument/2006/relationships/image" Target="../media/image57.jpg"/><Relationship Id="rId6" Type="http://schemas.openxmlformats.org/officeDocument/2006/relationships/image" Target="../media/image1.png"/><Relationship Id="rId7" Type="http://schemas.openxmlformats.org/officeDocument/2006/relationships/slide" Target="/ppt/slides/slide11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slide" Target="/ppt/slides/slide11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Relationship Id="rId4" Type="http://schemas.openxmlformats.org/officeDocument/2006/relationships/hyperlink" Target="http://drive.google.com/file/d/1PQ2R9bRDlNtIy-iJA4Y5UfWVzy3F78Jt/view" TargetMode="External"/><Relationship Id="rId5" Type="http://schemas.openxmlformats.org/officeDocument/2006/relationships/image" Target="../media/image65.jpg"/><Relationship Id="rId6" Type="http://schemas.openxmlformats.org/officeDocument/2006/relationships/image" Target="../media/image1.png"/><Relationship Id="rId7" Type="http://schemas.openxmlformats.org/officeDocument/2006/relationships/slide" Target="/ppt/slides/slide11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slide" Target="/ppt/slides/slide10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slide" Target="/ppt/slides/slide10.xml"/><Relationship Id="rId5" Type="http://schemas.openxmlformats.org/officeDocument/2006/relationships/image" Target="../media/image6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slide" Target="/ppt/slides/slide10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slide" Target="/ppt/slides/slide10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slide" Target="/ppt/slides/slide10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slide" Target="/ppt/slides/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4007551" y="46656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282750" y="2761163"/>
            <a:ext cx="85785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Empowering Enterprise AI on Kubernetes</a:t>
            </a:r>
            <a:endParaRPr b="1" sz="30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" name="Google Shape;59;p14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963" y="1645838"/>
            <a:ext cx="3166075" cy="85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Empowering Enterprise AI on Kubernetes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79150" y="1003075"/>
            <a:ext cx="8585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Backed by 7+ years of Kubernetes expertise, DKube has delivered multiple customer solutions and built robust platforms for MLOps, LLMOps, and AI.</a:t>
            </a:r>
            <a:endParaRPr sz="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9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Our Platforms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79150" y="2221713"/>
            <a:ext cx="2828100" cy="2327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end-to-end k8s-based MLOps platform that enables data scientists to build,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rain, and deploy complex ML models.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107250" y="2221713"/>
            <a:ext cx="2871900" cy="23271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k8s-based enterprise-grade private AI platform to build, deploy, and scale Generative AI and ML securely within your infrastructure.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5965750" y="2221713"/>
            <a:ext cx="2871900" cy="2327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Stack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k8s-based rapid AI solution development platform with prebuilt tools for AI workflow automation, secure user access, observability and model serving.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79150" y="100307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enterprise-ready,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Kubernetes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-native MLOps platform that enables data engineers, data scientists, ML engineers and production engineers to build, train, deploy, and monitor models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— on-premises or in the cloud.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Unified MLOps Stack: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Combines data preparation, training, deployment, and monitoring in one platform.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 &amp; Flexible: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Built on open-source frameworks like Kubeflow and MLflow for portability and seamless integration.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Hybrid Deployment: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Runs seamlessly across on-prem and cloud environments (EKS, AKS, GKE).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Enterprise-Grade Security: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Ensures compliance, governance, and secure access across all ML workflows.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251950" y="713663"/>
            <a:ext cx="8585700" cy="3876300"/>
          </a:xfrm>
          <a:prstGeom prst="roundRect">
            <a:avLst>
              <a:gd fmla="val 3725" name="adj"/>
            </a:avLst>
          </a:prstGeom>
          <a:noFill/>
          <a:ln cap="flat" cmpd="sng" w="9525">
            <a:solidFill>
              <a:srgbClr val="7660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 Architecture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54125" y="3885775"/>
            <a:ext cx="8375700" cy="615600"/>
          </a:xfrm>
          <a:prstGeom prst="roundRect">
            <a:avLst>
              <a:gd fmla="val 16667" name="adj"/>
            </a:avLst>
          </a:prstGeom>
          <a:noFill/>
          <a:ln cap="flat" cmpd="sng" w="86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/>
          </a:p>
        </p:txBody>
      </p:sp>
      <p:sp>
        <p:nvSpPr>
          <p:cNvPr id="91" name="Google Shape;91;p17"/>
          <p:cNvSpPr txBox="1"/>
          <p:nvPr/>
        </p:nvSpPr>
        <p:spPr>
          <a:xfrm>
            <a:off x="7170919" y="4077002"/>
            <a:ext cx="14757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93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 b="1" sz="993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54125" y="3311829"/>
            <a:ext cx="8375700" cy="520200"/>
          </a:xfrm>
          <a:prstGeom prst="roundRect">
            <a:avLst>
              <a:gd fmla="val 16667" name="adj"/>
            </a:avLst>
          </a:prstGeom>
          <a:noFill/>
          <a:ln cap="flat" cmpd="sng" w="7275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sp>
        <p:nvSpPr>
          <p:cNvPr id="93" name="Google Shape;93;p17"/>
          <p:cNvSpPr txBox="1"/>
          <p:nvPr/>
        </p:nvSpPr>
        <p:spPr>
          <a:xfrm>
            <a:off x="7689665" y="3456730"/>
            <a:ext cx="965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93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Storage</a:t>
            </a:r>
            <a:endParaRPr b="1" sz="993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7" title="image 1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400" y="3925609"/>
            <a:ext cx="1216115" cy="51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4585675" y="4085275"/>
            <a:ext cx="163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96" name="Google Shape;96;p17"/>
          <p:cNvGrpSpPr/>
          <p:nvPr/>
        </p:nvGrpSpPr>
        <p:grpSpPr>
          <a:xfrm>
            <a:off x="3998755" y="3977613"/>
            <a:ext cx="2378724" cy="416871"/>
            <a:chOff x="4009123" y="3953150"/>
            <a:chExt cx="2380152" cy="415500"/>
          </a:xfrm>
        </p:grpSpPr>
        <p:pic>
          <p:nvPicPr>
            <p:cNvPr id="97" name="Google Shape;97;p17" title="image 157.png"/>
            <p:cNvPicPr preferRelativeResize="0"/>
            <p:nvPr/>
          </p:nvPicPr>
          <p:blipFill rotWithShape="1">
            <a:blip r:embed="rId5">
              <a:alphaModFix/>
            </a:blip>
            <a:srcRect b="0" l="0" r="82076" t="0"/>
            <a:stretch/>
          </p:blipFill>
          <p:spPr>
            <a:xfrm>
              <a:off x="4009123" y="3953150"/>
              <a:ext cx="423203" cy="41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7"/>
            <p:cNvSpPr txBox="1"/>
            <p:nvPr/>
          </p:nvSpPr>
          <p:spPr>
            <a:xfrm>
              <a:off x="4414675" y="4010150"/>
              <a:ext cx="19746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800" lIns="69800" spcFirstLastPara="1" rIns="69800" wrap="square" tIns="6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40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Community Kubernetes</a:t>
              </a:r>
              <a:endParaRPr sz="84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99" name="Google Shape;99;p17"/>
          <p:cNvGrpSpPr/>
          <p:nvPr/>
        </p:nvGrpSpPr>
        <p:grpSpPr>
          <a:xfrm>
            <a:off x="1900217" y="3926068"/>
            <a:ext cx="2025634" cy="519960"/>
            <a:chOff x="1909325" y="3901775"/>
            <a:chExt cx="2026850" cy="518250"/>
          </a:xfrm>
        </p:grpSpPr>
        <p:pic>
          <p:nvPicPr>
            <p:cNvPr id="100" name="Google Shape;100;p17" title="image 179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09325" y="3901775"/>
              <a:ext cx="518250" cy="51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7"/>
            <p:cNvSpPr txBox="1"/>
            <p:nvPr/>
          </p:nvSpPr>
          <p:spPr>
            <a:xfrm>
              <a:off x="2357275" y="4010150"/>
              <a:ext cx="15789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800" lIns="69800" spcFirstLastPara="1" rIns="69800" wrap="square" tIns="6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40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Google Kubernetes Engine</a:t>
              </a:r>
              <a:endParaRPr sz="84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02" name="Google Shape;102;p17"/>
          <p:cNvGrpSpPr/>
          <p:nvPr/>
        </p:nvGrpSpPr>
        <p:grpSpPr>
          <a:xfrm>
            <a:off x="3186336" y="3405858"/>
            <a:ext cx="1305385" cy="332234"/>
            <a:chOff x="6389273" y="3191150"/>
            <a:chExt cx="1500098" cy="415500"/>
          </a:xfrm>
        </p:grpSpPr>
        <p:pic>
          <p:nvPicPr>
            <p:cNvPr id="103" name="Google Shape;103;p17" title="image 157.png"/>
            <p:cNvPicPr preferRelativeResize="0"/>
            <p:nvPr/>
          </p:nvPicPr>
          <p:blipFill rotWithShape="1">
            <a:blip r:embed="rId5">
              <a:alphaModFix/>
            </a:blip>
            <a:srcRect b="0" l="0" r="82076" t="0"/>
            <a:stretch/>
          </p:blipFill>
          <p:spPr>
            <a:xfrm>
              <a:off x="6389273" y="3191150"/>
              <a:ext cx="423203" cy="41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17"/>
            <p:cNvSpPr txBox="1"/>
            <p:nvPr/>
          </p:nvSpPr>
          <p:spPr>
            <a:xfrm>
              <a:off x="6804272" y="3248150"/>
              <a:ext cx="10851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775" lIns="60775" spcFirstLastPara="1" rIns="60775" wrap="square" tIns="60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31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Kubernetes Volumes</a:t>
              </a:r>
              <a:endParaRPr sz="731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pic>
        <p:nvPicPr>
          <p:cNvPr id="105" name="Google Shape;105;p17"/>
          <p:cNvPicPr preferRelativeResize="0"/>
          <p:nvPr/>
        </p:nvPicPr>
        <p:blipFill rotWithShape="1">
          <a:blip r:embed="rId7">
            <a:alphaModFix/>
          </a:blip>
          <a:srcRect b="7493" l="0" r="0" t="0"/>
          <a:stretch/>
        </p:blipFill>
        <p:spPr>
          <a:xfrm>
            <a:off x="428325" y="3319925"/>
            <a:ext cx="585580" cy="5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 rotWithShape="1">
          <a:blip r:embed="rId8">
            <a:alphaModFix/>
          </a:blip>
          <a:srcRect b="21371" l="21025" r="21025" t="10570"/>
          <a:stretch/>
        </p:blipFill>
        <p:spPr>
          <a:xfrm>
            <a:off x="1191527" y="3361004"/>
            <a:ext cx="455879" cy="453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34560" y="3341714"/>
            <a:ext cx="423423" cy="4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50903" y="3418768"/>
            <a:ext cx="400968" cy="30641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2619222" y="3459242"/>
            <a:ext cx="585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775" lIns="60775" spcFirstLastPara="1" rIns="60775" wrap="square" tIns="6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1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GCP PD</a:t>
            </a:r>
            <a:endParaRPr sz="73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54125" y="1630675"/>
            <a:ext cx="8375700" cy="1627500"/>
          </a:xfrm>
          <a:prstGeom prst="roundRect">
            <a:avLst>
              <a:gd fmla="val 3992" name="adj"/>
            </a:avLst>
          </a:prstGeom>
          <a:noFill/>
          <a:ln cap="flat" cmpd="sng" w="7275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sp>
        <p:nvSpPr>
          <p:cNvPr id="111" name="Google Shape;111;p17"/>
          <p:cNvSpPr txBox="1"/>
          <p:nvPr/>
        </p:nvSpPr>
        <p:spPr>
          <a:xfrm>
            <a:off x="7527077" y="2329366"/>
            <a:ext cx="1128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93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MLaaS Components</a:t>
            </a:r>
            <a:endParaRPr b="1" sz="993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2" name="Google Shape;112;p17"/>
          <p:cNvGrpSpPr/>
          <p:nvPr/>
        </p:nvGrpSpPr>
        <p:grpSpPr>
          <a:xfrm>
            <a:off x="7008511" y="1675866"/>
            <a:ext cx="604835" cy="1537240"/>
            <a:chOff x="6783725" y="2037688"/>
            <a:chExt cx="605198" cy="883979"/>
          </a:xfrm>
        </p:grpSpPr>
        <p:grpSp>
          <p:nvGrpSpPr>
            <p:cNvPr id="113" name="Google Shape;113;p17"/>
            <p:cNvGrpSpPr/>
            <p:nvPr/>
          </p:nvGrpSpPr>
          <p:grpSpPr>
            <a:xfrm>
              <a:off x="6783725" y="2037688"/>
              <a:ext cx="605198" cy="883979"/>
              <a:chOff x="2585830" y="2312630"/>
              <a:chExt cx="2061300" cy="926700"/>
            </a:xfrm>
          </p:grpSpPr>
          <p:sp>
            <p:nvSpPr>
              <p:cNvPr id="114" name="Google Shape;114;p17"/>
              <p:cNvSpPr/>
              <p:nvPr/>
            </p:nvSpPr>
            <p:spPr>
              <a:xfrm>
                <a:off x="2585830" y="2312630"/>
                <a:ext cx="2061300" cy="926700"/>
              </a:xfrm>
              <a:prstGeom prst="roundRect">
                <a:avLst>
                  <a:gd fmla="val 6533" name="adj"/>
                </a:avLst>
              </a:prstGeom>
              <a:noFill/>
              <a:ln cap="flat" cmpd="sng" w="7275">
                <a:solidFill>
                  <a:srgbClr val="9483BA"/>
                </a:solidFill>
                <a:prstDash val="dot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69800" lIns="69800" spcFirstLastPara="1" rIns="69800" wrap="square" tIns="698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69"/>
              </a:p>
            </p:txBody>
          </p:sp>
          <p:sp>
            <p:nvSpPr>
              <p:cNvPr id="115" name="Google Shape;115;p17"/>
              <p:cNvSpPr txBox="1"/>
              <p:nvPr/>
            </p:nvSpPr>
            <p:spPr>
              <a:xfrm rot="-5400000">
                <a:off x="3369260" y="1861925"/>
                <a:ext cx="494400" cy="14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800" lIns="69800" spcFirstLastPara="1" rIns="69800" wrap="square" tIns="69800">
                <a:sp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7660A8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Load-</a:t>
                </a:r>
                <a:endParaRPr sz="95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7660A8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balancer</a:t>
                </a:r>
                <a:endParaRPr sz="95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pic>
          <p:nvPicPr>
            <p:cNvPr id="116" name="Google Shape;116;p17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917231" y="2554978"/>
              <a:ext cx="338153" cy="2547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" name="Google Shape;117;p17"/>
          <p:cNvGrpSpPr/>
          <p:nvPr/>
        </p:nvGrpSpPr>
        <p:grpSpPr>
          <a:xfrm>
            <a:off x="6363246" y="1675712"/>
            <a:ext cx="604785" cy="1537210"/>
            <a:chOff x="6439396" y="1683962"/>
            <a:chExt cx="604785" cy="1537210"/>
          </a:xfrm>
        </p:grpSpPr>
        <p:grpSp>
          <p:nvGrpSpPr>
            <p:cNvPr id="118" name="Google Shape;118;p17"/>
            <p:cNvGrpSpPr/>
            <p:nvPr/>
          </p:nvGrpSpPr>
          <p:grpSpPr>
            <a:xfrm>
              <a:off x="6439396" y="1683962"/>
              <a:ext cx="604785" cy="1537210"/>
              <a:chOff x="2585830" y="2312630"/>
              <a:chExt cx="2061300" cy="926700"/>
            </a:xfrm>
          </p:grpSpPr>
          <p:sp>
            <p:nvSpPr>
              <p:cNvPr id="119" name="Google Shape;119;p17"/>
              <p:cNvSpPr/>
              <p:nvPr/>
            </p:nvSpPr>
            <p:spPr>
              <a:xfrm>
                <a:off x="2585830" y="2312630"/>
                <a:ext cx="2061300" cy="926700"/>
              </a:xfrm>
              <a:prstGeom prst="roundRect">
                <a:avLst>
                  <a:gd fmla="val 6533" name="adj"/>
                </a:avLst>
              </a:prstGeom>
              <a:noFill/>
              <a:ln cap="flat" cmpd="sng" w="7275">
                <a:solidFill>
                  <a:srgbClr val="9483BA"/>
                </a:solidFill>
                <a:prstDash val="dot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69800" lIns="69800" spcFirstLastPara="1" rIns="69800" wrap="square" tIns="698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69"/>
              </a:p>
            </p:txBody>
          </p:sp>
          <p:sp>
            <p:nvSpPr>
              <p:cNvPr id="120" name="Google Shape;120;p17"/>
              <p:cNvSpPr txBox="1"/>
              <p:nvPr/>
            </p:nvSpPr>
            <p:spPr>
              <a:xfrm rot="-5400000">
                <a:off x="3339297" y="2142283"/>
                <a:ext cx="554400" cy="97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800" lIns="69800" spcFirstLastPara="1" rIns="69800" wrap="square" tIns="69800">
                <a:sp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7660A8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Ingress</a:t>
                </a:r>
                <a:endParaRPr sz="95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pic>
          <p:nvPicPr>
            <p:cNvPr id="121" name="Google Shape;121;p17"/>
            <p:cNvPicPr preferRelativeResize="0"/>
            <p:nvPr/>
          </p:nvPicPr>
          <p:blipFill rotWithShape="1">
            <a:blip r:embed="rId12">
              <a:alphaModFix/>
            </a:blip>
            <a:srcRect b="8965" l="36326" r="36581" t="7868"/>
            <a:stretch/>
          </p:blipFill>
          <p:spPr>
            <a:xfrm>
              <a:off x="6572801" y="2545119"/>
              <a:ext cx="337949" cy="5202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4888453" y="1686972"/>
            <a:ext cx="1434498" cy="740248"/>
            <a:chOff x="2585824" y="2312619"/>
            <a:chExt cx="1112100" cy="926700"/>
          </a:xfrm>
        </p:grpSpPr>
        <p:sp>
          <p:nvSpPr>
            <p:cNvPr id="123" name="Google Shape;123;p17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9525">
              <a:solidFill>
                <a:srgbClr val="9483BA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2624433" y="2548732"/>
              <a:ext cx="1025700" cy="4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DKube Controller</a:t>
              </a:r>
              <a:endParaRPr sz="1000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3401795" y="1687071"/>
            <a:ext cx="1434498" cy="740297"/>
            <a:chOff x="2585823" y="2378305"/>
            <a:chExt cx="1112100" cy="861010"/>
          </a:xfrm>
        </p:grpSpPr>
        <p:sp>
          <p:nvSpPr>
            <p:cNvPr id="126" name="Google Shape;126;p17"/>
            <p:cNvSpPr/>
            <p:nvPr/>
          </p:nvSpPr>
          <p:spPr>
            <a:xfrm>
              <a:off x="2585823" y="2378315"/>
              <a:ext cx="1112100" cy="861000"/>
            </a:xfrm>
            <a:prstGeom prst="roundRect">
              <a:avLst>
                <a:gd fmla="val 6533" name="adj"/>
              </a:avLst>
            </a:prstGeom>
            <a:noFill/>
            <a:ln cap="flat" cmpd="sng" w="9525">
              <a:solidFill>
                <a:srgbClr val="9483BA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2629024" y="2378305"/>
              <a:ext cx="10257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Version Controller</a:t>
              </a:r>
              <a:endParaRPr sz="800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1915151" y="1686972"/>
            <a:ext cx="1434498" cy="740248"/>
            <a:chOff x="2585824" y="2312619"/>
            <a:chExt cx="1112100" cy="926700"/>
          </a:xfrm>
        </p:grpSpPr>
        <p:sp>
          <p:nvSpPr>
            <p:cNvPr id="129" name="Google Shape;129;p17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9525">
              <a:solidFill>
                <a:srgbClr val="9483BA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2634414" y="2426233"/>
              <a:ext cx="1025700" cy="1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Job/Workflow Controller</a:t>
              </a:r>
              <a:endParaRPr sz="800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428500" y="1675901"/>
            <a:ext cx="1434498" cy="751318"/>
            <a:chOff x="2585824" y="2298760"/>
            <a:chExt cx="1112100" cy="940559"/>
          </a:xfrm>
        </p:grpSpPr>
        <p:sp>
          <p:nvSpPr>
            <p:cNvPr id="132" name="Google Shape;132;p17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9525">
              <a:solidFill>
                <a:srgbClr val="9483BA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2647284" y="2298760"/>
              <a:ext cx="1025700" cy="3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Metrics Controller</a:t>
              </a:r>
              <a:endParaRPr sz="800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34" name="Google Shape;134;p17"/>
          <p:cNvGrpSpPr/>
          <p:nvPr/>
        </p:nvGrpSpPr>
        <p:grpSpPr>
          <a:xfrm>
            <a:off x="4888278" y="2461829"/>
            <a:ext cx="1434498" cy="751318"/>
            <a:chOff x="2585824" y="2298760"/>
            <a:chExt cx="1112100" cy="940559"/>
          </a:xfrm>
        </p:grpSpPr>
        <p:sp>
          <p:nvSpPr>
            <p:cNvPr id="135" name="Google Shape;135;p17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9525">
              <a:solidFill>
                <a:srgbClr val="9483BA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2647284" y="2298760"/>
              <a:ext cx="1025700" cy="3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AuthN Controller</a:t>
              </a:r>
              <a:endParaRPr sz="800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3401627" y="2461829"/>
            <a:ext cx="1434498" cy="751318"/>
            <a:chOff x="2585824" y="2298760"/>
            <a:chExt cx="1112100" cy="940559"/>
          </a:xfrm>
        </p:grpSpPr>
        <p:sp>
          <p:nvSpPr>
            <p:cNvPr id="138" name="Google Shape;138;p17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9525">
              <a:solidFill>
                <a:srgbClr val="9483BA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2647284" y="2298760"/>
              <a:ext cx="1025700" cy="3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DB Server</a:t>
              </a:r>
              <a:endParaRPr sz="800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1914976" y="2461829"/>
            <a:ext cx="1434498" cy="751318"/>
            <a:chOff x="2585824" y="2298760"/>
            <a:chExt cx="1112100" cy="940559"/>
          </a:xfrm>
        </p:grpSpPr>
        <p:sp>
          <p:nvSpPr>
            <p:cNvPr id="141" name="Google Shape;141;p17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9525">
              <a:solidFill>
                <a:srgbClr val="9483BA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2647284" y="2298760"/>
              <a:ext cx="1025700" cy="3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Storage Controller</a:t>
              </a:r>
              <a:endParaRPr sz="800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428325" y="2461829"/>
            <a:ext cx="1434498" cy="751318"/>
            <a:chOff x="2585824" y="2298760"/>
            <a:chExt cx="1112100" cy="940559"/>
          </a:xfrm>
        </p:grpSpPr>
        <p:sp>
          <p:nvSpPr>
            <p:cNvPr id="144" name="Google Shape;144;p17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9525">
              <a:solidFill>
                <a:srgbClr val="9483BA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2647284" y="2298760"/>
              <a:ext cx="1025700" cy="3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Log Controller</a:t>
              </a:r>
              <a:endParaRPr sz="800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pic>
        <p:nvPicPr>
          <p:cNvPr id="146" name="Google Shape;146;p1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6999" y="1900900"/>
            <a:ext cx="1036934" cy="462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7"/>
          <p:cNvGrpSpPr/>
          <p:nvPr/>
        </p:nvGrpSpPr>
        <p:grpSpPr>
          <a:xfrm>
            <a:off x="1950188" y="2703362"/>
            <a:ext cx="401100" cy="433500"/>
            <a:chOff x="1950188" y="2703362"/>
            <a:chExt cx="401100" cy="433500"/>
          </a:xfrm>
        </p:grpSpPr>
        <p:pic>
          <p:nvPicPr>
            <p:cNvPr id="148" name="Google Shape;148;p1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992139" y="2703362"/>
              <a:ext cx="317174" cy="301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17"/>
            <p:cNvSpPr txBox="1"/>
            <p:nvPr/>
          </p:nvSpPr>
          <p:spPr>
            <a:xfrm>
              <a:off x="1950188" y="2994363"/>
              <a:ext cx="401100" cy="14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800" lIns="69800" spcFirstLastPara="1" rIns="69800" wrap="square" tIns="6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40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Object Store</a:t>
              </a:r>
              <a:endParaRPr sz="54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pic>
        <p:nvPicPr>
          <p:cNvPr id="150" name="Google Shape;150;p1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438715" y="2792699"/>
            <a:ext cx="401250" cy="18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024604" y="2761012"/>
            <a:ext cx="155416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2948263" y="2967100"/>
            <a:ext cx="3081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File System</a:t>
            </a:r>
            <a:endParaRPr sz="54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013475" y="1953800"/>
            <a:ext cx="401250" cy="40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438725" y="2025675"/>
            <a:ext cx="257500" cy="2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2696228" y="2039225"/>
            <a:ext cx="523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Kubeflow Pipelines</a:t>
            </a:r>
            <a:endParaRPr sz="64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950148" y="2010460"/>
            <a:ext cx="207875" cy="20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635642" y="2801413"/>
            <a:ext cx="345600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172475" y="2747096"/>
            <a:ext cx="368550" cy="339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989878" y="2801305"/>
            <a:ext cx="285114" cy="25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457115" y="2777739"/>
            <a:ext cx="285125" cy="28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898700" y="3008650"/>
            <a:ext cx="308100" cy="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Local</a:t>
            </a:r>
            <a:endParaRPr sz="54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948802" y="2780438"/>
            <a:ext cx="207875" cy="17818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/>
          <p:nvPr/>
        </p:nvSpPr>
        <p:spPr>
          <a:xfrm>
            <a:off x="6073475" y="824750"/>
            <a:ext cx="2656500" cy="751200"/>
          </a:xfrm>
          <a:prstGeom prst="roundRect">
            <a:avLst>
              <a:gd fmla="val 16667" name="adj"/>
            </a:avLst>
          </a:prstGeom>
          <a:noFill/>
          <a:ln cap="flat" cmpd="sng" w="7275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sp>
        <p:nvSpPr>
          <p:cNvPr id="164" name="Google Shape;164;p17"/>
          <p:cNvSpPr txBox="1"/>
          <p:nvPr/>
        </p:nvSpPr>
        <p:spPr>
          <a:xfrm>
            <a:off x="7689675" y="1034050"/>
            <a:ext cx="9654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93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MLaaS Apps</a:t>
            </a:r>
            <a:endParaRPr b="1" sz="993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7170937" y="932223"/>
            <a:ext cx="462224" cy="536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6256587" y="967784"/>
            <a:ext cx="672474" cy="23590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354025" y="825825"/>
            <a:ext cx="5660700" cy="751200"/>
          </a:xfrm>
          <a:prstGeom prst="roundRect">
            <a:avLst>
              <a:gd fmla="val 16667" name="adj"/>
            </a:avLst>
          </a:prstGeom>
          <a:noFill/>
          <a:ln cap="flat" cmpd="sng" w="7275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sp>
        <p:nvSpPr>
          <p:cNvPr id="168" name="Google Shape;168;p17"/>
          <p:cNvSpPr txBox="1"/>
          <p:nvPr/>
        </p:nvSpPr>
        <p:spPr>
          <a:xfrm>
            <a:off x="428273" y="1054650"/>
            <a:ext cx="672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93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MLaaS Objects</a:t>
            </a:r>
            <a:endParaRPr b="1" sz="993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9" name="Google Shape;169;p17"/>
          <p:cNvGrpSpPr/>
          <p:nvPr/>
        </p:nvGrpSpPr>
        <p:grpSpPr>
          <a:xfrm>
            <a:off x="1143595" y="894101"/>
            <a:ext cx="1434498" cy="615607"/>
            <a:chOff x="2585824" y="2312619"/>
            <a:chExt cx="1112100" cy="926700"/>
          </a:xfrm>
        </p:grpSpPr>
        <p:sp>
          <p:nvSpPr>
            <p:cNvPr id="170" name="Google Shape;170;p17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9525">
              <a:solidFill>
                <a:srgbClr val="9483BA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2634414" y="2426233"/>
              <a:ext cx="10257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Project (Code)</a:t>
              </a:r>
              <a:endParaRPr sz="800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pic>
        <p:nvPicPr>
          <p:cNvPr id="172" name="Google Shape;172;p17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1215801" y="1200906"/>
            <a:ext cx="368550" cy="153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1584354" y="1093563"/>
            <a:ext cx="368550" cy="3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1952907" y="1210113"/>
            <a:ext cx="543388" cy="135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7"/>
          <p:cNvGrpSpPr/>
          <p:nvPr/>
        </p:nvGrpSpPr>
        <p:grpSpPr>
          <a:xfrm>
            <a:off x="2667349" y="900617"/>
            <a:ext cx="3231207" cy="615607"/>
            <a:chOff x="2585824" y="2312619"/>
            <a:chExt cx="1112100" cy="926700"/>
          </a:xfrm>
        </p:grpSpPr>
        <p:sp>
          <p:nvSpPr>
            <p:cNvPr id="176" name="Google Shape;176;p17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9525">
              <a:solidFill>
                <a:srgbClr val="9483BA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2634414" y="2426233"/>
              <a:ext cx="10257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Dataset / Model</a:t>
              </a:r>
              <a:endParaRPr sz="800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pic>
        <p:nvPicPr>
          <p:cNvPr id="178" name="Google Shape;178;p17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2773701" y="1213081"/>
            <a:ext cx="368550" cy="153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3337848" y="1138714"/>
            <a:ext cx="155425" cy="18592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3215075" y="1344250"/>
            <a:ext cx="401100" cy="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S3 Buckets</a:t>
            </a:r>
            <a:endParaRPr sz="54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81" name="Google Shape;181;p17"/>
          <p:cNvPicPr preferRelativeResize="0"/>
          <p:nvPr/>
        </p:nvPicPr>
        <p:blipFill rotWithShape="1">
          <a:blip r:embed="rId29">
            <a:alphaModFix/>
          </a:blip>
          <a:srcRect b="15690" l="24163" r="24085" t="15704"/>
          <a:stretch/>
        </p:blipFill>
        <p:spPr>
          <a:xfrm>
            <a:off x="3774200" y="1152763"/>
            <a:ext cx="174126" cy="15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3660725" y="1344238"/>
            <a:ext cx="401100" cy="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GCS Bucket</a:t>
            </a:r>
            <a:endParaRPr sz="54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183" name="Google Shape;183;p17"/>
          <p:cNvGrpSpPr/>
          <p:nvPr/>
        </p:nvGrpSpPr>
        <p:grpSpPr>
          <a:xfrm>
            <a:off x="4187625" y="1218763"/>
            <a:ext cx="672644" cy="166200"/>
            <a:chOff x="6389273" y="3191150"/>
            <a:chExt cx="1500098" cy="415500"/>
          </a:xfrm>
        </p:grpSpPr>
        <p:pic>
          <p:nvPicPr>
            <p:cNvPr id="184" name="Google Shape;184;p17" title="image 157.png"/>
            <p:cNvPicPr preferRelativeResize="0"/>
            <p:nvPr/>
          </p:nvPicPr>
          <p:blipFill rotWithShape="1">
            <a:blip r:embed="rId5">
              <a:alphaModFix/>
            </a:blip>
            <a:srcRect b="0" l="0" r="82076" t="0"/>
            <a:stretch/>
          </p:blipFill>
          <p:spPr>
            <a:xfrm>
              <a:off x="6389273" y="3191150"/>
              <a:ext cx="423203" cy="41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7"/>
            <p:cNvSpPr txBox="1"/>
            <p:nvPr/>
          </p:nvSpPr>
          <p:spPr>
            <a:xfrm>
              <a:off x="6804272" y="3248150"/>
              <a:ext cx="10851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325" lIns="31325" spcFirstLastPara="1" rIns="31325" wrap="square" tIns="31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Kubernetes Volumes</a:t>
              </a:r>
              <a:endParaRPr sz="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pic>
        <p:nvPicPr>
          <p:cNvPr id="186" name="Google Shape;186;p17"/>
          <p:cNvPicPr preferRelativeResize="0"/>
          <p:nvPr/>
        </p:nvPicPr>
        <p:blipFill rotWithShape="1">
          <a:blip r:embed="rId7">
            <a:alphaModFix/>
          </a:blip>
          <a:srcRect b="7493" l="0" r="0" t="0"/>
          <a:stretch/>
        </p:blipFill>
        <p:spPr>
          <a:xfrm>
            <a:off x="4836303" y="1135675"/>
            <a:ext cx="388818" cy="33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5358510" y="1077648"/>
            <a:ext cx="308100" cy="3080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5312013" y="1344238"/>
            <a:ext cx="401100" cy="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Web URL</a:t>
            </a:r>
            <a:endParaRPr sz="54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89" name="Google Shape;189;p17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6164883" y="1281862"/>
            <a:ext cx="950383" cy="2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722713" y="2763925"/>
            <a:ext cx="845727" cy="33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/>
        </p:nvSpPr>
        <p:spPr>
          <a:xfrm>
            <a:off x="3900038" y="2267688"/>
            <a:ext cx="308100" cy="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Local</a:t>
            </a:r>
            <a:endParaRPr sz="54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97" name="Google Shape;1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 - A Kubernetes Based Platform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279150" y="100307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Our enterprise-grade private AI platform to build, deploy, and scale MLOps, LLMOps and generative AI workflows securely on your infrastructure — built on Kubernetes for simplified AI operations with strong security, governance, and cost efficiency.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runs seamlessly on any Kubernetes environment, offering flexibility and portability.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Supported Environments: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On-Prem / Private Clouds: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RKE2, and other Kubernetes distributions for organizations running within their own datacenters or private infrastructure.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Public Clouds: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AWS EKS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Azure AKS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offering multi-cloud support and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cloud-agnostic deployment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major providers.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2381391" y="4760371"/>
            <a:ext cx="6170400" cy="15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87400" lIns="87400" spcFirstLastPara="1" rIns="87400" wrap="square" tIns="8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8"/>
          </a:p>
        </p:txBody>
      </p:sp>
      <p:sp>
        <p:nvSpPr>
          <p:cNvPr id="206" name="Google Shape;206;p19"/>
          <p:cNvSpPr/>
          <p:nvPr/>
        </p:nvSpPr>
        <p:spPr>
          <a:xfrm>
            <a:off x="1797445" y="741450"/>
            <a:ext cx="6360300" cy="3918000"/>
          </a:xfrm>
          <a:prstGeom prst="roundRect">
            <a:avLst>
              <a:gd fmla="val 891" name="adj"/>
            </a:avLst>
          </a:prstGeom>
          <a:noFill/>
          <a:ln cap="flat" cmpd="sng" w="8000">
            <a:solidFill>
              <a:srgbClr val="7F7F7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07" name="Google Shape;207;p19"/>
          <p:cNvSpPr/>
          <p:nvPr/>
        </p:nvSpPr>
        <p:spPr>
          <a:xfrm>
            <a:off x="2882925" y="3801025"/>
            <a:ext cx="2934300" cy="780000"/>
          </a:xfrm>
          <a:prstGeom prst="roundRect">
            <a:avLst>
              <a:gd fmla="val 10371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/>
          </a:p>
        </p:txBody>
      </p:sp>
      <p:sp>
        <p:nvSpPr>
          <p:cNvPr id="208" name="Google Shape;208;p19"/>
          <p:cNvSpPr/>
          <p:nvPr/>
        </p:nvSpPr>
        <p:spPr>
          <a:xfrm>
            <a:off x="3661923" y="1001032"/>
            <a:ext cx="385200" cy="393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pic>
        <p:nvPicPr>
          <p:cNvPr id="209" name="Google Shape;2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8760" y="1089310"/>
            <a:ext cx="211538" cy="21153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3610805" y="792255"/>
            <a:ext cx="487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NGINX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889197" y="1630582"/>
            <a:ext cx="1952400" cy="780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12" name="Google Shape;212;p19"/>
          <p:cNvSpPr txBox="1"/>
          <p:nvPr/>
        </p:nvSpPr>
        <p:spPr>
          <a:xfrm>
            <a:off x="3434073" y="1618916"/>
            <a:ext cx="863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D3X K8S Service</a:t>
            </a:r>
            <a:endParaRPr sz="589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3021851" y="1858622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3006503" y="1846328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FM Controller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3014173" y="2140928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2998825" y="2128634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LLM Controller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3558099" y="3918774"/>
            <a:ext cx="935700" cy="257400"/>
          </a:xfrm>
          <a:prstGeom prst="roundRect">
            <a:avLst>
              <a:gd fmla="val 10371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9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596894" y="3918774"/>
            <a:ext cx="973800" cy="257400"/>
          </a:xfrm>
          <a:prstGeom prst="roundRect">
            <a:avLst>
              <a:gd fmla="val 10371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9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2882929" y="3474169"/>
            <a:ext cx="1952400" cy="2574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Prometheus/Grafana</a:t>
            </a:r>
            <a:endParaRPr sz="589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220" name="Google Shape;220;p19"/>
          <p:cNvGrpSpPr/>
          <p:nvPr/>
        </p:nvGrpSpPr>
        <p:grpSpPr>
          <a:xfrm>
            <a:off x="3899821" y="2610907"/>
            <a:ext cx="935721" cy="793725"/>
            <a:chOff x="3796538" y="2299174"/>
            <a:chExt cx="1112100" cy="943339"/>
          </a:xfrm>
        </p:grpSpPr>
        <p:sp>
          <p:nvSpPr>
            <p:cNvPr id="221" name="Google Shape;221;p19"/>
            <p:cNvSpPr/>
            <p:nvPr/>
          </p:nvSpPr>
          <p:spPr>
            <a:xfrm>
              <a:off x="3796538" y="2315813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0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3952501" y="258485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3934260" y="257024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Model Store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3961626" y="291495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3943385" y="290034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Lineage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3857984" y="2299174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925" lIns="76925" spcFirstLastPara="1" rIns="76925" wrap="square" tIns="76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9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MLFlow</a:t>
              </a:r>
              <a:endParaRPr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27" name="Google Shape;227;p19"/>
          <p:cNvGrpSpPr/>
          <p:nvPr/>
        </p:nvGrpSpPr>
        <p:grpSpPr>
          <a:xfrm>
            <a:off x="2882820" y="2610559"/>
            <a:ext cx="935721" cy="791386"/>
            <a:chOff x="2585824" y="2298760"/>
            <a:chExt cx="1112100" cy="940559"/>
          </a:xfrm>
        </p:grpSpPr>
        <p:sp>
          <p:nvSpPr>
            <p:cNvPr id="228" name="Google Shape;228;p19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0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2647284" y="2298760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925" lIns="76925" spcFirstLastPara="1" rIns="76925" wrap="square" tIns="76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9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Deployments</a:t>
              </a:r>
              <a:endParaRPr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2741800" y="25909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2723560" y="25763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KServe/vLLM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2750925" y="29210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2732685" y="29064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LLM/EMB Models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34" name="Google Shape;234;p19"/>
          <p:cNvGrpSpPr/>
          <p:nvPr/>
        </p:nvGrpSpPr>
        <p:grpSpPr>
          <a:xfrm>
            <a:off x="4922162" y="2610917"/>
            <a:ext cx="935721" cy="793720"/>
            <a:chOff x="5030350" y="2299186"/>
            <a:chExt cx="1112100" cy="943333"/>
          </a:xfrm>
        </p:grpSpPr>
        <p:sp>
          <p:nvSpPr>
            <p:cNvPr id="235" name="Google Shape;235;p19"/>
            <p:cNvSpPr/>
            <p:nvPr/>
          </p:nvSpPr>
          <p:spPr>
            <a:xfrm>
              <a:off x="5030350" y="23158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0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5186326" y="2584863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5168085" y="2570252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Jobs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5195451" y="2914963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5177210" y="2900352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Pipelines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5091809" y="2299186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925" lIns="76925" spcFirstLastPara="1" rIns="76925" wrap="square" tIns="76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9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KubeFlow</a:t>
              </a:r>
              <a:endParaRPr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241" name="Google Shape;241;p19"/>
          <p:cNvSpPr/>
          <p:nvPr/>
        </p:nvSpPr>
        <p:spPr>
          <a:xfrm>
            <a:off x="4076803" y="1144594"/>
            <a:ext cx="166200" cy="100800"/>
          </a:xfrm>
          <a:prstGeom prst="leftRightArrow">
            <a:avLst>
              <a:gd fmla="val 39375" name="adj1"/>
              <a:gd fmla="val 48292" name="adj2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42" name="Google Shape;242;p19"/>
          <p:cNvSpPr/>
          <p:nvPr/>
        </p:nvSpPr>
        <p:spPr>
          <a:xfrm>
            <a:off x="4272582" y="1001032"/>
            <a:ext cx="385200" cy="393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43" name="Google Shape;243;p19"/>
          <p:cNvSpPr txBox="1"/>
          <p:nvPr/>
        </p:nvSpPr>
        <p:spPr>
          <a:xfrm>
            <a:off x="4221465" y="770483"/>
            <a:ext cx="487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Auth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4707030" y="1144594"/>
            <a:ext cx="166200" cy="100800"/>
          </a:xfrm>
          <a:prstGeom prst="leftRightArrow">
            <a:avLst>
              <a:gd fmla="val 39375" name="adj1"/>
              <a:gd fmla="val 48292" name="adj2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pic>
        <p:nvPicPr>
          <p:cNvPr id="245" name="Google Shape;24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677" y="1072019"/>
            <a:ext cx="245022" cy="24612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/>
          <p:nvPr/>
        </p:nvSpPr>
        <p:spPr>
          <a:xfrm>
            <a:off x="5878752" y="3797650"/>
            <a:ext cx="1283700" cy="449700"/>
          </a:xfrm>
          <a:prstGeom prst="roundRect">
            <a:avLst>
              <a:gd fmla="val 10371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Storage</a:t>
            </a:r>
            <a:endParaRPr sz="589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6369771" y="3893869"/>
            <a:ext cx="704100" cy="2574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EFS/NFS</a:t>
            </a:r>
            <a:endParaRPr sz="589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536531" y="3897206"/>
            <a:ext cx="935700" cy="2574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CPU Nodes</a:t>
            </a:r>
            <a:endParaRPr sz="589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4575327" y="3897206"/>
            <a:ext cx="973800" cy="2574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GPU Nodes</a:t>
            </a:r>
            <a:endParaRPr sz="589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939424" y="2624998"/>
            <a:ext cx="935700" cy="780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51" name="Google Shape;251;p19"/>
          <p:cNvSpPr/>
          <p:nvPr/>
        </p:nvSpPr>
        <p:spPr>
          <a:xfrm>
            <a:off x="6070669" y="2851384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6055320" y="2839090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Monitoring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078347" y="3129145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6062998" y="3116851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Reports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5991138" y="2611002"/>
            <a:ext cx="863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SecureLLM</a:t>
            </a:r>
            <a:endParaRPr sz="589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4922373" y="3474169"/>
            <a:ext cx="1952400" cy="2574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Loki</a:t>
            </a:r>
            <a:endParaRPr sz="589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7110774" y="2625019"/>
            <a:ext cx="935700" cy="780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58" name="Google Shape;258;p19"/>
          <p:cNvSpPr txBox="1"/>
          <p:nvPr/>
        </p:nvSpPr>
        <p:spPr>
          <a:xfrm>
            <a:off x="7162488" y="2611023"/>
            <a:ext cx="863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Databases</a:t>
            </a:r>
            <a:endParaRPr sz="589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7242019" y="2980209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226671" y="2967915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Postgres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031224" y="1852480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4015875" y="1840186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D3X Controller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023546" y="2134785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4008197" y="2122491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SKY Controller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4922373" y="884829"/>
            <a:ext cx="1952400" cy="5259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66" name="Google Shape;266;p19"/>
          <p:cNvSpPr txBox="1"/>
          <p:nvPr/>
        </p:nvSpPr>
        <p:spPr>
          <a:xfrm>
            <a:off x="5309352" y="873154"/>
            <a:ext cx="1179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Application Interface</a:t>
            </a:r>
            <a:endParaRPr sz="589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5055027" y="1112870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5039679" y="1100576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SecureChat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6064400" y="1106727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6049052" y="1094433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API Endpoints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271" name="Google Shape;271;p19"/>
          <p:cNvCxnSpPr>
            <a:stCxn id="265" idx="3"/>
            <a:endCxn id="250" idx="3"/>
          </p:cNvCxnSpPr>
          <p:nvPr/>
        </p:nvCxnSpPr>
        <p:spPr>
          <a:xfrm>
            <a:off x="6874773" y="1147779"/>
            <a:ext cx="600" cy="1867200"/>
          </a:xfrm>
          <a:prstGeom prst="bentConnector3">
            <a:avLst>
              <a:gd fmla="val 32391667" name="adj1"/>
            </a:avLst>
          </a:prstGeom>
          <a:noFill/>
          <a:ln cap="flat" cmpd="sng" w="80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72" name="Google Shape;272;p19"/>
          <p:cNvGrpSpPr/>
          <p:nvPr/>
        </p:nvGrpSpPr>
        <p:grpSpPr>
          <a:xfrm>
            <a:off x="4922162" y="1618870"/>
            <a:ext cx="1952721" cy="537465"/>
            <a:chOff x="5028363" y="792475"/>
            <a:chExt cx="2320800" cy="638775"/>
          </a:xfrm>
        </p:grpSpPr>
        <p:sp>
          <p:nvSpPr>
            <p:cNvPr id="273" name="Google Shape;273;p19"/>
            <p:cNvSpPr/>
            <p:nvPr/>
          </p:nvSpPr>
          <p:spPr>
            <a:xfrm>
              <a:off x="5028363" y="806350"/>
              <a:ext cx="2320800" cy="624900"/>
            </a:xfrm>
            <a:prstGeom prst="roundRect">
              <a:avLst>
                <a:gd fmla="val 6533" name="adj"/>
              </a:avLst>
            </a:prstGeom>
            <a:noFill/>
            <a:ln cap="flat" cmpd="sng" w="80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274" name="Google Shape;274;p19"/>
            <p:cNvSpPr txBox="1"/>
            <p:nvPr/>
          </p:nvSpPr>
          <p:spPr>
            <a:xfrm>
              <a:off x="5488263" y="792475"/>
              <a:ext cx="14010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925" lIns="76925" spcFirstLastPara="1" rIns="76925" wrap="square" tIns="76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9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User Interface</a:t>
              </a:r>
              <a:endParaRPr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5518832" y="1077649"/>
              <a:ext cx="1370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5488288" y="1063039"/>
              <a:ext cx="1370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Workspace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cxnSp>
        <p:nvCxnSpPr>
          <p:cNvPr id="277" name="Google Shape;277;p19"/>
          <p:cNvCxnSpPr>
            <a:stCxn id="265" idx="2"/>
            <a:endCxn id="212" idx="0"/>
          </p:cNvCxnSpPr>
          <p:nvPr/>
        </p:nvCxnSpPr>
        <p:spPr>
          <a:xfrm rot="5400000">
            <a:off x="4777923" y="498279"/>
            <a:ext cx="208200" cy="2033100"/>
          </a:xfrm>
          <a:prstGeom prst="bentConnector3">
            <a:avLst>
              <a:gd fmla="val 49997" name="adj1"/>
            </a:avLst>
          </a:prstGeom>
          <a:noFill/>
          <a:ln cap="flat" cmpd="sng" w="80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19"/>
          <p:cNvCxnSpPr>
            <a:stCxn id="273" idx="2"/>
          </p:cNvCxnSpPr>
          <p:nvPr/>
        </p:nvCxnSpPr>
        <p:spPr>
          <a:xfrm rot="5400000">
            <a:off x="5288773" y="1713086"/>
            <a:ext cx="166500" cy="1053000"/>
          </a:xfrm>
          <a:prstGeom prst="bentConnector2">
            <a:avLst/>
          </a:prstGeom>
          <a:noFill/>
          <a:ln cap="flat" cmpd="sng" w="80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" name="Google Shape;279;p19"/>
          <p:cNvSpPr txBox="1"/>
          <p:nvPr/>
        </p:nvSpPr>
        <p:spPr>
          <a:xfrm rot="-5400000">
            <a:off x="1706741" y="1673085"/>
            <a:ext cx="7503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Security Group</a:t>
            </a:r>
            <a:endParaRPr sz="589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80" name="Google Shape;280;p19"/>
          <p:cNvCxnSpPr>
            <a:endCxn id="257" idx="2"/>
          </p:cNvCxnSpPr>
          <p:nvPr/>
        </p:nvCxnSpPr>
        <p:spPr>
          <a:xfrm>
            <a:off x="6873324" y="3306019"/>
            <a:ext cx="705300" cy="99000"/>
          </a:xfrm>
          <a:prstGeom prst="bentConnector4">
            <a:avLst>
              <a:gd fmla="val 20522" name="adj1"/>
              <a:gd fmla="val 303005" name="adj2"/>
            </a:avLst>
          </a:prstGeom>
          <a:noFill/>
          <a:ln cap="flat" cmpd="sng" w="80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19"/>
          <p:cNvSpPr/>
          <p:nvPr/>
        </p:nvSpPr>
        <p:spPr>
          <a:xfrm rot="-4231">
            <a:off x="6793992" y="2328939"/>
            <a:ext cx="487500" cy="123300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latin typeface="Poppins"/>
                <a:ea typeface="Poppins"/>
                <a:cs typeface="Poppins"/>
                <a:sym typeface="Poppins"/>
              </a:rPr>
              <a:t>Feedback</a:t>
            </a:r>
            <a:endParaRPr sz="505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1022348" y="992416"/>
            <a:ext cx="615600" cy="6237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83" name="Google Shape;283;p19"/>
          <p:cNvSpPr txBox="1"/>
          <p:nvPr/>
        </p:nvSpPr>
        <p:spPr>
          <a:xfrm>
            <a:off x="986250" y="1697233"/>
            <a:ext cx="687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CLI/UI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" name="Google Shape;28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4462" y="1188314"/>
            <a:ext cx="385212" cy="38521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9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 Architecture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87" name="Google Shape;2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1637880" y="1158050"/>
            <a:ext cx="1991100" cy="119100"/>
          </a:xfrm>
          <a:prstGeom prst="leftRightArrow">
            <a:avLst>
              <a:gd fmla="val 17125" name="adj1"/>
              <a:gd fmla="val 48292" name="adj2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3975" lIns="73975" spcFirstLastPara="1" rIns="73975" wrap="square" tIns="73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3"/>
          </a:p>
        </p:txBody>
      </p:sp>
      <p:grpSp>
        <p:nvGrpSpPr>
          <p:cNvPr id="290" name="Google Shape;290;p19"/>
          <p:cNvGrpSpPr/>
          <p:nvPr/>
        </p:nvGrpSpPr>
        <p:grpSpPr>
          <a:xfrm>
            <a:off x="1865866" y="2613143"/>
            <a:ext cx="935721" cy="791386"/>
            <a:chOff x="2585824" y="2298760"/>
            <a:chExt cx="1112100" cy="940559"/>
          </a:xfrm>
        </p:grpSpPr>
        <p:sp>
          <p:nvSpPr>
            <p:cNvPr id="291" name="Google Shape;291;p19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0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292" name="Google Shape;292;p19"/>
            <p:cNvSpPr txBox="1"/>
            <p:nvPr/>
          </p:nvSpPr>
          <p:spPr>
            <a:xfrm>
              <a:off x="2647284" y="2298760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925" lIns="76925" spcFirstLastPara="1" rIns="76925" wrap="square" tIns="76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9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Vector Store</a:t>
              </a:r>
              <a:endParaRPr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2741800" y="25909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2723560" y="25763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Datasets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2750925" y="29210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2732685" y="29064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Cache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cxnSp>
        <p:nvCxnSpPr>
          <p:cNvPr id="297" name="Google Shape;297;p19"/>
          <p:cNvCxnSpPr>
            <a:stCxn id="211" idx="1"/>
          </p:cNvCxnSpPr>
          <p:nvPr/>
        </p:nvCxnSpPr>
        <p:spPr>
          <a:xfrm rot="10800000">
            <a:off x="2345897" y="2020582"/>
            <a:ext cx="543300" cy="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19"/>
          <p:cNvCxnSpPr>
            <a:stCxn id="292" idx="0"/>
          </p:cNvCxnSpPr>
          <p:nvPr/>
        </p:nvCxnSpPr>
        <p:spPr>
          <a:xfrm rot="10800000">
            <a:off x="2349090" y="2025143"/>
            <a:ext cx="0" cy="58800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9" name="Google Shape;299;p19"/>
          <p:cNvCxnSpPr/>
          <p:nvPr/>
        </p:nvCxnSpPr>
        <p:spPr>
          <a:xfrm>
            <a:off x="2351633" y="2475728"/>
            <a:ext cx="4076400" cy="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9"/>
          <p:cNvCxnSpPr>
            <a:endCxn id="255" idx="0"/>
          </p:cNvCxnSpPr>
          <p:nvPr/>
        </p:nvCxnSpPr>
        <p:spPr>
          <a:xfrm>
            <a:off x="6422688" y="2478402"/>
            <a:ext cx="0" cy="13260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19"/>
          <p:cNvCxnSpPr/>
          <p:nvPr/>
        </p:nvCxnSpPr>
        <p:spPr>
          <a:xfrm>
            <a:off x="5362725" y="2480297"/>
            <a:ext cx="0" cy="13260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19"/>
          <p:cNvCxnSpPr/>
          <p:nvPr/>
        </p:nvCxnSpPr>
        <p:spPr>
          <a:xfrm>
            <a:off x="4367569" y="2480297"/>
            <a:ext cx="0" cy="13260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19"/>
          <p:cNvCxnSpPr/>
          <p:nvPr/>
        </p:nvCxnSpPr>
        <p:spPr>
          <a:xfrm>
            <a:off x="3350603" y="2480297"/>
            <a:ext cx="0" cy="13260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04" name="Google Shape;304;p19"/>
          <p:cNvGrpSpPr/>
          <p:nvPr/>
        </p:nvGrpSpPr>
        <p:grpSpPr>
          <a:xfrm>
            <a:off x="2965902" y="4247350"/>
            <a:ext cx="2773093" cy="299725"/>
            <a:chOff x="2965152" y="4247350"/>
            <a:chExt cx="2773093" cy="299725"/>
          </a:xfrm>
        </p:grpSpPr>
        <p:grpSp>
          <p:nvGrpSpPr>
            <p:cNvPr id="305" name="Google Shape;305;p19"/>
            <p:cNvGrpSpPr/>
            <p:nvPr/>
          </p:nvGrpSpPr>
          <p:grpSpPr>
            <a:xfrm>
              <a:off x="2965152" y="4247350"/>
              <a:ext cx="2206151" cy="299725"/>
              <a:chOff x="1362982" y="4148285"/>
              <a:chExt cx="2717938" cy="369301"/>
            </a:xfrm>
          </p:grpSpPr>
          <p:grpSp>
            <p:nvGrpSpPr>
              <p:cNvPr id="306" name="Google Shape;306;p19"/>
              <p:cNvGrpSpPr/>
              <p:nvPr/>
            </p:nvGrpSpPr>
            <p:grpSpPr>
              <a:xfrm>
                <a:off x="1362982" y="4148285"/>
                <a:ext cx="2717938" cy="369301"/>
                <a:chOff x="1362982" y="4148285"/>
                <a:chExt cx="2717938" cy="369301"/>
              </a:xfrm>
            </p:grpSpPr>
            <p:pic>
              <p:nvPicPr>
                <p:cNvPr id="307" name="Google Shape;307;p19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33705" t="0"/>
                <a:stretch/>
              </p:blipFill>
              <p:spPr>
                <a:xfrm>
                  <a:off x="1362982" y="4148285"/>
                  <a:ext cx="2717938" cy="3693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08" name="Google Shape;308;p19"/>
                <p:cNvSpPr/>
                <p:nvPr/>
              </p:nvSpPr>
              <p:spPr>
                <a:xfrm>
                  <a:off x="2337575" y="4167700"/>
                  <a:ext cx="474300" cy="3294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74225" lIns="74225" spcFirstLastPara="1" rIns="74225" wrap="square" tIns="742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36"/>
                </a:p>
              </p:txBody>
            </p:sp>
          </p:grpSp>
          <p:pic>
            <p:nvPicPr>
              <p:cNvPr id="309" name="Google Shape;309;p19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2339481" y="4239113"/>
                <a:ext cx="456805" cy="1876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10" name="Google Shape;310;p19"/>
            <p:cNvPicPr preferRelativeResize="0"/>
            <p:nvPr/>
          </p:nvPicPr>
          <p:blipFill rotWithShape="1">
            <a:blip r:embed="rId7">
              <a:alphaModFix/>
            </a:blip>
            <a:srcRect b="0" l="83673" r="0" t="0"/>
            <a:stretch/>
          </p:blipFill>
          <p:spPr>
            <a:xfrm>
              <a:off x="5194944" y="4247350"/>
              <a:ext cx="543301" cy="299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"/>
          <p:cNvSpPr txBox="1"/>
          <p:nvPr/>
        </p:nvSpPr>
        <p:spPr>
          <a:xfrm>
            <a:off x="256650" y="800600"/>
            <a:ext cx="85809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b="1" lang="en" sz="1500">
                <a:latin typeface="Poppins"/>
                <a:ea typeface="Poppins"/>
                <a:cs typeface="Poppins"/>
                <a:sym typeface="Poppins"/>
              </a:rPr>
              <a:t>Fully Kubernetes-based Infrastructure</a:t>
            </a:r>
            <a:endParaRPr b="1"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Simplified Installation</a:t>
            </a:r>
            <a:endParaRPr b="1" sz="15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Robust Security and User Management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Comprehensive User Workspaces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 Training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  Serving and Management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MLOps Integration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LLMOps: Powering Generative AI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LLM Fine-Tuning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Generative AI and Agentic Solutions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 – Features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18" name="Google Shape;318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0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25" name="Google Shape;3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1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LLM-Stack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279150" y="892287"/>
            <a:ext cx="8585700" cy="3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Kubernetes-based unified AI development platform with pre-built tools for model serving, observability, workflow automation, and secure user access.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 &amp; Extensible: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Built on open-source frameworks like LiteLLM, Langflow, and Arize Phoenix for flexible integrations and model interoperability.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Hybrid Deployment: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Runs seamlessly across on-prem and cloud environments (EKS, AKS, GKE) using Helmfile-based deployment automation.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End-to-End Observability: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Monitors model performance, costs, latency, and user interactions through integrated observability tools like HyperDX and Phoenix.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Enterprise-Grade Security: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Features OAuth2 authentication, role-based access, and governance through Dex + OAuth2 Proxy for secure access to all services.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34" name="Google Shape;3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2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LLM-Stack Architecture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337" name="Google Shape;337;p22"/>
          <p:cNvGrpSpPr/>
          <p:nvPr/>
        </p:nvGrpSpPr>
        <p:grpSpPr>
          <a:xfrm>
            <a:off x="2556600" y="637483"/>
            <a:ext cx="4030800" cy="4057200"/>
            <a:chOff x="2492725" y="648500"/>
            <a:chExt cx="4030800" cy="4057200"/>
          </a:xfrm>
        </p:grpSpPr>
        <p:sp>
          <p:nvSpPr>
            <p:cNvPr id="338" name="Google Shape;338;p22"/>
            <p:cNvSpPr/>
            <p:nvPr/>
          </p:nvSpPr>
          <p:spPr>
            <a:xfrm>
              <a:off x="3027633" y="3886999"/>
              <a:ext cx="2049900" cy="691200"/>
            </a:xfrm>
            <a:prstGeom prst="roundRect">
              <a:avLst>
                <a:gd fmla="val 16667" name="adj"/>
              </a:avLst>
            </a:prstGeom>
            <a:noFill/>
            <a:ln cap="flat" cmpd="sng" w="9325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89575" lIns="89575" spcFirstLastPara="1" rIns="89575" wrap="square" tIns="89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72"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3575107" y="3937604"/>
              <a:ext cx="981000" cy="1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75" lIns="89575" spcFirstLastPara="1" rIns="89575" wrap="square" tIns="89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Supporting Services</a:t>
              </a:r>
              <a:endParaRPr sz="588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40" name="Google Shape;340;p22"/>
            <p:cNvGrpSpPr/>
            <p:nvPr/>
          </p:nvGrpSpPr>
          <p:grpSpPr>
            <a:xfrm>
              <a:off x="3195330" y="4140908"/>
              <a:ext cx="808923" cy="348319"/>
              <a:chOff x="4224150" y="3925575"/>
              <a:chExt cx="825600" cy="355500"/>
            </a:xfrm>
          </p:grpSpPr>
          <p:sp>
            <p:nvSpPr>
              <p:cNvPr id="341" name="Google Shape;341;p22"/>
              <p:cNvSpPr/>
              <p:nvPr/>
            </p:nvSpPr>
            <p:spPr>
              <a:xfrm>
                <a:off x="4224150" y="3925575"/>
                <a:ext cx="825600" cy="355500"/>
              </a:xfrm>
              <a:prstGeom prst="roundRect">
                <a:avLst>
                  <a:gd fmla="val 16667" name="adj"/>
                </a:avLst>
              </a:prstGeom>
              <a:solidFill>
                <a:srgbClr val="D6CFE5"/>
              </a:solidFill>
              <a:ln>
                <a:noFill/>
              </a:ln>
              <a:effectLst>
                <a:outerShdw blurRad="55994" rotWithShape="0" algn="bl" dir="2700000" dist="37329">
                  <a:srgbClr val="000000">
                    <a:alpha val="1000"/>
                  </a:srgbClr>
                </a:outerShdw>
              </a:effectLst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72"/>
              </a:p>
            </p:txBody>
          </p:sp>
          <p:pic>
            <p:nvPicPr>
              <p:cNvPr id="342" name="Google Shape;342;p22"/>
              <p:cNvPicPr preferRelativeResize="0"/>
              <p:nvPr/>
            </p:nvPicPr>
            <p:blipFill rotWithShape="1">
              <a:blip r:embed="rId4">
                <a:alphaModFix/>
              </a:blip>
              <a:srcRect b="25848" l="0" r="0" t="26250"/>
              <a:stretch/>
            </p:blipFill>
            <p:spPr>
              <a:xfrm>
                <a:off x="4287525" y="3955488"/>
                <a:ext cx="698850" cy="1673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3" name="Google Shape;343;p22"/>
              <p:cNvSpPr/>
              <p:nvPr/>
            </p:nvSpPr>
            <p:spPr>
              <a:xfrm>
                <a:off x="4329150" y="4123056"/>
                <a:ext cx="615600" cy="12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Database</a:t>
                </a:r>
                <a:endParaRPr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4" name="Google Shape;344;p22"/>
            <p:cNvGrpSpPr/>
            <p:nvPr/>
          </p:nvGrpSpPr>
          <p:grpSpPr>
            <a:xfrm>
              <a:off x="4125625" y="4140908"/>
              <a:ext cx="808923" cy="348319"/>
              <a:chOff x="5173625" y="3925575"/>
              <a:chExt cx="825600" cy="355500"/>
            </a:xfrm>
          </p:grpSpPr>
          <p:sp>
            <p:nvSpPr>
              <p:cNvPr id="345" name="Google Shape;345;p22"/>
              <p:cNvSpPr/>
              <p:nvPr/>
            </p:nvSpPr>
            <p:spPr>
              <a:xfrm>
                <a:off x="5173625" y="3925575"/>
                <a:ext cx="825600" cy="355500"/>
              </a:xfrm>
              <a:prstGeom prst="roundRect">
                <a:avLst>
                  <a:gd fmla="val 16667" name="adj"/>
                </a:avLst>
              </a:prstGeom>
              <a:solidFill>
                <a:srgbClr val="D6CFE5"/>
              </a:solidFill>
              <a:ln>
                <a:noFill/>
              </a:ln>
              <a:effectLst>
                <a:outerShdw blurRad="55994" rotWithShape="0" algn="bl" dir="2700000" dist="37329">
                  <a:srgbClr val="000000">
                    <a:alpha val="1000"/>
                  </a:srgbClr>
                </a:outerShdw>
              </a:effectLst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72"/>
              </a:p>
            </p:txBody>
          </p:sp>
          <p:pic>
            <p:nvPicPr>
              <p:cNvPr id="346" name="Google Shape;346;p22"/>
              <p:cNvPicPr preferRelativeResize="0"/>
              <p:nvPr/>
            </p:nvPicPr>
            <p:blipFill rotWithShape="1">
              <a:blip r:embed="rId5">
                <a:alphaModFix/>
              </a:blip>
              <a:srcRect b="42137" l="22571" r="21199" t="40328"/>
              <a:stretch/>
            </p:blipFill>
            <p:spPr>
              <a:xfrm>
                <a:off x="5278625" y="3975200"/>
                <a:ext cx="615598" cy="127976"/>
              </a:xfrm>
              <a:prstGeom prst="rect">
                <a:avLst/>
              </a:prstGeom>
              <a:noFill/>
              <a:ln cap="flat" cmpd="sng" w="9325">
                <a:solidFill>
                  <a:srgbClr val="7660A8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347" name="Google Shape;347;p22"/>
              <p:cNvSpPr/>
              <p:nvPr/>
            </p:nvSpPr>
            <p:spPr>
              <a:xfrm>
                <a:off x="5237000" y="4123050"/>
                <a:ext cx="698700" cy="12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Observability</a:t>
                </a:r>
                <a:endParaRPr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8" name="Google Shape;348;p22"/>
            <p:cNvGrpSpPr/>
            <p:nvPr/>
          </p:nvGrpSpPr>
          <p:grpSpPr>
            <a:xfrm>
              <a:off x="3637093" y="3372923"/>
              <a:ext cx="808923" cy="348319"/>
              <a:chOff x="3544075" y="2912800"/>
              <a:chExt cx="825600" cy="355500"/>
            </a:xfrm>
          </p:grpSpPr>
          <p:grpSp>
            <p:nvGrpSpPr>
              <p:cNvPr id="349" name="Google Shape;349;p22"/>
              <p:cNvGrpSpPr/>
              <p:nvPr/>
            </p:nvGrpSpPr>
            <p:grpSpPr>
              <a:xfrm>
                <a:off x="3544075" y="2912800"/>
                <a:ext cx="825600" cy="355500"/>
                <a:chOff x="4224150" y="3925575"/>
                <a:chExt cx="825600" cy="355500"/>
              </a:xfrm>
            </p:grpSpPr>
            <p:sp>
              <p:nvSpPr>
                <p:cNvPr id="350" name="Google Shape;350;p22"/>
                <p:cNvSpPr/>
                <p:nvPr/>
              </p:nvSpPr>
              <p:spPr>
                <a:xfrm>
                  <a:off x="4224150" y="3925575"/>
                  <a:ext cx="825600" cy="355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6CFE5"/>
                </a:solidFill>
                <a:ln>
                  <a:noFill/>
                </a:ln>
                <a:effectLst>
                  <a:outerShdw blurRad="55994" rotWithShape="0" algn="bl" dir="2700000" dist="37329">
                    <a:srgbClr val="000000">
                      <a:alpha val="1000"/>
                    </a:srgbClr>
                  </a:outerShdw>
                </a:effectLst>
              </p:spPr>
              <p:txBody>
                <a:bodyPr anchorCtr="0" anchor="ctr" bIns="89575" lIns="89575" spcFirstLastPara="1" rIns="89575" wrap="square" tIns="89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72"/>
                </a:p>
              </p:txBody>
            </p:sp>
            <p:sp>
              <p:nvSpPr>
                <p:cNvPr id="351" name="Google Shape;351;p22"/>
                <p:cNvSpPr/>
                <p:nvPr/>
              </p:nvSpPr>
              <p:spPr>
                <a:xfrm flipH="1">
                  <a:off x="4276600" y="4123050"/>
                  <a:ext cx="720600" cy="12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89575" lIns="89575" spcFirstLastPara="1" rIns="89575" wrap="square" tIns="89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588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Observability</a:t>
                  </a:r>
                  <a:endParaRPr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pic>
            <p:nvPicPr>
              <p:cNvPr id="352" name="Google Shape;352;p22"/>
              <p:cNvPicPr preferRelativeResize="0"/>
              <p:nvPr/>
            </p:nvPicPr>
            <p:blipFill rotWithShape="1">
              <a:blip r:embed="rId6">
                <a:alphaModFix/>
              </a:blip>
              <a:srcRect b="28529" l="0" r="0" t="22878"/>
              <a:stretch/>
            </p:blipFill>
            <p:spPr>
              <a:xfrm>
                <a:off x="3650678" y="2937625"/>
                <a:ext cx="612400" cy="167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53" name="Google Shape;353;p22"/>
            <p:cNvGrpSpPr/>
            <p:nvPr/>
          </p:nvGrpSpPr>
          <p:grpSpPr>
            <a:xfrm>
              <a:off x="3637135" y="2858787"/>
              <a:ext cx="808923" cy="348319"/>
              <a:chOff x="4224150" y="3925575"/>
              <a:chExt cx="825600" cy="355500"/>
            </a:xfrm>
          </p:grpSpPr>
          <p:sp>
            <p:nvSpPr>
              <p:cNvPr id="354" name="Google Shape;354;p22"/>
              <p:cNvSpPr/>
              <p:nvPr/>
            </p:nvSpPr>
            <p:spPr>
              <a:xfrm>
                <a:off x="4224150" y="3925575"/>
                <a:ext cx="825600" cy="355500"/>
              </a:xfrm>
              <a:prstGeom prst="roundRect">
                <a:avLst>
                  <a:gd fmla="val 16667" name="adj"/>
                </a:avLst>
              </a:prstGeom>
              <a:solidFill>
                <a:srgbClr val="D6CFE5"/>
              </a:solidFill>
              <a:ln>
                <a:noFill/>
              </a:ln>
              <a:effectLst>
                <a:outerShdw blurRad="55994" rotWithShape="0" algn="bl" dir="2700000" dist="37329">
                  <a:srgbClr val="000000">
                    <a:alpha val="1000"/>
                  </a:srgbClr>
                </a:outerShdw>
              </a:effectLst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72"/>
              </a:p>
            </p:txBody>
          </p:sp>
          <p:sp>
            <p:nvSpPr>
              <p:cNvPr id="355" name="Google Shape;355;p22"/>
              <p:cNvSpPr/>
              <p:nvPr/>
            </p:nvSpPr>
            <p:spPr>
              <a:xfrm flipH="1">
                <a:off x="4276600" y="3978470"/>
                <a:ext cx="720600" cy="25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LLM Models</a:t>
                </a:r>
                <a:endParaRPr b="1"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External</a:t>
                </a:r>
                <a:endParaRPr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6" name="Google Shape;356;p22"/>
            <p:cNvGrpSpPr/>
            <p:nvPr/>
          </p:nvGrpSpPr>
          <p:grpSpPr>
            <a:xfrm>
              <a:off x="3637110" y="2345042"/>
              <a:ext cx="808923" cy="348319"/>
              <a:chOff x="4224150" y="3925575"/>
              <a:chExt cx="825600" cy="355500"/>
            </a:xfrm>
          </p:grpSpPr>
          <p:sp>
            <p:nvSpPr>
              <p:cNvPr id="357" name="Google Shape;357;p22"/>
              <p:cNvSpPr/>
              <p:nvPr/>
            </p:nvSpPr>
            <p:spPr>
              <a:xfrm>
                <a:off x="4224150" y="3925575"/>
                <a:ext cx="825600" cy="355500"/>
              </a:xfrm>
              <a:prstGeom prst="roundRect">
                <a:avLst>
                  <a:gd fmla="val 16667" name="adj"/>
                </a:avLst>
              </a:prstGeom>
              <a:solidFill>
                <a:srgbClr val="D6CFE5"/>
              </a:solidFill>
              <a:ln>
                <a:noFill/>
              </a:ln>
              <a:effectLst>
                <a:outerShdw blurRad="55994" rotWithShape="0" algn="bl" dir="2700000" dist="37329">
                  <a:srgbClr val="000000">
                    <a:alpha val="1000"/>
                  </a:srgbClr>
                </a:outerShdw>
              </a:effectLst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72"/>
              </a:p>
            </p:txBody>
          </p:sp>
          <p:sp>
            <p:nvSpPr>
              <p:cNvPr id="358" name="Google Shape;358;p22"/>
              <p:cNvSpPr/>
              <p:nvPr/>
            </p:nvSpPr>
            <p:spPr>
              <a:xfrm flipH="1">
                <a:off x="4276600" y="4123050"/>
                <a:ext cx="720600" cy="12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Gateway</a:t>
                </a:r>
                <a:endParaRPr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359" name="Google Shape;359;p2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82746" y="2377950"/>
              <a:ext cx="539660" cy="16401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0" name="Google Shape;360;p22"/>
            <p:cNvGrpSpPr/>
            <p:nvPr/>
          </p:nvGrpSpPr>
          <p:grpSpPr>
            <a:xfrm>
              <a:off x="3637116" y="1832084"/>
              <a:ext cx="808923" cy="348319"/>
              <a:chOff x="4472725" y="1593025"/>
              <a:chExt cx="825600" cy="355500"/>
            </a:xfrm>
          </p:grpSpPr>
          <p:grpSp>
            <p:nvGrpSpPr>
              <p:cNvPr id="361" name="Google Shape;361;p22"/>
              <p:cNvGrpSpPr/>
              <p:nvPr/>
            </p:nvGrpSpPr>
            <p:grpSpPr>
              <a:xfrm>
                <a:off x="4472725" y="1593025"/>
                <a:ext cx="825600" cy="355500"/>
                <a:chOff x="4224150" y="3925575"/>
                <a:chExt cx="825600" cy="355500"/>
              </a:xfrm>
            </p:grpSpPr>
            <p:sp>
              <p:nvSpPr>
                <p:cNvPr id="362" name="Google Shape;362;p22"/>
                <p:cNvSpPr/>
                <p:nvPr/>
              </p:nvSpPr>
              <p:spPr>
                <a:xfrm>
                  <a:off x="4224150" y="3925575"/>
                  <a:ext cx="825600" cy="355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6CFE5"/>
                </a:solidFill>
                <a:ln>
                  <a:noFill/>
                </a:ln>
                <a:effectLst>
                  <a:outerShdw blurRad="55994" rotWithShape="0" algn="bl" dir="2700000" dist="37329">
                    <a:srgbClr val="000000">
                      <a:alpha val="1000"/>
                    </a:srgbClr>
                  </a:outerShdw>
                </a:effectLst>
              </p:spPr>
              <p:txBody>
                <a:bodyPr anchorCtr="0" anchor="ctr" bIns="89575" lIns="89575" spcFirstLastPara="1" rIns="89575" wrap="square" tIns="89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72"/>
                </a:p>
              </p:txBody>
            </p:sp>
            <p:sp>
              <p:nvSpPr>
                <p:cNvPr id="363" name="Google Shape;363;p22"/>
                <p:cNvSpPr/>
                <p:nvPr/>
              </p:nvSpPr>
              <p:spPr>
                <a:xfrm flipH="1">
                  <a:off x="4276600" y="4123050"/>
                  <a:ext cx="720600" cy="12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89575" lIns="89575" spcFirstLastPara="1" rIns="89575" wrap="square" tIns="89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588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AI Workflows</a:t>
                  </a:r>
                  <a:endParaRPr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pic>
            <p:nvPicPr>
              <p:cNvPr id="364" name="Google Shape;364;p22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601948" y="1625325"/>
                <a:ext cx="567161" cy="167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5" name="Google Shape;365;p22"/>
            <p:cNvGrpSpPr/>
            <p:nvPr/>
          </p:nvGrpSpPr>
          <p:grpSpPr>
            <a:xfrm>
              <a:off x="4614093" y="1832142"/>
              <a:ext cx="808923" cy="348319"/>
              <a:chOff x="4224150" y="3925575"/>
              <a:chExt cx="825600" cy="355500"/>
            </a:xfrm>
          </p:grpSpPr>
          <p:sp>
            <p:nvSpPr>
              <p:cNvPr id="366" name="Google Shape;366;p22"/>
              <p:cNvSpPr/>
              <p:nvPr/>
            </p:nvSpPr>
            <p:spPr>
              <a:xfrm>
                <a:off x="4224150" y="3925575"/>
                <a:ext cx="825600" cy="355500"/>
              </a:xfrm>
              <a:prstGeom prst="roundRect">
                <a:avLst>
                  <a:gd fmla="val 16667" name="adj"/>
                </a:avLst>
              </a:prstGeom>
              <a:solidFill>
                <a:srgbClr val="D6CFE5"/>
              </a:solidFill>
              <a:ln>
                <a:noFill/>
              </a:ln>
              <a:effectLst>
                <a:outerShdw blurRad="55994" rotWithShape="0" algn="bl" dir="2700000" dist="37329">
                  <a:srgbClr val="000000">
                    <a:alpha val="1000"/>
                  </a:srgbClr>
                </a:outerShdw>
              </a:effectLst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72"/>
              </a:p>
            </p:txBody>
          </p:sp>
          <p:sp>
            <p:nvSpPr>
              <p:cNvPr id="367" name="Google Shape;367;p22"/>
              <p:cNvSpPr/>
              <p:nvPr/>
            </p:nvSpPr>
            <p:spPr>
              <a:xfrm flipH="1">
                <a:off x="4276600" y="3963760"/>
                <a:ext cx="720600" cy="27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Homepage</a:t>
                </a:r>
                <a:endParaRPr b="1"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Dashboard</a:t>
                </a:r>
                <a:endParaRPr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8" name="Google Shape;368;p22"/>
            <p:cNvGrpSpPr/>
            <p:nvPr/>
          </p:nvGrpSpPr>
          <p:grpSpPr>
            <a:xfrm>
              <a:off x="5591123" y="1832084"/>
              <a:ext cx="808923" cy="348319"/>
              <a:chOff x="6135825" y="1595300"/>
              <a:chExt cx="825600" cy="355500"/>
            </a:xfrm>
          </p:grpSpPr>
          <p:grpSp>
            <p:nvGrpSpPr>
              <p:cNvPr id="369" name="Google Shape;369;p22"/>
              <p:cNvGrpSpPr/>
              <p:nvPr/>
            </p:nvGrpSpPr>
            <p:grpSpPr>
              <a:xfrm>
                <a:off x="6135825" y="1595300"/>
                <a:ext cx="825600" cy="355500"/>
                <a:chOff x="4224150" y="3925575"/>
                <a:chExt cx="825600" cy="355500"/>
              </a:xfrm>
            </p:grpSpPr>
            <p:sp>
              <p:nvSpPr>
                <p:cNvPr id="370" name="Google Shape;370;p22"/>
                <p:cNvSpPr/>
                <p:nvPr/>
              </p:nvSpPr>
              <p:spPr>
                <a:xfrm>
                  <a:off x="4224150" y="3925575"/>
                  <a:ext cx="825600" cy="355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6CFE5"/>
                </a:solidFill>
                <a:ln>
                  <a:noFill/>
                </a:ln>
                <a:effectLst>
                  <a:outerShdw blurRad="55994" rotWithShape="0" algn="bl" dir="2700000" dist="37329">
                    <a:srgbClr val="000000">
                      <a:alpha val="1000"/>
                    </a:srgbClr>
                  </a:outerShdw>
                </a:effectLst>
              </p:spPr>
              <p:txBody>
                <a:bodyPr anchorCtr="0" anchor="ctr" bIns="89575" lIns="89575" spcFirstLastPara="1" rIns="89575" wrap="square" tIns="89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72"/>
                </a:p>
              </p:txBody>
            </p:sp>
            <p:sp>
              <p:nvSpPr>
                <p:cNvPr id="371" name="Google Shape;371;p22"/>
                <p:cNvSpPr/>
                <p:nvPr/>
              </p:nvSpPr>
              <p:spPr>
                <a:xfrm flipH="1">
                  <a:off x="4276600" y="4123050"/>
                  <a:ext cx="720600" cy="12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89575" lIns="89575" spcFirstLastPara="1" rIns="89575" wrap="square" tIns="89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588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Workspace</a:t>
                  </a:r>
                  <a:endParaRPr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pic>
            <p:nvPicPr>
              <p:cNvPr id="372" name="Google Shape;372;p22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6271775" y="1643600"/>
                <a:ext cx="121626" cy="1216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3" name="Google Shape;373;p22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6487812" y="1633897"/>
                <a:ext cx="121624" cy="1410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4" name="Google Shape;374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6703825" y="1633900"/>
                <a:ext cx="141024" cy="1410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5" name="Google Shape;375;p22"/>
            <p:cNvGrpSpPr/>
            <p:nvPr/>
          </p:nvGrpSpPr>
          <p:grpSpPr>
            <a:xfrm>
              <a:off x="2660099" y="1832090"/>
              <a:ext cx="808923" cy="348319"/>
              <a:chOff x="3090875" y="1840200"/>
              <a:chExt cx="825600" cy="355500"/>
            </a:xfrm>
          </p:grpSpPr>
          <p:grpSp>
            <p:nvGrpSpPr>
              <p:cNvPr id="376" name="Google Shape;376;p22"/>
              <p:cNvGrpSpPr/>
              <p:nvPr/>
            </p:nvGrpSpPr>
            <p:grpSpPr>
              <a:xfrm>
                <a:off x="3090875" y="1840200"/>
                <a:ext cx="825600" cy="355500"/>
                <a:chOff x="4224150" y="3925575"/>
                <a:chExt cx="825600" cy="355500"/>
              </a:xfrm>
            </p:grpSpPr>
            <p:sp>
              <p:nvSpPr>
                <p:cNvPr id="377" name="Google Shape;377;p22"/>
                <p:cNvSpPr/>
                <p:nvPr/>
              </p:nvSpPr>
              <p:spPr>
                <a:xfrm>
                  <a:off x="4224150" y="3925575"/>
                  <a:ext cx="825600" cy="355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6CFE5"/>
                </a:solidFill>
                <a:ln>
                  <a:noFill/>
                </a:ln>
                <a:effectLst>
                  <a:outerShdw blurRad="55994" rotWithShape="0" algn="bl" dir="2700000" dist="37329">
                    <a:srgbClr val="000000">
                      <a:alpha val="1000"/>
                    </a:srgbClr>
                  </a:outerShdw>
                </a:effectLst>
              </p:spPr>
              <p:txBody>
                <a:bodyPr anchorCtr="0" anchor="ctr" bIns="89575" lIns="89575" spcFirstLastPara="1" rIns="89575" wrap="square" tIns="89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72"/>
                </a:p>
              </p:txBody>
            </p:sp>
            <p:sp>
              <p:nvSpPr>
                <p:cNvPr id="378" name="Google Shape;378;p22"/>
                <p:cNvSpPr/>
                <p:nvPr/>
              </p:nvSpPr>
              <p:spPr>
                <a:xfrm flipH="1">
                  <a:off x="4276600" y="4123050"/>
                  <a:ext cx="720600" cy="12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89575" lIns="89575" spcFirstLastPara="1" rIns="89575" wrap="square" tIns="89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588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Frontend</a:t>
                  </a:r>
                  <a:endParaRPr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79" name="Google Shape;379;p22"/>
              <p:cNvGrpSpPr/>
              <p:nvPr/>
            </p:nvGrpSpPr>
            <p:grpSpPr>
              <a:xfrm>
                <a:off x="3132403" y="1892388"/>
                <a:ext cx="742541" cy="118378"/>
                <a:chOff x="2726800" y="848825"/>
                <a:chExt cx="1692979" cy="269901"/>
              </a:xfrm>
            </p:grpSpPr>
            <p:pic>
              <p:nvPicPr>
                <p:cNvPr id="380" name="Google Shape;380;p22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2726800" y="848825"/>
                  <a:ext cx="269901" cy="2699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81" name="Google Shape;381;p22"/>
                <p:cNvPicPr preferRelativeResize="0"/>
                <p:nvPr/>
              </p:nvPicPr>
              <p:blipFill>
                <a:blip r:embed="rId13">
                  <a:alphaModFix/>
                </a:blip>
                <a:stretch>
                  <a:fillRect/>
                </a:stretch>
              </p:blipFill>
              <p:spPr>
                <a:xfrm>
                  <a:off x="3068125" y="888188"/>
                  <a:ext cx="1351654" cy="207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82" name="Google Shape;382;p22"/>
            <p:cNvGrpSpPr/>
            <p:nvPr/>
          </p:nvGrpSpPr>
          <p:grpSpPr>
            <a:xfrm>
              <a:off x="3637110" y="1320908"/>
              <a:ext cx="808923" cy="348319"/>
              <a:chOff x="4224150" y="3925575"/>
              <a:chExt cx="825600" cy="355500"/>
            </a:xfrm>
          </p:grpSpPr>
          <p:sp>
            <p:nvSpPr>
              <p:cNvPr id="383" name="Google Shape;383;p22"/>
              <p:cNvSpPr/>
              <p:nvPr/>
            </p:nvSpPr>
            <p:spPr>
              <a:xfrm>
                <a:off x="4224150" y="3925575"/>
                <a:ext cx="825600" cy="355500"/>
              </a:xfrm>
              <a:prstGeom prst="roundRect">
                <a:avLst>
                  <a:gd fmla="val 16667" name="adj"/>
                </a:avLst>
              </a:prstGeom>
              <a:solidFill>
                <a:srgbClr val="D6CFE5"/>
              </a:solidFill>
              <a:ln>
                <a:noFill/>
              </a:ln>
              <a:effectLst>
                <a:outerShdw blurRad="55994" rotWithShape="0" algn="bl" dir="2700000" dist="37329">
                  <a:srgbClr val="000000">
                    <a:alpha val="1000"/>
                  </a:srgbClr>
                </a:outerShdw>
              </a:effectLst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72"/>
              </a:p>
            </p:txBody>
          </p:sp>
          <p:sp>
            <p:nvSpPr>
              <p:cNvPr id="384" name="Google Shape;384;p22"/>
              <p:cNvSpPr/>
              <p:nvPr/>
            </p:nvSpPr>
            <p:spPr>
              <a:xfrm flipH="1">
                <a:off x="4235300" y="4123063"/>
                <a:ext cx="803100" cy="12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9575" lIns="89575" spcFirstLastPara="1" rIns="89575" wrap="square" tIns="8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Authentication</a:t>
                </a:r>
                <a:endParaRPr sz="58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385" name="Google Shape;385;p22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3778031" y="1360576"/>
              <a:ext cx="163632" cy="1640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22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009055" y="1392443"/>
              <a:ext cx="273577" cy="10028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7" name="Google Shape;387;p22"/>
            <p:cNvGrpSpPr/>
            <p:nvPr/>
          </p:nvGrpSpPr>
          <p:grpSpPr>
            <a:xfrm>
              <a:off x="3637071" y="793563"/>
              <a:ext cx="808972" cy="348319"/>
              <a:chOff x="3660575" y="795213"/>
              <a:chExt cx="825650" cy="355500"/>
            </a:xfrm>
          </p:grpSpPr>
          <p:grpSp>
            <p:nvGrpSpPr>
              <p:cNvPr id="388" name="Google Shape;388;p22"/>
              <p:cNvGrpSpPr/>
              <p:nvPr/>
            </p:nvGrpSpPr>
            <p:grpSpPr>
              <a:xfrm>
                <a:off x="3660575" y="795213"/>
                <a:ext cx="825650" cy="355500"/>
                <a:chOff x="4224100" y="3925575"/>
                <a:chExt cx="825650" cy="355500"/>
              </a:xfrm>
            </p:grpSpPr>
            <p:sp>
              <p:nvSpPr>
                <p:cNvPr id="389" name="Google Shape;389;p22"/>
                <p:cNvSpPr/>
                <p:nvPr/>
              </p:nvSpPr>
              <p:spPr>
                <a:xfrm>
                  <a:off x="4224150" y="3925575"/>
                  <a:ext cx="825600" cy="355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D6CFE5"/>
                </a:solidFill>
                <a:ln>
                  <a:noFill/>
                </a:ln>
                <a:effectLst>
                  <a:outerShdw blurRad="55994" rotWithShape="0" algn="bl" dir="2700000" dist="37329">
                    <a:srgbClr val="000000">
                      <a:alpha val="1000"/>
                    </a:srgbClr>
                  </a:outerShdw>
                </a:effectLst>
              </p:spPr>
              <p:txBody>
                <a:bodyPr anchorCtr="0" anchor="ctr" bIns="89575" lIns="89575" spcFirstLastPara="1" rIns="89575" wrap="square" tIns="89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72"/>
                </a:p>
              </p:txBody>
            </p:sp>
            <p:sp>
              <p:nvSpPr>
                <p:cNvPr id="390" name="Google Shape;390;p22"/>
                <p:cNvSpPr/>
                <p:nvPr/>
              </p:nvSpPr>
              <p:spPr>
                <a:xfrm flipH="1">
                  <a:off x="4224100" y="4123063"/>
                  <a:ext cx="825600" cy="12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89575" lIns="89575" spcFirstLastPara="1" rIns="89575" wrap="square" tIns="895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588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Load Balancer</a:t>
                  </a:r>
                  <a:endParaRPr sz="588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pic>
            <p:nvPicPr>
              <p:cNvPr id="391" name="Google Shape;391;p22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3904590" y="846425"/>
                <a:ext cx="360371" cy="1427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392" name="Google Shape;392;p22"/>
            <p:cNvCxnSpPr>
              <a:stCxn id="389" idx="2"/>
              <a:endCxn id="383" idx="0"/>
            </p:cNvCxnSpPr>
            <p:nvPr/>
          </p:nvCxnSpPr>
          <p:spPr>
            <a:xfrm>
              <a:off x="4041582" y="1141882"/>
              <a:ext cx="0" cy="1791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22"/>
            <p:cNvCxnSpPr>
              <a:stCxn id="383" idx="2"/>
              <a:endCxn id="362" idx="0"/>
            </p:cNvCxnSpPr>
            <p:nvPr/>
          </p:nvCxnSpPr>
          <p:spPr>
            <a:xfrm>
              <a:off x="4041571" y="1669227"/>
              <a:ext cx="0" cy="1629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22"/>
            <p:cNvCxnSpPr>
              <a:stCxn id="362" idx="2"/>
              <a:endCxn id="357" idx="0"/>
            </p:cNvCxnSpPr>
            <p:nvPr/>
          </p:nvCxnSpPr>
          <p:spPr>
            <a:xfrm>
              <a:off x="4041578" y="2180402"/>
              <a:ext cx="0" cy="1647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22"/>
            <p:cNvCxnSpPr>
              <a:stCxn id="357" idx="2"/>
              <a:endCxn id="354" idx="0"/>
            </p:cNvCxnSpPr>
            <p:nvPr/>
          </p:nvCxnSpPr>
          <p:spPr>
            <a:xfrm>
              <a:off x="4041571" y="2693361"/>
              <a:ext cx="0" cy="1653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22"/>
            <p:cNvCxnSpPr>
              <a:stCxn id="354" idx="2"/>
              <a:endCxn id="350" idx="0"/>
            </p:cNvCxnSpPr>
            <p:nvPr/>
          </p:nvCxnSpPr>
          <p:spPr>
            <a:xfrm>
              <a:off x="4041596" y="3207106"/>
              <a:ext cx="0" cy="1659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22"/>
            <p:cNvCxnSpPr/>
            <p:nvPr/>
          </p:nvCxnSpPr>
          <p:spPr>
            <a:xfrm>
              <a:off x="3064473" y="1731686"/>
              <a:ext cx="0" cy="1002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22"/>
            <p:cNvCxnSpPr/>
            <p:nvPr/>
          </p:nvCxnSpPr>
          <p:spPr>
            <a:xfrm>
              <a:off x="5018438" y="1731686"/>
              <a:ext cx="0" cy="1002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22"/>
            <p:cNvCxnSpPr/>
            <p:nvPr/>
          </p:nvCxnSpPr>
          <p:spPr>
            <a:xfrm>
              <a:off x="5995420" y="1731686"/>
              <a:ext cx="0" cy="1002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22"/>
            <p:cNvCxnSpPr/>
            <p:nvPr/>
          </p:nvCxnSpPr>
          <p:spPr>
            <a:xfrm>
              <a:off x="3058790" y="1736393"/>
              <a:ext cx="2941200" cy="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22"/>
            <p:cNvCxnSpPr/>
            <p:nvPr/>
          </p:nvCxnSpPr>
          <p:spPr>
            <a:xfrm>
              <a:off x="3058790" y="2175254"/>
              <a:ext cx="0" cy="1002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22"/>
            <p:cNvCxnSpPr/>
            <p:nvPr/>
          </p:nvCxnSpPr>
          <p:spPr>
            <a:xfrm>
              <a:off x="5989738" y="2175254"/>
              <a:ext cx="0" cy="1002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22"/>
            <p:cNvCxnSpPr/>
            <p:nvPr/>
          </p:nvCxnSpPr>
          <p:spPr>
            <a:xfrm>
              <a:off x="3058790" y="2272844"/>
              <a:ext cx="2931600" cy="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22"/>
            <p:cNvCxnSpPr/>
            <p:nvPr/>
          </p:nvCxnSpPr>
          <p:spPr>
            <a:xfrm>
              <a:off x="5018438" y="2272840"/>
              <a:ext cx="0" cy="127470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22"/>
            <p:cNvCxnSpPr>
              <a:endCxn id="350" idx="3"/>
            </p:cNvCxnSpPr>
            <p:nvPr/>
          </p:nvCxnSpPr>
          <p:spPr>
            <a:xfrm rot="10800000">
              <a:off x="4446016" y="3547082"/>
              <a:ext cx="568200" cy="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22"/>
            <p:cNvCxnSpPr/>
            <p:nvPr/>
          </p:nvCxnSpPr>
          <p:spPr>
            <a:xfrm rot="10800000">
              <a:off x="4445976" y="2519099"/>
              <a:ext cx="568200" cy="0"/>
            </a:xfrm>
            <a:prstGeom prst="straightConnector1">
              <a:avLst/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" name="Google Shape;407;p22"/>
            <p:cNvSpPr/>
            <p:nvPr/>
          </p:nvSpPr>
          <p:spPr>
            <a:xfrm>
              <a:off x="2492725" y="648500"/>
              <a:ext cx="4030800" cy="4057200"/>
            </a:xfrm>
            <a:prstGeom prst="roundRect">
              <a:avLst>
                <a:gd fmla="val 2075" name="adj"/>
              </a:avLst>
            </a:prstGeom>
            <a:noFill/>
            <a:ln cap="flat" cmpd="sng" w="9325">
              <a:solidFill>
                <a:srgbClr val="9483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575" lIns="89575" spcFirstLastPara="1" rIns="89575" wrap="square" tIns="89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72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Customer Use Cases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3" name="Google Shape;413;p23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14" name="Google Shape;4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3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6" name="Google Shape;416;p23"/>
          <p:cNvSpPr txBox="1"/>
          <p:nvPr/>
        </p:nvSpPr>
        <p:spPr>
          <a:xfrm>
            <a:off x="256650" y="800600"/>
            <a:ext cx="85809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Customer Support AI (Insurance)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IT Support Agent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MLOps Platform Enablement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Agentic AI Solution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Accelerating Research with Compute Platform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CNI Plugin for Kubernetes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 Native Platform (K8S) Services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Virtual PCIe Fabric management using Kubernetes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"/>
          <p:cNvSpPr/>
          <p:nvPr/>
        </p:nvSpPr>
        <p:spPr>
          <a:xfrm>
            <a:off x="1179680" y="923213"/>
            <a:ext cx="2052300" cy="16041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600" lIns="71600" spcFirstLastPara="1" rIns="71600" wrap="square" tIns="71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861"/>
              <a:buFont typeface="Arial"/>
              <a:buNone/>
            </a:pPr>
            <a:r>
              <a:t/>
            </a:r>
            <a:endParaRPr sz="842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940"/>
              </a:spcBef>
              <a:spcAft>
                <a:spcPts val="940"/>
              </a:spcAft>
              <a:buClr>
                <a:schemeClr val="dk1"/>
              </a:buClr>
              <a:buSzPts val="861"/>
              <a:buFont typeface="Arial"/>
              <a:buNone/>
            </a:pPr>
            <a:r>
              <a:rPr lang="en" sz="842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Unified</a:t>
            </a:r>
            <a:r>
              <a:rPr lang="en" sz="842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, multi-agent platform that lets users explore data from various sources using no code.</a:t>
            </a:r>
            <a:endParaRPr b="0" i="0" sz="842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1203002" y="3054152"/>
            <a:ext cx="1932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825" lIns="75825" spcFirstLastPara="1" rIns="75825" wrap="square" tIns="758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95"/>
              </a:spcBef>
              <a:spcAft>
                <a:spcPts val="995"/>
              </a:spcAft>
              <a:buClr>
                <a:schemeClr val="dk1"/>
              </a:buClr>
              <a:buSzPts val="913"/>
              <a:buFont typeface="Arial"/>
              <a:buNone/>
            </a:pPr>
            <a:r>
              <a:t/>
            </a:r>
            <a:endParaRPr b="1" i="0" sz="93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3" name="Google Shape;42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4"/>
          <p:cNvSpPr/>
          <p:nvPr/>
        </p:nvSpPr>
        <p:spPr>
          <a:xfrm>
            <a:off x="1118475" y="2751256"/>
            <a:ext cx="2052300" cy="16041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600" lIns="71600" spcFirstLastPara="1" rIns="71600" wrap="square" tIns="71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944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944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940"/>
              </a:spcBef>
              <a:spcAft>
                <a:spcPts val="940"/>
              </a:spcAft>
              <a:buClr>
                <a:schemeClr val="dk1"/>
              </a:buClr>
              <a:buFont typeface="Arial"/>
              <a:buNone/>
            </a:pPr>
            <a:r>
              <a:rPr lang="en" sz="842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RAG-native AI copilot that streamlines teaching tasks, personalizes learning, and enhances student engagement in higher education.</a:t>
            </a:r>
            <a:endParaRPr sz="842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5990482" y="817213"/>
            <a:ext cx="2052300" cy="16524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25" lIns="75825" spcFirstLastPara="1" rIns="75825" wrap="square" tIns="75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"/>
              <a:buFont typeface="Arial"/>
              <a:buNone/>
            </a:pPr>
            <a:r>
              <a:t/>
            </a:r>
            <a:endParaRPr sz="842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"/>
              <a:buFont typeface="Arial"/>
              <a:buNone/>
            </a:pPr>
            <a:r>
              <a:t/>
            </a:r>
            <a:endParaRPr sz="842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40"/>
              </a:spcBef>
              <a:spcAft>
                <a:spcPts val="940"/>
              </a:spcAft>
              <a:buClr>
                <a:schemeClr val="dk1"/>
              </a:buClr>
              <a:buSzPts val="861"/>
              <a:buFont typeface="Arial"/>
              <a:buNone/>
            </a:pPr>
            <a:r>
              <a:rPr lang="en" sz="842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multi-agent assistant that streamlines workplace processes with intelligent automation, powered by RAG for document retrieval and knowledge querying.</a:t>
            </a:r>
            <a:endParaRPr sz="842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5973227" y="2752013"/>
            <a:ext cx="2052300" cy="16524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25" lIns="75825" spcFirstLastPara="1" rIns="75825" wrap="square" tIns="758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861"/>
              <a:buFont typeface="Arial"/>
              <a:buNone/>
            </a:pPr>
            <a:r>
              <a:t/>
            </a:r>
            <a:endParaRPr sz="1216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40"/>
              </a:spcBef>
              <a:spcAft>
                <a:spcPts val="940"/>
              </a:spcAft>
              <a:buClr>
                <a:schemeClr val="dk1"/>
              </a:buClr>
              <a:buSzPts val="861"/>
              <a:buFont typeface="Arial"/>
              <a:buNone/>
            </a:pPr>
            <a:r>
              <a:rPr lang="en" sz="842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smart, personalized health AI agent that continuously monitors your health data, analyzes trends, and delivers tailored recommendations and action plans.</a:t>
            </a:r>
            <a:endParaRPr sz="842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3545840" y="2752013"/>
            <a:ext cx="2052300" cy="16524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25" lIns="75825" spcFirstLastPara="1" rIns="75825" wrap="square" tIns="758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861"/>
              <a:buFont typeface="Arial"/>
              <a:buNone/>
            </a:pPr>
            <a:r>
              <a:t/>
            </a:r>
            <a:endParaRPr sz="935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40"/>
              </a:spcBef>
              <a:spcAft>
                <a:spcPts val="940"/>
              </a:spcAft>
              <a:buClr>
                <a:schemeClr val="dk1"/>
              </a:buClr>
              <a:buSzPts val="861"/>
              <a:buFont typeface="Arial"/>
              <a:buNone/>
            </a:pPr>
            <a:r>
              <a:rPr lang="en" sz="842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AI-driven document assistant that streamlines workflows through intelligent sorting, key field extraction, and deep document analysis.</a:t>
            </a:r>
            <a:endParaRPr sz="748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24"/>
          <p:cNvSpPr txBox="1"/>
          <p:nvPr/>
        </p:nvSpPr>
        <p:spPr>
          <a:xfrm>
            <a:off x="1230528" y="1059624"/>
            <a:ext cx="15864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3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QueriLynx</a:t>
            </a:r>
            <a:endParaRPr sz="1683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429" name="Google Shape;429;p24"/>
          <p:cNvGrpSpPr/>
          <p:nvPr/>
        </p:nvGrpSpPr>
        <p:grpSpPr>
          <a:xfrm>
            <a:off x="3545828" y="915603"/>
            <a:ext cx="2052357" cy="1604071"/>
            <a:chOff x="3354400" y="787200"/>
            <a:chExt cx="2194800" cy="1715400"/>
          </a:xfrm>
        </p:grpSpPr>
        <p:sp>
          <p:nvSpPr>
            <p:cNvPr id="430" name="Google Shape;430;p24"/>
            <p:cNvSpPr/>
            <p:nvPr/>
          </p:nvSpPr>
          <p:spPr>
            <a:xfrm>
              <a:off x="3354400" y="787200"/>
              <a:ext cx="2194800" cy="17154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89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825" lIns="75825" spcFirstLastPara="1" rIns="75825" wrap="square" tIns="75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995"/>
                </a:spcBef>
                <a:spcAft>
                  <a:spcPts val="0"/>
                </a:spcAft>
                <a:buClr>
                  <a:schemeClr val="dk1"/>
                </a:buClr>
                <a:buSzPts val="913"/>
                <a:buFont typeface="Arial"/>
                <a:buNone/>
              </a:pPr>
              <a:r>
                <a:t/>
              </a:r>
              <a:endParaRPr sz="93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995"/>
                </a:spcBef>
                <a:spcAft>
                  <a:spcPts val="0"/>
                </a:spcAft>
                <a:buClr>
                  <a:schemeClr val="dk1"/>
                </a:buClr>
                <a:buSzPts val="913"/>
                <a:buFont typeface="Arial"/>
                <a:buNone/>
              </a:pPr>
              <a:r>
                <a:t/>
              </a:r>
              <a:endParaRPr sz="842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995"/>
                </a:spcBef>
                <a:spcAft>
                  <a:spcPts val="940"/>
                </a:spcAft>
                <a:buClr>
                  <a:schemeClr val="dk1"/>
                </a:buClr>
                <a:buSzPts val="861"/>
                <a:buFont typeface="Arial"/>
                <a:buNone/>
              </a:pPr>
              <a:r>
                <a:rPr lang="en" sz="842">
                  <a:solidFill>
                    <a:schemeClr val="dk1"/>
                  </a:solidFill>
                  <a:uFill>
                    <a:noFill/>
                  </a:uFill>
                  <a:latin typeface="Poppins"/>
                  <a:ea typeface="Poppins"/>
                  <a:cs typeface="Poppins"/>
                  <a:sym typeface="Poppins"/>
                  <a:hlinkClick action="ppaction://hlinksldjump" r:id="rId10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Multi agent workflow that lets users to generate hypothesis over a certain topic while refining it, using the elo scores and re-ranking agents.</a:t>
              </a:r>
              <a:endParaRPr b="0" i="0" sz="1067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4"/>
            <p:cNvSpPr txBox="1"/>
            <p:nvPr/>
          </p:nvSpPr>
          <p:spPr>
            <a:xfrm>
              <a:off x="3430050" y="941214"/>
              <a:ext cx="2107500" cy="3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500" lIns="85500" spcFirstLastPara="1" rIns="85500" wrap="square" tIns="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83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AI Research Lab</a:t>
              </a:r>
              <a:endParaRPr sz="1683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432" name="Google Shape;432;p24"/>
          <p:cNvSpPr txBox="1"/>
          <p:nvPr/>
        </p:nvSpPr>
        <p:spPr>
          <a:xfrm>
            <a:off x="1139073" y="2988952"/>
            <a:ext cx="19707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3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Virtual Teaching Assistant</a:t>
            </a:r>
            <a:endParaRPr sz="1683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3" name="Google Shape;433;p24"/>
          <p:cNvSpPr txBox="1"/>
          <p:nvPr/>
        </p:nvSpPr>
        <p:spPr>
          <a:xfrm>
            <a:off x="6022719" y="1051723"/>
            <a:ext cx="15864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3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AskX</a:t>
            </a:r>
            <a:endParaRPr sz="1683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3581948" y="2912248"/>
            <a:ext cx="15864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3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DocMind</a:t>
            </a:r>
            <a:endParaRPr sz="1683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5" name="Google Shape;435;p24"/>
          <p:cNvSpPr txBox="1"/>
          <p:nvPr/>
        </p:nvSpPr>
        <p:spPr>
          <a:xfrm>
            <a:off x="6075880" y="2912248"/>
            <a:ext cx="15864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3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PulseIQ</a:t>
            </a:r>
            <a:endParaRPr sz="1683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261050" y="265750"/>
            <a:ext cx="5989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00" lIns="68400" spcFirstLastPara="1" rIns="68400" wrap="square" tIns="34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0A8"/>
              </a:buClr>
              <a:buSzPts val="2100"/>
              <a:buFont typeface="Arial"/>
              <a:buNone/>
            </a:pPr>
            <a:r>
              <a:rPr b="1" lang="en" sz="24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Our Solutions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7" name="Google Shape;437;p24" title="dkube.io black.png">
            <a:hlinkClick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43" name="Google Shape;4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5"/>
          <p:cNvSpPr txBox="1"/>
          <p:nvPr/>
        </p:nvSpPr>
        <p:spPr>
          <a:xfrm>
            <a:off x="221725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Customers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5" name="Google Shape;445;p2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46" name="Google Shape;44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2114" y="1002911"/>
            <a:ext cx="1386278" cy="355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0488" y="1798515"/>
            <a:ext cx="1789506" cy="40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5815" y="2638609"/>
            <a:ext cx="958854" cy="501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22952" y="3431785"/>
            <a:ext cx="764564" cy="781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26090" y="1693557"/>
            <a:ext cx="2178960" cy="61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97656" y="2611911"/>
            <a:ext cx="2235853" cy="449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5"/>
          <p:cNvPicPr preferRelativeResize="0"/>
          <p:nvPr/>
        </p:nvPicPr>
        <p:blipFill rotWithShape="1">
          <a:blip r:embed="rId10">
            <a:alphaModFix/>
          </a:blip>
          <a:srcRect b="20282" l="4889" r="0" t="25891"/>
          <a:stretch/>
        </p:blipFill>
        <p:spPr>
          <a:xfrm>
            <a:off x="5669437" y="929862"/>
            <a:ext cx="1692288" cy="50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5" title="Boston Limited Logo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58400" y="3597799"/>
            <a:ext cx="1514362" cy="4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6"/>
          <p:cNvSpPr txBox="1"/>
          <p:nvPr/>
        </p:nvSpPr>
        <p:spPr>
          <a:xfrm>
            <a:off x="282750" y="1688175"/>
            <a:ext cx="8578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Build. Scale. Innovate.</a:t>
            </a:r>
            <a:endParaRPr b="1" sz="40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9" name="Google Shape;459;p26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113" y="2600413"/>
            <a:ext cx="3166075" cy="85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8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69" name="Google Shape;46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8"/>
          <p:cNvSpPr txBox="1"/>
          <p:nvPr/>
        </p:nvSpPr>
        <p:spPr>
          <a:xfrm>
            <a:off x="251950" y="8150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Robust Security and User Management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1" name="Google Shape;471;p28"/>
          <p:cNvSpPr txBox="1"/>
          <p:nvPr/>
        </p:nvSpPr>
        <p:spPr>
          <a:xfrm>
            <a:off x="251950" y="14652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Enterprise-grade access control and identity management are built in.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Supported OAuth Providers: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 · Okta · Keycloak · Google · Microsoft ADFS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 to AWS Enterprises: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Seamless integration with corporate identity systems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Role-based access and audit trails for every user action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Meets security and compliance standards expected in regulated industries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2" name="Google Shape;472;p28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8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9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79" name="Google Shape;4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9"/>
          <p:cNvSpPr txBox="1"/>
          <p:nvPr/>
        </p:nvSpPr>
        <p:spPr>
          <a:xfrm>
            <a:off x="251950" y="8150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Comprehensive User Workspaces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" name="Google Shape;481;p29"/>
          <p:cNvSpPr txBox="1"/>
          <p:nvPr/>
        </p:nvSpPr>
        <p:spPr>
          <a:xfrm>
            <a:off x="251950" y="1465223"/>
            <a:ext cx="8585700" cy="21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Pre-configured environments for data scientists and MLOps teams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IDEs: RStudio, JupyterLab, VS Code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Integrated File Browser and Terminal access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Consistent, ready-to-use setup across teams and projects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Accelerates experimentation and collaboration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2" name="Google Shape;482;p29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9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0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89" name="Google Shape;4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0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ML Training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1" name="Google Shape;491;p30"/>
          <p:cNvSpPr txBox="1"/>
          <p:nvPr/>
        </p:nvSpPr>
        <p:spPr>
          <a:xfrm>
            <a:off x="251950" y="892625"/>
            <a:ext cx="8487600" cy="3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Provides environments like Jupyter, Vscode, R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Integrates with tools like Ray, Kubeflow and flyte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 for training and serving traditional machine learning models.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 distributed ML jobs on Kubernetes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using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Ray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submit ML training jobs on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cloud (AWS, GCP)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Supports GPU/CPU resource allocation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Ensures reproducible and efficient training workflows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Uses Mlflow for tracking experiments and training runs including the parameters. metrics, artifacts of the training runs.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2" name="Google Shape;492;p30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1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98" name="Google Shape;4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1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ML Model Serving and Management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1"/>
          <p:cNvSpPr txBox="1"/>
          <p:nvPr/>
        </p:nvSpPr>
        <p:spPr>
          <a:xfrm>
            <a:off x="251950" y="8556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provides flexible model-serving options designed for scalability and performance across environments.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Serving Options: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 Kubernetes: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via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Ray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containerized inference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Cloud: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via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Skypilot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managed GPU/compute utilization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Business Advantage: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Choose deployment method based on workload size and cost profi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Unified management for training, serving, and monitoring ML models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1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2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07" name="Google Shape;5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2"/>
          <p:cNvSpPr txBox="1"/>
          <p:nvPr/>
        </p:nvSpPr>
        <p:spPr>
          <a:xfrm>
            <a:off x="251950" y="196109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MLOps Integration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09" name="Google Shape;509;p32"/>
          <p:cNvGrpSpPr/>
          <p:nvPr/>
        </p:nvGrpSpPr>
        <p:grpSpPr>
          <a:xfrm>
            <a:off x="278991" y="1057717"/>
            <a:ext cx="4210792" cy="1549009"/>
            <a:chOff x="5888500" y="1352275"/>
            <a:chExt cx="3083700" cy="1219500"/>
          </a:xfrm>
        </p:grpSpPr>
        <p:sp>
          <p:nvSpPr>
            <p:cNvPr id="510" name="Google Shape;510;p32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Record parameters, metrics, and artifacts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Reproduce and compare runs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Manage model versioning and lifecycle stages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11" name="Google Shape;511;p32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MLFlow - Experiment Tracking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512" name="Google Shape;512;p32"/>
          <p:cNvGrpSpPr/>
          <p:nvPr/>
        </p:nvGrpSpPr>
        <p:grpSpPr>
          <a:xfrm>
            <a:off x="279096" y="2702948"/>
            <a:ext cx="4210792" cy="1549009"/>
            <a:chOff x="5888500" y="1352275"/>
            <a:chExt cx="3083700" cy="1219500"/>
          </a:xfrm>
        </p:grpSpPr>
        <p:sp>
          <p:nvSpPr>
            <p:cNvPr id="513" name="Google Shape;513;p32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Automate tuning to improve accuracy and reduce iteration time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14" name="Google Shape;514;p32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Optuna - Hyperparameter Optimization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515" name="Google Shape;515;p32"/>
          <p:cNvGrpSpPr/>
          <p:nvPr/>
        </p:nvGrpSpPr>
        <p:grpSpPr>
          <a:xfrm>
            <a:off x="4725029" y="1057717"/>
            <a:ext cx="4139867" cy="1549009"/>
            <a:chOff x="5888500" y="1352275"/>
            <a:chExt cx="3083700" cy="1219500"/>
          </a:xfrm>
        </p:grpSpPr>
        <p:sp>
          <p:nvSpPr>
            <p:cNvPr id="516" name="Google Shape;516;p32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Design and execute complex ML pipelines on Kubernetes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Ensure consistency and scalability across teams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KubeFlow - Orchestration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518" name="Google Shape;518;p32"/>
          <p:cNvGrpSpPr/>
          <p:nvPr/>
        </p:nvGrpSpPr>
        <p:grpSpPr>
          <a:xfrm>
            <a:off x="4725132" y="2702948"/>
            <a:ext cx="4139867" cy="1549009"/>
            <a:chOff x="5888500" y="1352275"/>
            <a:chExt cx="3083700" cy="1219500"/>
          </a:xfrm>
        </p:grpSpPr>
        <p:sp>
          <p:nvSpPr>
            <p:cNvPr id="519" name="Google Shape;519;p32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Real-time insights into model performance and training behavior</a:t>
              </a:r>
              <a:endParaRPr sz="15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Tensorboard - Visualization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521" name="Google Shape;521;p32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3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27" name="Google Shape;52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3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LLMOps: Powering Generative AI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9" name="Google Shape;529;p33"/>
          <p:cNvSpPr txBox="1"/>
          <p:nvPr/>
        </p:nvSpPr>
        <p:spPr>
          <a:xfrm>
            <a:off x="251950" y="8556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Purpose-built for modern Generative AI workloads on Kubernetes– providing seamless management of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embedding models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training, deployment, and inference pipelines - both on-prem and across cloud environments.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Components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LLM/Embedding Model Catalog: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Ready-to-deploy open-source and NVIDIA NIM models (LLMs and embeddings)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Deployment: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KServe (local) or Skypilot (AWS, GCP)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Inference: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 on local GPUs or cloud GPU nodes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Auto-optimization for cost and performance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API Access: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Standardized endpoints for application integration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0" name="Google Shape;530;p33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4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36" name="Google Shape;5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4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LLM Fine-Tuning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34"/>
          <p:cNvSpPr txBox="1"/>
          <p:nvPr/>
        </p:nvSpPr>
        <p:spPr>
          <a:xfrm>
            <a:off x="251950" y="687330"/>
            <a:ext cx="85857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Features: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simplifies the complex process of fine-tuning LLMs and embedding models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Axolotl Framework: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human-readable configuration for fine-tuning jobs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Simplify fine-tuning with intuitive, YAML-based workflows.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Methods Supported: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LoRA and QLoRA for efficient tuning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Embeddings: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Flag Embedding for performance gains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Synthetic Data Generation: automatic positive/negative example creation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Value: 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Accelerated LLM customization for domain-specific applications without infrastructure overhead.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9" name="Google Shape;539;p34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45" name="Google Shape;5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5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Generative AI and Agentic Solutions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7" name="Google Shape;547;p35"/>
          <p:cNvSpPr txBox="1"/>
          <p:nvPr/>
        </p:nvSpPr>
        <p:spPr>
          <a:xfrm>
            <a:off x="251950" y="8556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Enables enterprise-grade Generative AI and multi-agent systems on Kubernetes, accelerating innovation and simplifying rapid GenAI deployment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Retrieval-Augmented Generation (RAG):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chatbots that understand and respond using ente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prise data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 AI: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Develop secure, scalable, and cost-efficient end-to-end AI workflows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Framework Proficiency:</a:t>
            </a:r>
            <a:b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 · LlamaIndex · LangFlow · MCP Server · LangGraph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8" name="Google Shape;548;p3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6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54" name="Google Shape;5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6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Simplified Installation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6" name="Google Shape;556;p36"/>
          <p:cNvSpPr txBox="1"/>
          <p:nvPr/>
        </p:nvSpPr>
        <p:spPr>
          <a:xfrm>
            <a:off x="251950" y="855623"/>
            <a:ext cx="8585700" cy="21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DKubeX’s installation process, powered by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Terraform and Helm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enables rapid deployment across both AWS, other clouds or on-prem environments.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Terraform-based installation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provisions and configures all necessary AWS infrastructure — including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EKS clusters, networking, storage, and IAM roles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ensuring a fully integrated and production-ready environment within minutes.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RKE2 installation using Helm charts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simplified on-prem deployments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Consistent configuration across environments ensures repeatability and compliance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7" name="Google Shape;557;p36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7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63" name="Google Shape;5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7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: </a:t>
            </a: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Customer Support AI (Insurance)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5" name="Google Shape;565;p37"/>
          <p:cNvSpPr txBox="1"/>
          <p:nvPr>
            <p:ph idx="4294967295" type="body"/>
          </p:nvPr>
        </p:nvSpPr>
        <p:spPr>
          <a:xfrm>
            <a:off x="251950" y="674775"/>
            <a:ext cx="8520600" cy="4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Implemented a secure, AI-powered Knowledge Engine for a leading health-insurance marketplace to deliver state-specific answers and cut escalations.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Retrieval &amp; Knowledge: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Advanced RAG combining state-specific private data with public policy docs for accurate, contextual responses.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 Excellence: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Fine-tuned Mistral to understand insurance terminology, state policies, and complex queries.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Private Deployment: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Fully within the client’s VPC with strict role-based access to state-scoped knowledge.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Guardrails &amp; Governance: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Hallucination controls prompting the model to admit uncertainty; comprehensive observability and RBAC.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 at Scale: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Optimized multi-GPU setup delivering &lt;5-second responses and high throughput.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6" name="Google Shape;566;p37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72" name="Google Shape;5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38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Case: IT Support Agent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4" name="Google Shape;574;p38"/>
          <p:cNvSpPr txBox="1"/>
          <p:nvPr>
            <p:ph idx="4294967295" type="body"/>
          </p:nvPr>
        </p:nvSpPr>
        <p:spPr>
          <a:xfrm>
            <a:off x="251950" y="674775"/>
            <a:ext cx="8520600" cy="3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Built an AI-powered Slack assistant to automate IT support, resolve queries instantly, and streamline ticket management.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Conversational AI: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Understands issues and provides contextual responses using LLM + RAG.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Knowledge Integration: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Retrieves solutions from GitHub, Slack, and Freshservice knowledge bases.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Smart Ticketing: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Creates or updates tickets when human intervention is needed.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Observability: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Langfuse-based tracing, analytics, and workflow monitoring.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Deployment: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Kubernetes-ready architecture with vector databases for scalability.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5" name="Google Shape;575;p38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9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81" name="Google Shape;5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9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Case: MLOps Platform Enablement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3" name="Google Shape;583;p39"/>
          <p:cNvSpPr txBox="1"/>
          <p:nvPr>
            <p:ph idx="4294967295" type="body"/>
          </p:nvPr>
        </p:nvSpPr>
        <p:spPr>
          <a:xfrm>
            <a:off x="251950" y="674775"/>
            <a:ext cx="8520600" cy="3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Enabled full MLOps lifecycle on DKube for seamless model development, training, and deployment on Kubernetes.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Unified Platform: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DKube powered end-to-end MLOps — from data prep to serving.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Isolated IDEs: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GPU-enabled JupyterLab and VS Code for secure experimentation.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Training &amp; Serving: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Used Kubeflow TF Operator and KServe for scalable workflows.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Pipeline Orchestration: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Automated ML pipelines through DKube’s Kubeflow integration.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4" name="Google Shape;584;p39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0"/>
          <p:cNvSpPr/>
          <p:nvPr/>
        </p:nvSpPr>
        <p:spPr>
          <a:xfrm>
            <a:off x="6184625" y="0"/>
            <a:ext cx="2959200" cy="51435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0"/>
          <p:cNvSpPr/>
          <p:nvPr/>
        </p:nvSpPr>
        <p:spPr>
          <a:xfrm>
            <a:off x="2968250" y="0"/>
            <a:ext cx="3216300" cy="51435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40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40" title="Group 4798.png"/>
          <p:cNvPicPr preferRelativeResize="0"/>
          <p:nvPr/>
        </p:nvPicPr>
        <p:blipFill rotWithShape="1">
          <a:blip r:embed="rId4">
            <a:alphaModFix/>
          </a:blip>
          <a:srcRect b="4922" l="0" r="0" t="4922"/>
          <a:stretch/>
        </p:blipFill>
        <p:spPr>
          <a:xfrm>
            <a:off x="323625" y="243175"/>
            <a:ext cx="1891925" cy="3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0"/>
          <p:cNvSpPr txBox="1"/>
          <p:nvPr/>
        </p:nvSpPr>
        <p:spPr>
          <a:xfrm>
            <a:off x="3092385" y="1336775"/>
            <a:ext cx="2852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Self-Evaluating Multi-Agent System</a:t>
            </a:r>
            <a:endParaRPr b="0" i="0" sz="11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4" name="Google Shape;594;p40"/>
          <p:cNvSpPr txBox="1"/>
          <p:nvPr/>
        </p:nvSpPr>
        <p:spPr>
          <a:xfrm>
            <a:off x="3092417" y="1461382"/>
            <a:ext cx="2959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71322"/>
                </a:solidFill>
                <a:latin typeface="Poppins"/>
                <a:ea typeface="Poppins"/>
                <a:cs typeface="Poppins"/>
                <a:sym typeface="Poppins"/>
              </a:rPr>
              <a:t>Agents collaborate and self-correct to ensure accurate, high-quality responses.</a:t>
            </a:r>
            <a:endParaRPr b="0" i="0" sz="11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p40"/>
          <p:cNvSpPr txBox="1"/>
          <p:nvPr/>
        </p:nvSpPr>
        <p:spPr>
          <a:xfrm>
            <a:off x="3080478" y="2645214"/>
            <a:ext cx="3019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Connects &amp; Queries multiple databases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6" name="Google Shape;596;p40"/>
          <p:cNvSpPr txBox="1"/>
          <p:nvPr/>
        </p:nvSpPr>
        <p:spPr>
          <a:xfrm>
            <a:off x="3080481" y="2682420"/>
            <a:ext cx="29592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71322"/>
                </a:solidFill>
                <a:latin typeface="Poppins"/>
                <a:ea typeface="Poppins"/>
                <a:cs typeface="Poppins"/>
                <a:sym typeface="Poppins"/>
              </a:rPr>
              <a:t>Seamlessly connect to and query multiple SQL databases.</a:t>
            </a:r>
            <a:endParaRPr b="0" i="0" sz="11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p40"/>
          <p:cNvSpPr txBox="1"/>
          <p:nvPr/>
        </p:nvSpPr>
        <p:spPr>
          <a:xfrm>
            <a:off x="6310925" y="1336775"/>
            <a:ext cx="243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Traceability and Observability</a:t>
            </a:r>
            <a:endParaRPr b="0" i="0" sz="11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8" name="Google Shape;598;p40"/>
          <p:cNvSpPr txBox="1"/>
          <p:nvPr/>
        </p:nvSpPr>
        <p:spPr>
          <a:xfrm>
            <a:off x="6310938" y="1461375"/>
            <a:ext cx="261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71322"/>
                </a:solidFill>
                <a:latin typeface="Poppins"/>
                <a:ea typeface="Poppins"/>
                <a:cs typeface="Poppins"/>
                <a:sym typeface="Poppins"/>
              </a:rPr>
              <a:t>Track agent actions and inspect generated SQL for full transparency.</a:t>
            </a:r>
            <a:endParaRPr b="0" i="0" sz="11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p40"/>
          <p:cNvSpPr txBox="1"/>
          <p:nvPr/>
        </p:nvSpPr>
        <p:spPr>
          <a:xfrm>
            <a:off x="6310926" y="2553218"/>
            <a:ext cx="243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Secure and Scalable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00" name="Google Shape;600;p40"/>
          <p:cNvSpPr txBox="1"/>
          <p:nvPr/>
        </p:nvSpPr>
        <p:spPr>
          <a:xfrm>
            <a:off x="6310938" y="2677825"/>
            <a:ext cx="270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71322"/>
                </a:solidFill>
                <a:latin typeface="Poppins"/>
                <a:ea typeface="Poppins"/>
                <a:cs typeface="Poppins"/>
                <a:sym typeface="Poppins"/>
              </a:rPr>
              <a:t>Deploy anywhere with built-in access controls and enterprise-grade security.</a:t>
            </a:r>
            <a:endParaRPr b="0" i="0" sz="11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1" name="Google Shape;601;p40"/>
          <p:cNvSpPr txBox="1"/>
          <p:nvPr/>
        </p:nvSpPr>
        <p:spPr>
          <a:xfrm>
            <a:off x="270950" y="1813700"/>
            <a:ext cx="24669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Unified, multi-agent powered platform that lets users explore data from various sources using no code.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2" name="Google Shape;602;p40">
            <a:hlinkClick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0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41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50" y="4723025"/>
            <a:ext cx="1058673" cy="1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41" title="Group 4798.png"/>
          <p:cNvPicPr preferRelativeResize="0"/>
          <p:nvPr/>
        </p:nvPicPr>
        <p:blipFill rotWithShape="1">
          <a:blip r:embed="rId4">
            <a:alphaModFix/>
          </a:blip>
          <a:srcRect b="4922" l="0" r="0" t="4922"/>
          <a:stretch/>
        </p:blipFill>
        <p:spPr>
          <a:xfrm>
            <a:off x="323625" y="243175"/>
            <a:ext cx="1891925" cy="3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41">
            <a:hlinkClick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41" title="DKube QueriLynx Construction Dataset Demo Video AI Audio 4.mo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1863" y="796025"/>
            <a:ext cx="6760267" cy="380265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41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2"/>
          <p:cNvSpPr/>
          <p:nvPr/>
        </p:nvSpPr>
        <p:spPr>
          <a:xfrm>
            <a:off x="6184625" y="0"/>
            <a:ext cx="2959200" cy="51435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2"/>
          <p:cNvSpPr/>
          <p:nvPr/>
        </p:nvSpPr>
        <p:spPr>
          <a:xfrm>
            <a:off x="2968250" y="0"/>
            <a:ext cx="3216300" cy="51435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9" name="Google Shape;619;p42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2"/>
          <p:cNvSpPr txBox="1"/>
          <p:nvPr/>
        </p:nvSpPr>
        <p:spPr>
          <a:xfrm>
            <a:off x="270950" y="1469625"/>
            <a:ext cx="24669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 secure, private GenAI-powered platform where researchers can build, simulate, and visualize agentic workflows — just like experiments in a physical lab.</a:t>
            </a:r>
            <a:endParaRPr b="1" sz="1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42"/>
          <p:cNvSpPr txBox="1"/>
          <p:nvPr/>
        </p:nvSpPr>
        <p:spPr>
          <a:xfrm>
            <a:off x="6076925" y="1633875"/>
            <a:ext cx="3000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322"/>
              </a:buClr>
              <a:buSzPts val="1100"/>
              <a:buFont typeface="Poppins SemiBold"/>
              <a:buChar char="●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Agentic research simulations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322"/>
              </a:buClr>
              <a:buSzPts val="1100"/>
              <a:buFont typeface="Poppins SemiBold"/>
              <a:buChar char="●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Secure multi-source data analysis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322"/>
              </a:buClr>
              <a:buSzPts val="1100"/>
              <a:buFont typeface="Poppins SemiBold"/>
              <a:buChar char="●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Scientist-in-the-loop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322"/>
              </a:buClr>
              <a:buSzPts val="1100"/>
              <a:buFont typeface="Poppins SemiBold"/>
              <a:buChar char="●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Workflow sharing and reusability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322"/>
              </a:buClr>
              <a:buSzPts val="1100"/>
              <a:buFont typeface="Poppins SemiBold"/>
              <a:buChar char="●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Traceability, reproducibility, and scalability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322"/>
              </a:buClr>
              <a:buSzPts val="1100"/>
              <a:buFont typeface="Poppins SemiBold"/>
              <a:buChar char="●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 volume data handling.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2" name="Google Shape;622;p42"/>
          <p:cNvSpPr txBox="1"/>
          <p:nvPr/>
        </p:nvSpPr>
        <p:spPr>
          <a:xfrm>
            <a:off x="270950" y="1437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AI Research Lab</a:t>
            </a:r>
            <a:endParaRPr b="1" sz="2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3" name="Google Shape;623;p42"/>
          <p:cNvSpPr txBox="1"/>
          <p:nvPr/>
        </p:nvSpPr>
        <p:spPr>
          <a:xfrm>
            <a:off x="323625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IT?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4" name="Google Shape;624;p42"/>
          <p:cNvSpPr txBox="1"/>
          <p:nvPr/>
        </p:nvSpPr>
        <p:spPr>
          <a:xfrm>
            <a:off x="3267150" y="1469625"/>
            <a:ext cx="26097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Transforms the research process into an agile, intelligent, and repeatable system — reducing manual effort and improving scientific rigor.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p42"/>
          <p:cNvSpPr txBox="1"/>
          <p:nvPr/>
        </p:nvSpPr>
        <p:spPr>
          <a:xfrm>
            <a:off x="3359600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IT MATTERS?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p42"/>
          <p:cNvSpPr txBox="1"/>
          <p:nvPr/>
        </p:nvSpPr>
        <p:spPr>
          <a:xfrm>
            <a:off x="6533825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7" name="Google Shape;627;p42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42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43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3"/>
          <p:cNvSpPr txBox="1"/>
          <p:nvPr/>
        </p:nvSpPr>
        <p:spPr>
          <a:xfrm>
            <a:off x="270950" y="1437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AI Research Lab</a:t>
            </a:r>
            <a:endParaRPr b="1" sz="2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35" name="Google Shape;635;p43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2447" y="1437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3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37" name="Google Shape;637;p43" title="DKube AI Research Lab New Demo Video AI Voice 2.mo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2937" y="704775"/>
            <a:ext cx="6638131" cy="373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4"/>
          <p:cNvSpPr/>
          <p:nvPr/>
        </p:nvSpPr>
        <p:spPr>
          <a:xfrm>
            <a:off x="6184625" y="0"/>
            <a:ext cx="2959200" cy="51435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4"/>
          <p:cNvSpPr/>
          <p:nvPr/>
        </p:nvSpPr>
        <p:spPr>
          <a:xfrm>
            <a:off x="2968250" y="0"/>
            <a:ext cx="3216300" cy="51435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44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4"/>
          <p:cNvSpPr txBox="1"/>
          <p:nvPr/>
        </p:nvSpPr>
        <p:spPr>
          <a:xfrm>
            <a:off x="270950" y="1469625"/>
            <a:ext cx="24669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 multi-agent assistant that streamlines workplace processes with intelligent automation, powered by RAG for document retrieval and knowledge querying.</a:t>
            </a:r>
            <a:endParaRPr b="1" sz="1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6" name="Google Shape;646;p44"/>
          <p:cNvSpPr txBox="1"/>
          <p:nvPr/>
        </p:nvSpPr>
        <p:spPr>
          <a:xfrm>
            <a:off x="6015250" y="1837974"/>
            <a:ext cx="3000000" cy="17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Policy &amp; document fetch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Email summarization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Leave &amp; WFH requests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HR queries &amp; ticket raising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Codebase Q&amp;A &amp; colleague finder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Extensible to custom workflows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p44"/>
          <p:cNvSpPr txBox="1"/>
          <p:nvPr/>
        </p:nvSpPr>
        <p:spPr>
          <a:xfrm>
            <a:off x="323625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IT?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8" name="Google Shape;648;p44"/>
          <p:cNvSpPr txBox="1"/>
          <p:nvPr/>
        </p:nvSpPr>
        <p:spPr>
          <a:xfrm>
            <a:off x="2968250" y="1435381"/>
            <a:ext cx="29085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Saves time and reduces context switching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Improves employee productivity and experience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Provides a single, extensible assistant for diverse workplace needs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9" name="Google Shape;649;p44"/>
          <p:cNvSpPr txBox="1"/>
          <p:nvPr/>
        </p:nvSpPr>
        <p:spPr>
          <a:xfrm>
            <a:off x="3359600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IT MATTERS?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0" name="Google Shape;650;p44"/>
          <p:cNvSpPr txBox="1"/>
          <p:nvPr/>
        </p:nvSpPr>
        <p:spPr>
          <a:xfrm>
            <a:off x="6533825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44"/>
          <p:cNvSpPr txBox="1"/>
          <p:nvPr/>
        </p:nvSpPr>
        <p:spPr>
          <a:xfrm>
            <a:off x="238125" y="200475"/>
            <a:ext cx="56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8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AskX</a:t>
            </a:r>
            <a:endParaRPr b="1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2" name="Google Shape;652;p44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4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5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5"/>
          <p:cNvSpPr/>
          <p:nvPr/>
        </p:nvSpPr>
        <p:spPr>
          <a:xfrm>
            <a:off x="261050" y="265750"/>
            <a:ext cx="3826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00" lIns="68400" spcFirstLastPara="1" rIns="68400" wrap="square" tIns="34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0A8"/>
              </a:buClr>
              <a:buSzPts val="2100"/>
              <a:buFont typeface="Arial"/>
              <a:buNone/>
            </a:pPr>
            <a:r>
              <a:t/>
            </a:r>
            <a:endParaRPr b="1" sz="18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p45"/>
          <p:cNvSpPr txBox="1"/>
          <p:nvPr/>
        </p:nvSpPr>
        <p:spPr>
          <a:xfrm>
            <a:off x="238125" y="200475"/>
            <a:ext cx="56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8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AskX</a:t>
            </a:r>
            <a:endParaRPr b="1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1" name="Google Shape;661;p45" title="DKube AskX Demo Video AI Voice 2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6088" y="814575"/>
            <a:ext cx="6591821" cy="37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5">
            <a:hlinkClick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6"/>
          <p:cNvSpPr/>
          <p:nvPr/>
        </p:nvSpPr>
        <p:spPr>
          <a:xfrm>
            <a:off x="6184625" y="0"/>
            <a:ext cx="2959200" cy="51435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6"/>
          <p:cNvSpPr/>
          <p:nvPr/>
        </p:nvSpPr>
        <p:spPr>
          <a:xfrm>
            <a:off x="2968250" y="0"/>
            <a:ext cx="3216300" cy="51435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0" name="Google Shape;670;p46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6"/>
          <p:cNvSpPr txBox="1"/>
          <p:nvPr/>
        </p:nvSpPr>
        <p:spPr>
          <a:xfrm>
            <a:off x="270950" y="1469625"/>
            <a:ext cx="24669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RAG-native AI copilot that streamlines teaching tasks, personalizes learning, and enhances student engagement in higher education.</a:t>
            </a:r>
            <a:endParaRPr b="1" sz="1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2" name="Google Shape;672;p46"/>
          <p:cNvSpPr txBox="1"/>
          <p:nvPr/>
        </p:nvSpPr>
        <p:spPr>
          <a:xfrm>
            <a:off x="6015250" y="1729750"/>
            <a:ext cx="3000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Multi-format ingestion (PDF, PPTX, DOCX, images with OCR)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Course-scoped RAG with citations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 gen &amp; auto-grading + analytics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RBAC: admin, professor, student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 LLM configs, flexible models, K8s deploy</a:t>
            </a:r>
            <a:endParaRPr b="1" sz="1100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3" name="Google Shape;673;p46"/>
          <p:cNvSpPr txBox="1"/>
          <p:nvPr/>
        </p:nvSpPr>
        <p:spPr>
          <a:xfrm>
            <a:off x="323625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IT?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4" name="Google Shape;674;p46"/>
          <p:cNvSpPr txBox="1"/>
          <p:nvPr/>
        </p:nvSpPr>
        <p:spPr>
          <a:xfrm>
            <a:off x="2968250" y="1435381"/>
            <a:ext cx="29085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Saves faculty time by automating content Q&amp;A and objective grading.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Improves student experience with instant, course-scoped answers.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Ensures trustworthy outputs with source citations and RBAC.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Scales reliably with Docker/K8s and modular architecture.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5" name="Google Shape;675;p46"/>
          <p:cNvSpPr txBox="1"/>
          <p:nvPr/>
        </p:nvSpPr>
        <p:spPr>
          <a:xfrm>
            <a:off x="3359600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IT MATTERS?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6" name="Google Shape;676;p46"/>
          <p:cNvSpPr txBox="1"/>
          <p:nvPr/>
        </p:nvSpPr>
        <p:spPr>
          <a:xfrm>
            <a:off x="6533825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p46"/>
          <p:cNvSpPr txBox="1"/>
          <p:nvPr/>
        </p:nvSpPr>
        <p:spPr>
          <a:xfrm>
            <a:off x="238125" y="200475"/>
            <a:ext cx="56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8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Virtual Teaching Assistant</a:t>
            </a:r>
            <a:endParaRPr b="1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8" name="Google Shape;678;p46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6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47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7"/>
          <p:cNvSpPr/>
          <p:nvPr/>
        </p:nvSpPr>
        <p:spPr>
          <a:xfrm>
            <a:off x="261050" y="265750"/>
            <a:ext cx="3826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00" lIns="68400" spcFirstLastPara="1" rIns="68400" wrap="square" tIns="34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0A8"/>
              </a:buClr>
              <a:buSzPts val="2100"/>
              <a:buFont typeface="Arial"/>
              <a:buNone/>
            </a:pPr>
            <a:r>
              <a:t/>
            </a:r>
            <a:endParaRPr b="1" sz="18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6" name="Google Shape;686;p47"/>
          <p:cNvSpPr txBox="1"/>
          <p:nvPr/>
        </p:nvSpPr>
        <p:spPr>
          <a:xfrm>
            <a:off x="238125" y="200475"/>
            <a:ext cx="56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8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Virtual Teaching Assistant</a:t>
            </a:r>
            <a:endParaRPr b="1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7" name="Google Shape;687;p47" title="VTA Demo Video AI Voice 6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6088" y="829713"/>
            <a:ext cx="6591821" cy="37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47">
            <a:hlinkClick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7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8"/>
          <p:cNvSpPr/>
          <p:nvPr/>
        </p:nvSpPr>
        <p:spPr>
          <a:xfrm>
            <a:off x="6184550" y="0"/>
            <a:ext cx="2959200" cy="51435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8"/>
          <p:cNvSpPr/>
          <p:nvPr/>
        </p:nvSpPr>
        <p:spPr>
          <a:xfrm>
            <a:off x="2968250" y="0"/>
            <a:ext cx="3216300" cy="51435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6" name="Google Shape;696;p48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8"/>
          <p:cNvSpPr txBox="1"/>
          <p:nvPr/>
        </p:nvSpPr>
        <p:spPr>
          <a:xfrm>
            <a:off x="270950" y="1317225"/>
            <a:ext cx="2466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 AI-driven document assistant that streamlines workflows through intelligent sorting, key field extraction, and deep document analysis.</a:t>
            </a:r>
            <a:endParaRPr b="1" sz="1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8" name="Google Shape;698;p48"/>
          <p:cNvSpPr txBox="1"/>
          <p:nvPr/>
        </p:nvSpPr>
        <p:spPr>
          <a:xfrm>
            <a:off x="6091450" y="1487452"/>
            <a:ext cx="3000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Faster processing – automates document handling.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Higher accuracy – minimizes errors, ensures compliance.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Quicker decisions – speeds up claims, loans, onboarding.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Enterprise ready – scalable, secure, and easy to integrate.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9" name="Google Shape;699;p48"/>
          <p:cNvSpPr txBox="1"/>
          <p:nvPr/>
        </p:nvSpPr>
        <p:spPr>
          <a:xfrm>
            <a:off x="323625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IT?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0" name="Google Shape;700;p48"/>
          <p:cNvSpPr txBox="1"/>
          <p:nvPr/>
        </p:nvSpPr>
        <p:spPr>
          <a:xfrm>
            <a:off x="2968250" y="1282981"/>
            <a:ext cx="29085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Automates repetitive document handling, freeing employees to focus on higher-value work.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Reduces human errors and ensures sensitive data is processed securely.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Enables faster decisions in critical processes like claims, loans, and onboarding.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Integrates seamlessly with existing systems while supporting cloud-agnostic, secure deployment.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1" name="Google Shape;701;p48"/>
          <p:cNvSpPr txBox="1"/>
          <p:nvPr/>
        </p:nvSpPr>
        <p:spPr>
          <a:xfrm>
            <a:off x="3359600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IT MATTERS?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2" name="Google Shape;702;p48"/>
          <p:cNvSpPr txBox="1"/>
          <p:nvPr/>
        </p:nvSpPr>
        <p:spPr>
          <a:xfrm>
            <a:off x="6533825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3" name="Google Shape;703;p48"/>
          <p:cNvSpPr txBox="1"/>
          <p:nvPr/>
        </p:nvSpPr>
        <p:spPr>
          <a:xfrm>
            <a:off x="238125" y="200475"/>
            <a:ext cx="56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8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DocMind</a:t>
            </a:r>
            <a:endParaRPr b="1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4" name="Google Shape;704;p48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48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49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49"/>
          <p:cNvSpPr/>
          <p:nvPr/>
        </p:nvSpPr>
        <p:spPr>
          <a:xfrm>
            <a:off x="261050" y="265750"/>
            <a:ext cx="3826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00" lIns="68400" spcFirstLastPara="1" rIns="68400" wrap="square" tIns="34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0A8"/>
              </a:buClr>
              <a:buSzPts val="2100"/>
              <a:buFont typeface="Arial"/>
              <a:buNone/>
            </a:pPr>
            <a:r>
              <a:t/>
            </a:r>
            <a:endParaRPr b="1" sz="18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2" name="Google Shape;712;p49"/>
          <p:cNvSpPr txBox="1"/>
          <p:nvPr/>
        </p:nvSpPr>
        <p:spPr>
          <a:xfrm>
            <a:off x="238125" y="200475"/>
            <a:ext cx="56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8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DocMind</a:t>
            </a:r>
            <a:endParaRPr b="1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3" name="Google Shape;713;p49" title="DKube DocMind Demo Video AI Voice 2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6088" y="814575"/>
            <a:ext cx="6591821" cy="37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49">
            <a:hlinkClick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9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0"/>
          <p:cNvSpPr/>
          <p:nvPr/>
        </p:nvSpPr>
        <p:spPr>
          <a:xfrm>
            <a:off x="6184550" y="0"/>
            <a:ext cx="2959200" cy="51435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0"/>
          <p:cNvSpPr/>
          <p:nvPr/>
        </p:nvSpPr>
        <p:spPr>
          <a:xfrm>
            <a:off x="2968250" y="0"/>
            <a:ext cx="3216300" cy="51435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2" name="Google Shape;722;p50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50"/>
          <p:cNvSpPr txBox="1"/>
          <p:nvPr/>
        </p:nvSpPr>
        <p:spPr>
          <a:xfrm>
            <a:off x="270950" y="1317225"/>
            <a:ext cx="24669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 smart, personalized health AI agent that continuously monitors your health data, analyzes trends, and delivers tailored recommendations and action plans.</a:t>
            </a:r>
            <a:endParaRPr b="1" sz="1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4" name="Google Shape;724;p50"/>
          <p:cNvSpPr txBox="1"/>
          <p:nvPr/>
        </p:nvSpPr>
        <p:spPr>
          <a:xfrm>
            <a:off x="5760250" y="1285625"/>
            <a:ext cx="3077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Personalized recommendations — tailored to each user’s health metrics.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Action plans — customized improvement steps with progress tracking.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Health reports — periodic summaries with clear insights.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Multi-metric support — integrates diverse health data sources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Compliance ready — HIPAA and PII compliant.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5" name="Google Shape;725;p50"/>
          <p:cNvSpPr txBox="1"/>
          <p:nvPr/>
        </p:nvSpPr>
        <p:spPr>
          <a:xfrm>
            <a:off x="323625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IT?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6" name="Google Shape;726;p50"/>
          <p:cNvSpPr txBox="1"/>
          <p:nvPr/>
        </p:nvSpPr>
        <p:spPr>
          <a:xfrm>
            <a:off x="2968250" y="1282981"/>
            <a:ext cx="29085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Real-time personalized health guidance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Unified view of fragmented health data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Automated monitoring and trend detection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Timely, expert-like insights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Better engagement with reminders and reports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7" name="Google Shape;727;p50"/>
          <p:cNvSpPr txBox="1"/>
          <p:nvPr/>
        </p:nvSpPr>
        <p:spPr>
          <a:xfrm>
            <a:off x="3359600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IT MATTERS?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8" name="Google Shape;728;p50"/>
          <p:cNvSpPr txBox="1"/>
          <p:nvPr/>
        </p:nvSpPr>
        <p:spPr>
          <a:xfrm>
            <a:off x="6533825" y="802025"/>
            <a:ext cx="20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9" name="Google Shape;729;p50"/>
          <p:cNvSpPr txBox="1"/>
          <p:nvPr/>
        </p:nvSpPr>
        <p:spPr>
          <a:xfrm>
            <a:off x="238125" y="200475"/>
            <a:ext cx="56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8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PulseIQ</a:t>
            </a:r>
            <a:endParaRPr b="1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0" name="Google Shape;730;p50">
            <a:hlinkClick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0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51" title="dkube.io 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1"/>
          <p:cNvSpPr/>
          <p:nvPr/>
        </p:nvSpPr>
        <p:spPr>
          <a:xfrm>
            <a:off x="261050" y="265750"/>
            <a:ext cx="3826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00" lIns="68400" spcFirstLastPara="1" rIns="68400" wrap="square" tIns="34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0A8"/>
              </a:buClr>
              <a:buSzPts val="2100"/>
              <a:buFont typeface="Arial"/>
              <a:buNone/>
            </a:pPr>
            <a:r>
              <a:t/>
            </a:r>
            <a:endParaRPr b="1" sz="18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8" name="Google Shape;738;p51"/>
          <p:cNvSpPr txBox="1"/>
          <p:nvPr/>
        </p:nvSpPr>
        <p:spPr>
          <a:xfrm>
            <a:off x="238125" y="200475"/>
            <a:ext cx="56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8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PulseIQ</a:t>
            </a:r>
            <a:endParaRPr b="1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9" name="Google Shape;739;p51" title="DKube PulseIQ Demo Video AI Voice 2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6088" y="814575"/>
            <a:ext cx="6591821" cy="37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51">
            <a:hlinkClick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1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560A8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5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2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47" name="Google Shape;74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52"/>
          <p:cNvSpPr txBox="1"/>
          <p:nvPr/>
        </p:nvSpPr>
        <p:spPr>
          <a:xfrm>
            <a:off x="251950" y="178987"/>
            <a:ext cx="852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case: Accelerating Research with Compute Platform</a:t>
            </a:r>
            <a:endParaRPr b="1" sz="22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9" name="Google Shape;749;p52"/>
          <p:cNvSpPr txBox="1"/>
          <p:nvPr/>
        </p:nvSpPr>
        <p:spPr>
          <a:xfrm>
            <a:off x="251950" y="648950"/>
            <a:ext cx="85224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High-speed compute platform enabling on-demand infrastructure provisioning and reduced time-to-experiment.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Diverse Resources: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Quick access to EKS Containers (K8s), EC2 VMs, AWS Parallel Clusters (HPC), and Ray Clusters (AI/ML)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Bridges local development with cloud compute for maximum productivity. Dedicated Desktop App and CLI Commands connect local tools directly to cloud resources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Integrated Workflows: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Pre-bundled software for day to day development by users, easy access to dataset using S3 bucket mounting, and simplified Authentication and Authorization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Observability &amp; monitoring of all user &amp; system resources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Cost Optimization: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Auto-shutdown of idle nodes, workspaces to reduce spend.Integrated with slack alerts to intimate users.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0" name="Google Shape;750;p52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3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56" name="Google Shape;75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53"/>
          <p:cNvSpPr txBox="1"/>
          <p:nvPr/>
        </p:nvSpPr>
        <p:spPr>
          <a:xfrm>
            <a:off x="251950" y="8150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8" name="Google Shape;758;p53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59" name="Google Shape;759;p53"/>
          <p:cNvSpPr txBox="1"/>
          <p:nvPr/>
        </p:nvSpPr>
        <p:spPr>
          <a:xfrm>
            <a:off x="251950" y="171500"/>
            <a:ext cx="8743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: Accelerating Research with Compute Platform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0" name="Google Shape;760;p53" title="image (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6950" y="1116500"/>
            <a:ext cx="5771850" cy="336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4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66" name="Google Shape;76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4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: Agentic AI Solution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8" name="Google Shape;768;p54"/>
          <p:cNvSpPr txBox="1"/>
          <p:nvPr>
            <p:ph idx="1" type="subTitle"/>
          </p:nvPr>
        </p:nvSpPr>
        <p:spPr>
          <a:xfrm>
            <a:off x="25195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Developed an intelligent research agent platform leveraging AWS and Bedrock to enhance scientific discovery.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Reasoning &amp; Generation: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Integrated Bedrock (Claude) as the core LLM for advanced research insights.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 Framework: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Built using the Strands Agent SDK to enable autonomous, agentic workflows.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Infrastructure: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Deployed on AWS ECS (Fargate) for scalable, containerized services.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Security &amp; Access: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Secured via AWS CloudFront + ALB stack and AWS Cognito for identity management.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9" name="Google Shape;769;p54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75" name="Google Shape;77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55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 : CNI Plugin for Kubernetes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7" name="Google Shape;777;p55"/>
          <p:cNvSpPr txBox="1"/>
          <p:nvPr>
            <p:ph idx="1" type="subTitle"/>
          </p:nvPr>
        </p:nvSpPr>
        <p:spPr>
          <a:xfrm>
            <a:off x="311700" y="695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Built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Container Network interface(CNI)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Kubernetes for ACI fabric.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CNI enables containers and pods running  in Kubernetes to directly leverage ACI’s policy, segmentation and visibility capabilities.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plugin provides all networking and security requirements for OpenShift cluster.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Involved in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end-to-end automation and verification of CNI plugin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different releases and eco systems (RKE, K8s, OpenShift)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Verification on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bare metal, OpenStack VMs, ESX VMs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Optimized some of the features of ACI CNI like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SNAT, Network Policies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8" name="Google Shape;778;p5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6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84" name="Google Shape;78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56"/>
          <p:cNvSpPr txBox="1"/>
          <p:nvPr/>
        </p:nvSpPr>
        <p:spPr>
          <a:xfrm>
            <a:off x="251950" y="192550"/>
            <a:ext cx="84321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: Cloud-Native Platform (K8s) Services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p56"/>
          <p:cNvSpPr txBox="1"/>
          <p:nvPr/>
        </p:nvSpPr>
        <p:spPr>
          <a:xfrm>
            <a:off x="251950" y="720075"/>
            <a:ext cx="8585700" cy="26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Worked for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Edge Computing Platform provider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implemented cloud native platform(K8s) services to manage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Compute resources(VM and container workloads)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GPU enablement and monitoring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both VM and container workloads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IPv4, IPv6 and dual-network stack support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workload networking using CNI plugins and OVS + SmartNIC on compute hosts.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SmartNIC Open vSwitch integration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Telemetry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7" name="Google Shape;787;p56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7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93" name="Google Shape;79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57"/>
          <p:cNvSpPr txBox="1"/>
          <p:nvPr/>
        </p:nvSpPr>
        <p:spPr>
          <a:xfrm>
            <a:off x="251950" y="205400"/>
            <a:ext cx="833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: Virtual PCIe Fabric management using Kubernetes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5" name="Google Shape;795;p57"/>
          <p:cNvSpPr txBox="1"/>
          <p:nvPr>
            <p:ph idx="1" type="subTitle"/>
          </p:nvPr>
        </p:nvSpPr>
        <p:spPr>
          <a:xfrm>
            <a:off x="311700" y="1087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objective was to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virtualize PCIe connections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enabling remote devices to appear as locally attached to the host system via the PCIe protocol.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Multiple microservices were developed to manage the orchestration, network tunneling and monitoring the virtual PCIe fabric.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Microservices are run as Kubernetes workloads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6" name="Google Shape;796;p57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