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Medium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hx9v21vsnfKXF71QSvwWTmHYvu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4e43a16c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64e43a16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4e43a16c2_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4e43a16c2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11" Type="http://schemas.openxmlformats.org/officeDocument/2006/relationships/image" Target="../media/image2.png"/><Relationship Id="rId10" Type="http://schemas.openxmlformats.org/officeDocument/2006/relationships/image" Target="../media/image15.png"/><Relationship Id="rId9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16.png"/><Relationship Id="rId13" Type="http://schemas.openxmlformats.org/officeDocument/2006/relationships/image" Target="../media/image20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17.png"/><Relationship Id="rId15" Type="http://schemas.openxmlformats.org/officeDocument/2006/relationships/image" Target="../media/image25.png"/><Relationship Id="rId1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29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43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8.png"/><Relationship Id="rId5" Type="http://schemas.openxmlformats.org/officeDocument/2006/relationships/image" Target="../media/image40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42068" y="1522844"/>
            <a:ext cx="621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Implementing Private AI Infra at Scale for Enterprise 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142075" y="2168175"/>
            <a:ext cx="8918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Based in Silicon Valley</a:t>
            </a:r>
            <a:endParaRPr b="0" i="0" sz="12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Founded and funded by serial entrepreneurs and engineers</a:t>
            </a:r>
            <a:endParaRPr b="0" i="0" sz="12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Experiencing rapid growth in customer demand for </a:t>
            </a:r>
            <a:r>
              <a:rPr b="1" i="0" lang="en" sz="1200" u="none" cap="none" strike="noStrike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secure, private GenAI</a:t>
            </a:r>
            <a:endParaRPr b="1" i="0" sz="12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"/>
                <a:ea typeface="Poppins"/>
                <a:cs typeface="Poppins"/>
                <a:sym typeface="Poppins"/>
              </a:rPr>
              <a:t>Providing enterprise-grade end-to-end GenAI and agentic solutions deployed on-prem, private cloud or multi-cloud</a:t>
            </a:r>
            <a:endParaRPr b="0" i="0" sz="1200" u="none" cap="none" strike="noStrike">
              <a:solidFill>
                <a:srgbClr val="1713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42074" y="1170000"/>
            <a:ext cx="244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 at a Glance</a:t>
            </a:r>
            <a:endParaRPr b="0" i="0" sz="1600" u="none" cap="none" strike="noStrike">
              <a:solidFill>
                <a:srgbClr val="76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9" name="Google Shape;59;p1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4683300" y="1089325"/>
            <a:ext cx="305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Team</a:t>
            </a:r>
            <a:endParaRPr b="0" i="0" sz="21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201850" y="1725950"/>
            <a:ext cx="3730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 are an 80 people GenAI company HQ out of Silicon Valley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Experienced delivering complex infrastructure at Scale to Enterprises.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4683276" y="1725938"/>
            <a:ext cx="14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Vinai Kolli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4683276" y="1953013"/>
            <a:ext cx="53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CEO</a:t>
            </a:r>
            <a:endParaRPr b="0" i="0" sz="1200" u="none" cap="none" strike="noStrike">
              <a:solidFill>
                <a:srgbClr val="17132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4683276" y="2181613"/>
            <a:ext cx="1989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D-Link, TeamF1, Wind River</a:t>
            </a:r>
            <a:endParaRPr b="0" i="0" sz="9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USC, NIT-S</a:t>
            </a:r>
            <a:endParaRPr b="0" i="0" sz="9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816875" y="1725938"/>
            <a:ext cx="14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Rajendra Singh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816875" y="1953013"/>
            <a:ext cx="14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Chief Architect</a:t>
            </a:r>
            <a:endParaRPr b="0" i="0" sz="1200" u="none" cap="none" strike="noStrike">
              <a:solidFill>
                <a:srgbClr val="17132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6816875" y="2181613"/>
            <a:ext cx="188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Skiva Technologies, Deep Cognition, TeamF1, IIT-G</a:t>
            </a:r>
            <a:endParaRPr b="0" i="0" sz="9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4683277" y="2945138"/>
            <a:ext cx="175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Sireesha Mandava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683275" y="3172213"/>
            <a:ext cx="214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Director - Engineering</a:t>
            </a:r>
            <a:endParaRPr b="0" i="0" sz="1200" u="none" cap="none" strike="noStrike">
              <a:solidFill>
                <a:srgbClr val="17132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4683300" y="3400813"/>
            <a:ext cx="214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Mahindra Satyam, Motorola</a:t>
            </a:r>
            <a:endParaRPr b="0" i="0" sz="9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6816865" y="2945138"/>
            <a:ext cx="14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Ajay Tyagi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6816865" y="3172213"/>
            <a:ext cx="16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Senior Director</a:t>
            </a:r>
            <a:endParaRPr b="0" i="0" sz="1200" u="none" cap="none" strike="noStrike">
              <a:solidFill>
                <a:srgbClr val="17132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6816865" y="3400813"/>
            <a:ext cx="18894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Intel, Dell, Broadcom</a:t>
            </a:r>
            <a:endParaRPr b="0" i="0" sz="9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IIT-K</a:t>
            </a:r>
            <a:endParaRPr b="0" i="0" sz="900" u="none" cap="none" strike="noStrik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 txBox="1"/>
          <p:nvPr/>
        </p:nvSpPr>
        <p:spPr>
          <a:xfrm>
            <a:off x="212875" y="1811325"/>
            <a:ext cx="42738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</a:t>
            </a: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 </a:t>
            </a:r>
            <a:r>
              <a:rPr b="0" i="0" lang="en" sz="1800" u="sng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</a:t>
            </a:r>
            <a:r>
              <a:rPr lang="en" sz="1800" u="sng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aaS</a:t>
            </a:r>
            <a:r>
              <a:rPr b="0" i="0" lang="en" sz="1800" u="sng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company specializing in</a:t>
            </a:r>
            <a:r>
              <a:rPr lang="en" sz="18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agentic solutions along with providing AI infrastructure with our highly reliable private AI platforms.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212869" y="1496575"/>
            <a:ext cx="118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Who we are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5916619" y="1760955"/>
            <a:ext cx="15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Platforms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5795800" y="2064229"/>
            <a:ext cx="101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94488" lvl="0" marL="2468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200"/>
              <a:buFont typeface="Poppins SemiBold"/>
              <a:buChar char="✳"/>
            </a:pP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FM</a:t>
            </a:r>
            <a:r>
              <a:rPr b="0" i="0" lang="en" sz="12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OPs</a:t>
            </a:r>
            <a:endParaRPr b="0" i="0" sz="12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5795800" y="2292829"/>
            <a:ext cx="14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94488" lvl="0" marL="2468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200"/>
              <a:buFont typeface="Poppins SemiBold"/>
              <a:buChar char="✳"/>
            </a:pP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Agentic AI</a:t>
            </a:r>
            <a:endParaRPr b="0" i="0" sz="12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915998" y="2636927"/>
            <a:ext cx="1392273" cy="3693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Solutions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5771625" y="2925725"/>
            <a:ext cx="25455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 QueriLynx</a:t>
            </a:r>
            <a:endParaRPr b="0" i="0" sz="12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 AI Research Lab</a:t>
            </a:r>
            <a:endParaRPr sz="12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 </a:t>
            </a: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CompliQuik</a:t>
            </a:r>
            <a:endParaRPr sz="12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 DocMind</a:t>
            </a:r>
            <a:endParaRPr sz="12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AskX</a:t>
            </a:r>
            <a:endParaRPr sz="12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Virtual Teaching Assistant</a:t>
            </a:r>
            <a:endParaRPr sz="12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42075" y="1502696"/>
            <a:ext cx="24393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Approach to Enterprise Needs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00" name="Google Shape;100;p4"/>
          <p:cNvGrpSpPr/>
          <p:nvPr/>
        </p:nvGrpSpPr>
        <p:grpSpPr>
          <a:xfrm>
            <a:off x="3508725" y="1089669"/>
            <a:ext cx="2409900" cy="1417144"/>
            <a:chOff x="3508725" y="1089675"/>
            <a:chExt cx="2409900" cy="1236600"/>
          </a:xfrm>
        </p:grpSpPr>
        <p:sp>
          <p:nvSpPr>
            <p:cNvPr id="101" name="Google Shape;101;p4"/>
            <p:cNvSpPr/>
            <p:nvPr/>
          </p:nvSpPr>
          <p:spPr>
            <a:xfrm>
              <a:off x="3508725" y="1089675"/>
              <a:ext cx="2409900" cy="1236600"/>
            </a:xfrm>
            <a:prstGeom prst="roundRect">
              <a:avLst>
                <a:gd fmla="val 16667" name="adj"/>
              </a:avLst>
            </a:prstGeom>
            <a:solidFill>
              <a:srgbClr val="D6CFE5">
                <a:alpha val="53725"/>
              </a:srgbClr>
            </a:solidFill>
            <a:ln>
              <a:noFill/>
            </a:ln>
          </p:spPr>
          <p:txBody>
            <a:bodyPr anchorCtr="0" anchor="ctr" bIns="106475" lIns="106475" spcFirstLastPara="1" rIns="106475" wrap="square" tIns="10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83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02" name="Google Shape;102;p4"/>
            <p:cNvSpPr txBox="1"/>
            <p:nvPr/>
          </p:nvSpPr>
          <p:spPr>
            <a:xfrm>
              <a:off x="3593708" y="12251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Privacy and </a:t>
              </a:r>
              <a:r>
                <a:rPr b="0" i="0" lang="en" sz="13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Secur</a:t>
              </a:r>
              <a:r>
                <a:rPr b="0" i="0" lang="en" sz="13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ity</a:t>
              </a:r>
              <a:endParaRPr b="0" i="0" sz="13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03" name="Google Shape;103;p4"/>
            <p:cNvSpPr txBox="1"/>
            <p:nvPr/>
          </p:nvSpPr>
          <p:spPr>
            <a:xfrm>
              <a:off x="3593708" y="14537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All workflows run on-prem or on private VPC, making sure no data leaves the environment.</a:t>
              </a:r>
              <a:endParaRPr b="0" i="0" sz="10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04" name="Google Shape;104;p4"/>
          <p:cNvGrpSpPr/>
          <p:nvPr/>
        </p:nvGrpSpPr>
        <p:grpSpPr>
          <a:xfrm>
            <a:off x="6023325" y="1089669"/>
            <a:ext cx="2409900" cy="1417144"/>
            <a:chOff x="3508725" y="1089675"/>
            <a:chExt cx="2409900" cy="1236600"/>
          </a:xfrm>
        </p:grpSpPr>
        <p:sp>
          <p:nvSpPr>
            <p:cNvPr id="105" name="Google Shape;105;p4"/>
            <p:cNvSpPr/>
            <p:nvPr/>
          </p:nvSpPr>
          <p:spPr>
            <a:xfrm>
              <a:off x="3508725" y="1089675"/>
              <a:ext cx="2409900" cy="1236600"/>
            </a:xfrm>
            <a:prstGeom prst="roundRect">
              <a:avLst>
                <a:gd fmla="val 16667" name="adj"/>
              </a:avLst>
            </a:prstGeom>
            <a:solidFill>
              <a:srgbClr val="D6CFE5">
                <a:alpha val="53725"/>
              </a:srgbClr>
            </a:solidFill>
            <a:ln>
              <a:noFill/>
            </a:ln>
          </p:spPr>
          <p:txBody>
            <a:bodyPr anchorCtr="0" anchor="ctr" bIns="106475" lIns="106475" spcFirstLastPara="1" rIns="106475" wrap="square" tIns="10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0"/>
                <a:buFont typeface="Arial"/>
                <a:buNone/>
              </a:pPr>
              <a:r>
                <a:t/>
              </a:r>
              <a:endParaRPr b="0" i="0" sz="83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3593708" y="12251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Scalability</a:t>
              </a:r>
              <a:endParaRPr b="0" i="0" sz="13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07" name="Google Shape;107;p4"/>
            <p:cNvSpPr txBox="1"/>
            <p:nvPr/>
          </p:nvSpPr>
          <p:spPr>
            <a:xfrm>
              <a:off x="3593708" y="14537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Scalable infra with option to integrate enterprise storage, helping user or resource-intensive workflows run smoothly.</a:t>
              </a:r>
              <a:endParaRPr b="0" i="0" sz="10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08" name="Google Shape;108;p4"/>
          <p:cNvGrpSpPr/>
          <p:nvPr/>
        </p:nvGrpSpPr>
        <p:grpSpPr>
          <a:xfrm>
            <a:off x="3508725" y="2624961"/>
            <a:ext cx="2409900" cy="1417144"/>
            <a:chOff x="3508725" y="1089675"/>
            <a:chExt cx="2409900" cy="1236600"/>
          </a:xfrm>
        </p:grpSpPr>
        <p:sp>
          <p:nvSpPr>
            <p:cNvPr id="109" name="Google Shape;109;p4"/>
            <p:cNvSpPr/>
            <p:nvPr/>
          </p:nvSpPr>
          <p:spPr>
            <a:xfrm>
              <a:off x="3508725" y="1089675"/>
              <a:ext cx="2409900" cy="1236600"/>
            </a:xfrm>
            <a:prstGeom prst="roundRect">
              <a:avLst>
                <a:gd fmla="val 16667" name="adj"/>
              </a:avLst>
            </a:prstGeom>
            <a:solidFill>
              <a:srgbClr val="D6CFE5">
                <a:alpha val="53725"/>
              </a:srgbClr>
            </a:solidFill>
            <a:ln>
              <a:noFill/>
            </a:ln>
          </p:spPr>
          <p:txBody>
            <a:bodyPr anchorCtr="0" anchor="ctr" bIns="106475" lIns="106475" spcFirstLastPara="1" rIns="106475" wrap="square" tIns="10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0"/>
                <a:buFont typeface="Arial"/>
                <a:buNone/>
              </a:pPr>
              <a:r>
                <a:t/>
              </a:r>
              <a:endParaRPr b="0" i="0" sz="83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10" name="Google Shape;110;p4"/>
            <p:cNvSpPr txBox="1"/>
            <p:nvPr/>
          </p:nvSpPr>
          <p:spPr>
            <a:xfrm>
              <a:off x="3593708" y="12251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Cost Efficiency</a:t>
              </a:r>
              <a:endParaRPr b="0" i="0" sz="13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11" name="Google Shape;111;p4"/>
            <p:cNvSpPr txBox="1"/>
            <p:nvPr/>
          </p:nvSpPr>
          <p:spPr>
            <a:xfrm>
              <a:off x="3593708" y="14537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Automated scaling, distilled models, minimal footprint, and ultra-low token costs.</a:t>
              </a:r>
              <a:endParaRPr b="0" i="0" sz="10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12" name="Google Shape;112;p4"/>
          <p:cNvGrpSpPr/>
          <p:nvPr/>
        </p:nvGrpSpPr>
        <p:grpSpPr>
          <a:xfrm>
            <a:off x="6023325" y="2624961"/>
            <a:ext cx="2409900" cy="1417144"/>
            <a:chOff x="3508725" y="1089675"/>
            <a:chExt cx="2409900" cy="1236600"/>
          </a:xfrm>
        </p:grpSpPr>
        <p:sp>
          <p:nvSpPr>
            <p:cNvPr id="113" name="Google Shape;113;p4"/>
            <p:cNvSpPr/>
            <p:nvPr/>
          </p:nvSpPr>
          <p:spPr>
            <a:xfrm>
              <a:off x="3508725" y="1089675"/>
              <a:ext cx="2409900" cy="1236600"/>
            </a:xfrm>
            <a:prstGeom prst="roundRect">
              <a:avLst>
                <a:gd fmla="val 16667" name="adj"/>
              </a:avLst>
            </a:prstGeom>
            <a:solidFill>
              <a:srgbClr val="D6CFE5">
                <a:alpha val="53725"/>
              </a:srgbClr>
            </a:solidFill>
            <a:ln>
              <a:noFill/>
            </a:ln>
          </p:spPr>
          <p:txBody>
            <a:bodyPr anchorCtr="0" anchor="ctr" bIns="106475" lIns="106475" spcFirstLastPara="1" rIns="106475" wrap="square" tIns="10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0"/>
                <a:buFont typeface="Arial"/>
                <a:buNone/>
              </a:pPr>
              <a:r>
                <a:t/>
              </a:r>
              <a:endParaRPr b="0" i="0" sz="83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14" name="Google Shape;114;p4"/>
            <p:cNvSpPr txBox="1"/>
            <p:nvPr/>
          </p:nvSpPr>
          <p:spPr>
            <a:xfrm>
              <a:off x="3593708" y="12251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Observability</a:t>
              </a:r>
              <a:endParaRPr b="0" i="0" sz="13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3593708" y="1453775"/>
              <a:ext cx="2088900" cy="2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End-to-end visibility with lineage, traces, req/resp monitoring, feedback capture, and experiment evaluation.</a:t>
              </a:r>
              <a:endParaRPr b="0" i="0" sz="1000" u="none" cap="none" strike="noStrik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116" name="Google Shape;116;p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5"/>
          <p:cNvGrpSpPr/>
          <p:nvPr/>
        </p:nvGrpSpPr>
        <p:grpSpPr>
          <a:xfrm>
            <a:off x="2573630" y="1103377"/>
            <a:ext cx="1621041" cy="526388"/>
            <a:chOff x="1175994" y="1085300"/>
            <a:chExt cx="1861340" cy="608400"/>
          </a:xfrm>
        </p:grpSpPr>
        <p:grpSp>
          <p:nvGrpSpPr>
            <p:cNvPr id="127" name="Google Shape;127;p5"/>
            <p:cNvGrpSpPr/>
            <p:nvPr/>
          </p:nvGrpSpPr>
          <p:grpSpPr>
            <a:xfrm>
              <a:off x="1175994" y="1085300"/>
              <a:ext cx="1861340" cy="608400"/>
              <a:chOff x="1561791" y="1085300"/>
              <a:chExt cx="1753500" cy="608400"/>
            </a:xfrm>
          </p:grpSpPr>
          <p:sp>
            <p:nvSpPr>
              <p:cNvPr id="128" name="Google Shape;128;p5"/>
              <p:cNvSpPr/>
              <p:nvPr/>
            </p:nvSpPr>
            <p:spPr>
              <a:xfrm>
                <a:off x="1561791" y="1085300"/>
                <a:ext cx="1753500" cy="608400"/>
              </a:xfrm>
              <a:prstGeom prst="roundRect">
                <a:avLst>
                  <a:gd fmla="val 16667" name="adj"/>
                </a:avLst>
              </a:prstGeom>
              <a:solidFill>
                <a:srgbClr val="EDF4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9100" lIns="79100" spcFirstLastPara="1" rIns="79100" wrap="square" tIns="791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1"/>
                  <a:buFont typeface="Arial"/>
                  <a:buNone/>
                </a:pPr>
                <a:r>
                  <a:t/>
                </a:r>
                <a:endParaRPr b="1" i="0" sz="951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9" name="Google Shape;129;p5"/>
              <p:cNvSpPr txBox="1"/>
              <p:nvPr/>
            </p:nvSpPr>
            <p:spPr>
              <a:xfrm>
                <a:off x="2146772" y="1109300"/>
                <a:ext cx="1168500" cy="560400"/>
              </a:xfrm>
              <a:prstGeom prst="rect">
                <a:avLst/>
              </a:prstGeom>
              <a:solidFill>
                <a:srgbClr val="EDF4FF">
                  <a:alpha val="29411"/>
                </a:srgbClr>
              </a:solidFill>
              <a:ln>
                <a:noFill/>
              </a:ln>
            </p:spPr>
            <p:txBody>
              <a:bodyPr anchorCtr="0" anchor="ctr" bIns="79100" lIns="79100" spcFirstLastPara="1" rIns="79100" wrap="square" tIns="791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1"/>
                  <a:buFont typeface="Arial"/>
                  <a:buNone/>
                </a:pPr>
                <a:r>
                  <a:rPr b="1" i="0" lang="en" sz="951" u="none" cap="none" strike="noStrike">
                    <a:solidFill>
                      <a:srgbClr val="59595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Discovery and Brainstorming</a:t>
                </a:r>
                <a:endParaRPr b="1" i="0" sz="951" u="none" cap="none" strike="noStrike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130" name="Google Shape;130;p5" title="teamwork_2082139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66850" y="1200650"/>
              <a:ext cx="377725" cy="37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5"/>
          <p:cNvGrpSpPr/>
          <p:nvPr/>
        </p:nvGrpSpPr>
        <p:grpSpPr>
          <a:xfrm>
            <a:off x="4891423" y="1103378"/>
            <a:ext cx="1527123" cy="526388"/>
            <a:chOff x="3709350" y="1073250"/>
            <a:chExt cx="1753500" cy="608400"/>
          </a:xfrm>
        </p:grpSpPr>
        <p:sp>
          <p:nvSpPr>
            <p:cNvPr id="132" name="Google Shape;132;p5"/>
            <p:cNvSpPr/>
            <p:nvPr/>
          </p:nvSpPr>
          <p:spPr>
            <a:xfrm>
              <a:off x="3709350" y="1073250"/>
              <a:ext cx="1753500" cy="608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1" i="0" sz="86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4194140" y="1097250"/>
              <a:ext cx="1240500" cy="560400"/>
            </a:xfrm>
            <a:prstGeom prst="rect">
              <a:avLst/>
            </a:prstGeom>
            <a:solidFill>
              <a:srgbClr val="EDF4FF">
                <a:alpha val="29411"/>
              </a:srgbClr>
            </a:solidFill>
            <a:ln>
              <a:noFill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1"/>
                <a:buFont typeface="Arial"/>
                <a:buNone/>
              </a:pPr>
              <a:r>
                <a:rPr b="1" i="0" lang="en" sz="951" u="none" cap="none" strike="noStrike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Private GenAI Infra Setup</a:t>
              </a:r>
              <a:endParaRPr b="1" i="0" sz="951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34" name="Google Shape;134;p5" title="secured_16863562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857500" y="1188587"/>
              <a:ext cx="377725" cy="377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5"/>
          <p:cNvGrpSpPr/>
          <p:nvPr/>
        </p:nvGrpSpPr>
        <p:grpSpPr>
          <a:xfrm>
            <a:off x="7063025" y="1103378"/>
            <a:ext cx="1542910" cy="526388"/>
            <a:chOff x="6106650" y="1073250"/>
            <a:chExt cx="1771627" cy="608400"/>
          </a:xfrm>
        </p:grpSpPr>
        <p:sp>
          <p:nvSpPr>
            <p:cNvPr id="136" name="Google Shape;136;p5"/>
            <p:cNvSpPr/>
            <p:nvPr/>
          </p:nvSpPr>
          <p:spPr>
            <a:xfrm>
              <a:off x="6106650" y="1073250"/>
              <a:ext cx="1753500" cy="608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1" i="0" sz="86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6581977" y="1109308"/>
              <a:ext cx="1296300" cy="560400"/>
            </a:xfrm>
            <a:prstGeom prst="rect">
              <a:avLst/>
            </a:prstGeom>
            <a:solidFill>
              <a:srgbClr val="EDF4FF">
                <a:alpha val="29411"/>
              </a:srgbClr>
            </a:solidFill>
            <a:ln>
              <a:noFill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1"/>
                <a:buFont typeface="Arial"/>
                <a:buNone/>
              </a:pPr>
              <a:r>
                <a:rPr b="1" lang="en" sz="951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Solution</a:t>
              </a:r>
              <a:r>
                <a:rPr b="1" i="0" lang="en" sz="951" u="none" cap="none" strike="noStrike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 Design</a:t>
              </a:r>
              <a:endParaRPr b="1" i="0" sz="951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38" name="Google Shape;138;p5" title="idea_849284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5475" y="1188588"/>
              <a:ext cx="377725" cy="377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5"/>
          <p:cNvGrpSpPr/>
          <p:nvPr/>
        </p:nvGrpSpPr>
        <p:grpSpPr>
          <a:xfrm>
            <a:off x="7063025" y="2339863"/>
            <a:ext cx="1527123" cy="526388"/>
            <a:chOff x="6106650" y="2234175"/>
            <a:chExt cx="1753500" cy="608400"/>
          </a:xfrm>
        </p:grpSpPr>
        <p:sp>
          <p:nvSpPr>
            <p:cNvPr id="140" name="Google Shape;140;p5"/>
            <p:cNvSpPr/>
            <p:nvPr/>
          </p:nvSpPr>
          <p:spPr>
            <a:xfrm>
              <a:off x="6106650" y="2234175"/>
              <a:ext cx="1753500" cy="608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1" i="0" sz="86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6591484" y="2246125"/>
              <a:ext cx="1240500" cy="560400"/>
            </a:xfrm>
            <a:prstGeom prst="rect">
              <a:avLst/>
            </a:prstGeom>
            <a:solidFill>
              <a:srgbClr val="EDF4FF">
                <a:alpha val="29411"/>
              </a:srgbClr>
            </a:solidFill>
            <a:ln>
              <a:noFill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1"/>
                <a:buFont typeface="Arial"/>
                <a:buNone/>
              </a:pPr>
              <a:r>
                <a:rPr b="1" i="0" lang="en" sz="951" u="none" cap="none" strike="noStrike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Workflow Orchestration</a:t>
              </a:r>
              <a:endParaRPr b="1" i="0" sz="951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42" name="Google Shape;142;p5" title="algorithm_14702553.png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265473" y="2337450"/>
              <a:ext cx="377725" cy="3777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5"/>
          <p:cNvGrpSpPr/>
          <p:nvPr/>
        </p:nvGrpSpPr>
        <p:grpSpPr>
          <a:xfrm>
            <a:off x="2620427" y="2339863"/>
            <a:ext cx="1527123" cy="526388"/>
            <a:chOff x="3695250" y="2234175"/>
            <a:chExt cx="1753500" cy="608400"/>
          </a:xfrm>
        </p:grpSpPr>
        <p:sp>
          <p:nvSpPr>
            <p:cNvPr id="144" name="Google Shape;144;p5"/>
            <p:cNvSpPr/>
            <p:nvPr/>
          </p:nvSpPr>
          <p:spPr>
            <a:xfrm>
              <a:off x="3695250" y="2234175"/>
              <a:ext cx="1753500" cy="608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1" i="0" sz="86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4194159" y="2258175"/>
              <a:ext cx="1240500" cy="560400"/>
            </a:xfrm>
            <a:prstGeom prst="rect">
              <a:avLst/>
            </a:prstGeom>
            <a:solidFill>
              <a:srgbClr val="EDF4FF">
                <a:alpha val="29411"/>
              </a:srgbClr>
            </a:solidFill>
            <a:ln>
              <a:noFill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1"/>
                <a:buFont typeface="Arial"/>
                <a:buNone/>
              </a:pPr>
              <a:r>
                <a:rPr b="1" i="0" lang="en" sz="951" u="none" cap="none" strike="noStrike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Pilot and Iteration</a:t>
              </a:r>
              <a:endParaRPr b="1" i="0" sz="951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46" name="Google Shape;146;p5" title="agile_17302232.png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857500" y="2349513"/>
              <a:ext cx="377725" cy="377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5"/>
          <p:cNvGrpSpPr/>
          <p:nvPr/>
        </p:nvGrpSpPr>
        <p:grpSpPr>
          <a:xfrm>
            <a:off x="4891589" y="2339863"/>
            <a:ext cx="1527123" cy="526388"/>
            <a:chOff x="1312050" y="2234175"/>
            <a:chExt cx="1753500" cy="608400"/>
          </a:xfrm>
        </p:grpSpPr>
        <p:sp>
          <p:nvSpPr>
            <p:cNvPr id="148" name="Google Shape;148;p5"/>
            <p:cNvSpPr/>
            <p:nvPr/>
          </p:nvSpPr>
          <p:spPr>
            <a:xfrm>
              <a:off x="1312050" y="2234175"/>
              <a:ext cx="1753500" cy="608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1" i="0" sz="86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1796857" y="2258175"/>
              <a:ext cx="1240500" cy="560400"/>
            </a:xfrm>
            <a:prstGeom prst="rect">
              <a:avLst/>
            </a:prstGeom>
            <a:solidFill>
              <a:srgbClr val="EDF4FF">
                <a:alpha val="29411"/>
              </a:srgbClr>
            </a:solidFill>
            <a:ln>
              <a:noFill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1"/>
                <a:buFont typeface="Arial"/>
                <a:buNone/>
              </a:pPr>
              <a:r>
                <a:rPr b="1" i="0" lang="en" sz="951" u="none" cap="none" strike="noStrike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Finetuning and Training</a:t>
              </a:r>
              <a:endParaRPr b="1" i="0" sz="951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50" name="Google Shape;150;p5" title="adjustment_17228802.png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49525" y="2337463"/>
              <a:ext cx="377725" cy="377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5"/>
          <p:cNvGrpSpPr/>
          <p:nvPr/>
        </p:nvGrpSpPr>
        <p:grpSpPr>
          <a:xfrm>
            <a:off x="4839119" y="3576348"/>
            <a:ext cx="1527123" cy="526388"/>
            <a:chOff x="3695250" y="3395100"/>
            <a:chExt cx="1753500" cy="608400"/>
          </a:xfrm>
        </p:grpSpPr>
        <p:sp>
          <p:nvSpPr>
            <p:cNvPr id="152" name="Google Shape;152;p5"/>
            <p:cNvSpPr/>
            <p:nvPr/>
          </p:nvSpPr>
          <p:spPr>
            <a:xfrm>
              <a:off x="3695250" y="3395100"/>
              <a:ext cx="1753500" cy="608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1" i="0" sz="86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4194142" y="3419100"/>
              <a:ext cx="1240500" cy="560400"/>
            </a:xfrm>
            <a:prstGeom prst="rect">
              <a:avLst/>
            </a:prstGeom>
            <a:solidFill>
              <a:srgbClr val="EDF4FF">
                <a:alpha val="29411"/>
              </a:srgbClr>
            </a:solidFill>
            <a:ln>
              <a:noFill/>
            </a:ln>
          </p:spPr>
          <p:txBody>
            <a:bodyPr anchorCtr="0" anchor="ctr" bIns="79100" lIns="79100" spcFirstLastPara="1" rIns="79100" wrap="square" tIns="79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1"/>
                <a:buFont typeface="Arial"/>
                <a:buNone/>
              </a:pPr>
              <a:r>
                <a:rPr b="1" i="0" lang="en" sz="951" u="none" cap="none" strike="noStrike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Production Rollout</a:t>
              </a:r>
              <a:endParaRPr b="1" i="0" sz="951" u="none" cap="none" strike="noStrik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54" name="Google Shape;154;p5" title="train_18365315.png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857500" y="3512200"/>
              <a:ext cx="377725" cy="377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5"/>
          <p:cNvSpPr/>
          <p:nvPr/>
        </p:nvSpPr>
        <p:spPr>
          <a:xfrm>
            <a:off x="4267144" y="1262907"/>
            <a:ext cx="552300" cy="20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00" lIns="79100" spcFirstLastPara="1" rIns="79100" wrap="square" tIns="7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t/>
            </a:r>
            <a:endParaRPr b="0" i="0" sz="12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465068" y="1262907"/>
            <a:ext cx="552300" cy="20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00" lIns="79100" spcFirstLastPara="1" rIns="79100" wrap="square" tIns="7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t/>
            </a:r>
            <a:endParaRPr b="0" i="0" sz="12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 rot="5400000">
            <a:off x="7537277" y="1889961"/>
            <a:ext cx="601800" cy="18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00" lIns="79100" spcFirstLastPara="1" rIns="79100" wrap="square" tIns="7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t/>
            </a:r>
            <a:endParaRPr b="0" i="0" sz="12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 rot="10800000">
            <a:off x="6465026" y="2499502"/>
            <a:ext cx="552300" cy="20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00" lIns="79100" spcFirstLastPara="1" rIns="79100" wrap="square" tIns="7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t/>
            </a:r>
            <a:endParaRPr b="0" i="0" sz="12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 rot="10800000">
            <a:off x="4243645" y="2499502"/>
            <a:ext cx="552300" cy="20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00" lIns="79100" spcFirstLastPara="1" rIns="79100" wrap="square" tIns="7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t/>
            </a:r>
            <a:endParaRPr b="0" i="0" sz="12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 rot="5400000">
            <a:off x="3529426" y="2816187"/>
            <a:ext cx="1054800" cy="1442400"/>
          </a:xfrm>
          <a:prstGeom prst="bentUpArrow">
            <a:avLst>
              <a:gd fmla="val 9256" name="adj1"/>
              <a:gd fmla="val 18599" name="adj2"/>
              <a:gd fmla="val 17981" name="adj3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00" lIns="79100" spcFirstLastPara="1" rIns="79100" wrap="square" tIns="7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1"/>
              <a:buFont typeface="Arial"/>
              <a:buNone/>
            </a:pPr>
            <a:r>
              <a:t/>
            </a:r>
            <a:endParaRPr b="0" i="0" sz="12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212875" y="1811325"/>
            <a:ext cx="2080870" cy="7940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AI Solutions Lifecycle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 flipH="1" rot="10800000">
            <a:off x="6626100" y="4598700"/>
            <a:ext cx="2517900" cy="54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6"/>
          <p:cNvGrpSpPr/>
          <p:nvPr/>
        </p:nvGrpSpPr>
        <p:grpSpPr>
          <a:xfrm>
            <a:off x="7212463" y="663163"/>
            <a:ext cx="1443000" cy="767400"/>
            <a:chOff x="7212463" y="663163"/>
            <a:chExt cx="1443000" cy="767400"/>
          </a:xfrm>
        </p:grpSpPr>
        <p:sp>
          <p:nvSpPr>
            <p:cNvPr id="168" name="Google Shape;168;p6"/>
            <p:cNvSpPr/>
            <p:nvPr/>
          </p:nvSpPr>
          <p:spPr>
            <a:xfrm>
              <a:off x="7212463" y="663163"/>
              <a:ext cx="1443000" cy="767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Fine-Tune</a:t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69" name="Google Shape;16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475" y="946988"/>
              <a:ext cx="378975" cy="378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" name="Google Shape;170;p6"/>
          <p:cNvGrpSpPr/>
          <p:nvPr/>
        </p:nvGrpSpPr>
        <p:grpSpPr>
          <a:xfrm>
            <a:off x="7212438" y="1601163"/>
            <a:ext cx="1443000" cy="951000"/>
            <a:chOff x="7212600" y="1990925"/>
            <a:chExt cx="1443000" cy="951000"/>
          </a:xfrm>
        </p:grpSpPr>
        <p:sp>
          <p:nvSpPr>
            <p:cNvPr id="171" name="Google Shape;171;p6"/>
            <p:cNvSpPr/>
            <p:nvPr/>
          </p:nvSpPr>
          <p:spPr>
            <a:xfrm>
              <a:off x="7212600" y="1990925"/>
              <a:ext cx="1443000" cy="9510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Design Persona</a:t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72" name="Google Shape;172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07000" y="2475668"/>
              <a:ext cx="454200" cy="45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6"/>
          <p:cNvGrpSpPr/>
          <p:nvPr/>
        </p:nvGrpSpPr>
        <p:grpSpPr>
          <a:xfrm>
            <a:off x="7212438" y="2722750"/>
            <a:ext cx="1443000" cy="767400"/>
            <a:chOff x="7212450" y="6241150"/>
            <a:chExt cx="1443000" cy="767400"/>
          </a:xfrm>
        </p:grpSpPr>
        <p:sp>
          <p:nvSpPr>
            <p:cNvPr id="174" name="Google Shape;174;p6"/>
            <p:cNvSpPr/>
            <p:nvPr/>
          </p:nvSpPr>
          <p:spPr>
            <a:xfrm>
              <a:off x="7212450" y="6241150"/>
              <a:ext cx="1443000" cy="7674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Deploy API</a:t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75" name="Google Shape;175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44441" y="6576375"/>
              <a:ext cx="378975" cy="378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6"/>
          <p:cNvGrpSpPr/>
          <p:nvPr/>
        </p:nvGrpSpPr>
        <p:grpSpPr>
          <a:xfrm>
            <a:off x="7212438" y="3660738"/>
            <a:ext cx="1443000" cy="895800"/>
            <a:chOff x="7212450" y="8267625"/>
            <a:chExt cx="1443000" cy="895800"/>
          </a:xfrm>
        </p:grpSpPr>
        <p:sp>
          <p:nvSpPr>
            <p:cNvPr id="177" name="Google Shape;177;p6"/>
            <p:cNvSpPr/>
            <p:nvPr/>
          </p:nvSpPr>
          <p:spPr>
            <a:xfrm>
              <a:off x="7212450" y="8267625"/>
              <a:ext cx="1443000" cy="8958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Integrate and Monitor</a:t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78" name="Google Shape;178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44450" y="8729257"/>
              <a:ext cx="378975" cy="378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6"/>
          <p:cNvSpPr/>
          <p:nvPr/>
        </p:nvSpPr>
        <p:spPr>
          <a:xfrm>
            <a:off x="2602798" y="819775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i="0" lang="en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Fine-Tune models on domain-specific data for precise, contextual AI</a:t>
            </a:r>
            <a:endParaRPr b="1" i="0" sz="1800" u="none" cap="none" strike="noStrike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602798" y="1849572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i="0" lang="en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Design agents as specialized personas using prompt engineering</a:t>
            </a:r>
            <a:endParaRPr b="1" i="0" sz="1800" u="none" cap="none" strike="noStrike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633456" y="2879369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i="0" lang="en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Deploy agents as scalable, secure APIs for real-time integration</a:t>
            </a:r>
            <a:endParaRPr b="1" i="0" sz="1800" u="none" cap="none" strike="noStrike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633456" y="3896876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i="0" lang="en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Integrate agents seamlessly into automated workflows for coordinated execution and monitor performance.</a:t>
            </a:r>
            <a:endParaRPr b="1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212875" y="1811325"/>
            <a:ext cx="18930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We Build Our AI Agents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5" name="Google Shape;18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6" title="DKube Text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4e43a16c2_1_0"/>
          <p:cNvSpPr/>
          <p:nvPr/>
        </p:nvSpPr>
        <p:spPr>
          <a:xfrm flipH="1" rot="10800000">
            <a:off x="6626100" y="4761813"/>
            <a:ext cx="2517900" cy="54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g364e43a16c2_1_0"/>
          <p:cNvGrpSpPr/>
          <p:nvPr/>
        </p:nvGrpSpPr>
        <p:grpSpPr>
          <a:xfrm>
            <a:off x="7212475" y="663178"/>
            <a:ext cx="1443000" cy="951000"/>
            <a:chOff x="7212475" y="663178"/>
            <a:chExt cx="1443000" cy="951000"/>
          </a:xfrm>
        </p:grpSpPr>
        <p:sp>
          <p:nvSpPr>
            <p:cNvPr id="193" name="Google Shape;193;g364e43a16c2_1_0"/>
            <p:cNvSpPr/>
            <p:nvPr/>
          </p:nvSpPr>
          <p:spPr>
            <a:xfrm>
              <a:off x="7212475" y="663178"/>
              <a:ext cx="1443000" cy="9510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 sz="1300">
                  <a:latin typeface="Poppins"/>
                  <a:ea typeface="Poppins"/>
                  <a:cs typeface="Poppins"/>
                  <a:sym typeface="Poppins"/>
                </a:rPr>
                <a:t>Ingest and Index Data</a:t>
              </a:r>
              <a:endParaRPr b="1" sz="13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sz="13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4" name="Google Shape;194;g364e43a16c2_1_0" title="database_1669925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475" y="1206105"/>
              <a:ext cx="378975" cy="378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g364e43a16c2_1_0"/>
          <p:cNvGrpSpPr/>
          <p:nvPr/>
        </p:nvGrpSpPr>
        <p:grpSpPr>
          <a:xfrm>
            <a:off x="7212438" y="1764276"/>
            <a:ext cx="1443000" cy="951000"/>
            <a:chOff x="7212600" y="1990925"/>
            <a:chExt cx="1443000" cy="951000"/>
          </a:xfrm>
        </p:grpSpPr>
        <p:sp>
          <p:nvSpPr>
            <p:cNvPr id="196" name="Google Shape;196;g364e43a16c2_1_0"/>
            <p:cNvSpPr/>
            <p:nvPr/>
          </p:nvSpPr>
          <p:spPr>
            <a:xfrm>
              <a:off x="7212600" y="1990925"/>
              <a:ext cx="1443000" cy="9510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>
                  <a:latin typeface="Poppins"/>
                  <a:ea typeface="Poppins"/>
                  <a:cs typeface="Poppins"/>
                  <a:sym typeface="Poppins"/>
                </a:rPr>
                <a:t>Configure Retriever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7" name="Google Shape;197;g364e43a16c2_1_0" title="adjustment_17228802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07000" y="2475668"/>
              <a:ext cx="454200" cy="45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" name="Google Shape;198;g364e43a16c2_1_0"/>
          <p:cNvGrpSpPr/>
          <p:nvPr/>
        </p:nvGrpSpPr>
        <p:grpSpPr>
          <a:xfrm>
            <a:off x="7212450" y="2847974"/>
            <a:ext cx="1443000" cy="895748"/>
            <a:chOff x="7212450" y="6241145"/>
            <a:chExt cx="1443000" cy="853500"/>
          </a:xfrm>
        </p:grpSpPr>
        <p:sp>
          <p:nvSpPr>
            <p:cNvPr id="199" name="Google Shape;199;g364e43a16c2_1_0"/>
            <p:cNvSpPr/>
            <p:nvPr/>
          </p:nvSpPr>
          <p:spPr>
            <a:xfrm>
              <a:off x="7212450" y="6241145"/>
              <a:ext cx="1443000" cy="8535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 sz="1300">
                  <a:latin typeface="Poppins"/>
                  <a:ea typeface="Poppins"/>
                  <a:cs typeface="Poppins"/>
                  <a:sym typeface="Poppins"/>
                </a:rPr>
                <a:t>Orchestrate with LLM</a:t>
              </a:r>
              <a:endParaRPr b="1" i="0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00" name="Google Shape;200;g364e43a16c2_1_0" title="algorithm_14702553.png"/>
            <p:cNvPicPr preferRelativeResize="0"/>
            <p:nvPr/>
          </p:nvPicPr>
          <p:blipFill rotWithShape="1">
            <a:blip r:embed="rId5">
              <a:alphaModFix/>
            </a:blip>
            <a:srcRect b="0" l="2363" r="2353" t="0"/>
            <a:stretch/>
          </p:blipFill>
          <p:spPr>
            <a:xfrm>
              <a:off x="7744441" y="6682040"/>
              <a:ext cx="378975" cy="378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g364e43a16c2_1_0"/>
          <p:cNvGrpSpPr/>
          <p:nvPr/>
        </p:nvGrpSpPr>
        <p:grpSpPr>
          <a:xfrm>
            <a:off x="7212438" y="3823851"/>
            <a:ext cx="1443000" cy="895800"/>
            <a:chOff x="7212450" y="8267625"/>
            <a:chExt cx="1443000" cy="895800"/>
          </a:xfrm>
        </p:grpSpPr>
        <p:sp>
          <p:nvSpPr>
            <p:cNvPr id="202" name="Google Shape;202;g364e43a16c2_1_0"/>
            <p:cNvSpPr/>
            <p:nvPr/>
          </p:nvSpPr>
          <p:spPr>
            <a:xfrm>
              <a:off x="7212450" y="8267625"/>
              <a:ext cx="1443000" cy="895800"/>
            </a:xfrm>
            <a:prstGeom prst="roundRect">
              <a:avLst>
                <a:gd fmla="val 16667" name="adj"/>
              </a:avLst>
            </a:prstGeom>
            <a:solidFill>
              <a:srgbClr val="EDF4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>
                  <a:latin typeface="Poppins"/>
                  <a:ea typeface="Poppins"/>
                  <a:cs typeface="Poppins"/>
                  <a:sym typeface="Poppins"/>
                </a:rPr>
                <a:t>Deploy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and Monitor</a:t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03" name="Google Shape;203;g364e43a16c2_1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44450" y="8729257"/>
              <a:ext cx="378975" cy="378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g364e43a16c2_1_0"/>
          <p:cNvSpPr/>
          <p:nvPr/>
        </p:nvSpPr>
        <p:spPr>
          <a:xfrm>
            <a:off x="2602798" y="819775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Collect domain-specific data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Preprocess, chunk and embed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Store in a vector database for retrieval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g364e43a16c2_1_0"/>
          <p:cNvSpPr/>
          <p:nvPr/>
        </p:nvSpPr>
        <p:spPr>
          <a:xfrm>
            <a:off x="2602798" y="1849572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Optimize retrieval strategy (e.g. dense, hybrid search)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Tune relevance and ranking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g364e43a16c2_1_0"/>
          <p:cNvSpPr/>
          <p:nvPr/>
        </p:nvSpPr>
        <p:spPr>
          <a:xfrm>
            <a:off x="2633456" y="2879369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Connect retriever to LLM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Apply prompt templates for </a:t>
            </a: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contextual</a:t>
            </a: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grounding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g364e43a16c2_1_0"/>
          <p:cNvSpPr/>
          <p:nvPr/>
        </p:nvSpPr>
        <p:spPr>
          <a:xfrm>
            <a:off x="2633456" y="3896876"/>
            <a:ext cx="3750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Expose via API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</a:pP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Monitor </a:t>
            </a: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retrieval</a:t>
            </a:r>
            <a:r>
              <a:rPr b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quality, latency and performance</a:t>
            </a:r>
            <a:endParaRPr b="1"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g364e43a16c2_1_0"/>
          <p:cNvSpPr txBox="1"/>
          <p:nvPr/>
        </p:nvSpPr>
        <p:spPr>
          <a:xfrm>
            <a:off x="212875" y="1811325"/>
            <a:ext cx="1893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We Build Our </a:t>
            </a:r>
            <a:r>
              <a:rPr lang="en" sz="18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RAG </a:t>
            </a:r>
            <a:r>
              <a:rPr lang="en" sz="18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workFlow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9" name="Google Shape;209;g364e43a16c2_1_0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0" name="Google Shape;210;g364e43a16c2_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64e43a16c2_1_0" title="DKube Text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824025" y="871536"/>
            <a:ext cx="2194800" cy="17154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575" lIns="76575" spcFirstLastPara="1" rIns="76575" wrap="square" tIns="7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5"/>
              </a:spcBef>
              <a:spcAft>
                <a:spcPts val="1005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Unified, multi-agent platform that lets users explore data from various sources using no code.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3538789" y="1399127"/>
            <a:ext cx="2066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575" lIns="76575" spcFirstLastPara="1" rIns="76575" wrap="square" tIns="76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5"/>
              </a:spcBef>
              <a:spcAft>
                <a:spcPts val="1005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t/>
            </a:r>
            <a:endParaRPr b="0" i="0" sz="100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354400" y="863400"/>
            <a:ext cx="2194800" cy="17154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64"/>
              </a:spcBef>
              <a:spcAft>
                <a:spcPts val="0"/>
              </a:spcAft>
              <a:buClr>
                <a:schemeClr val="dk1"/>
              </a:buClr>
              <a:buSzPts val="976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64"/>
              </a:spcBef>
              <a:spcAft>
                <a:spcPts val="0"/>
              </a:spcAft>
              <a:buClr>
                <a:schemeClr val="dk1"/>
              </a:buClr>
              <a:buSzPts val="976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64"/>
              </a:spcBef>
              <a:spcAft>
                <a:spcPts val="1064"/>
              </a:spcAft>
              <a:buClr>
                <a:schemeClr val="dk1"/>
              </a:buClr>
              <a:buSzPts val="976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 agent workflow that lets users to generate hypothesis over a certain topic while refining it, using the elo scores and re-ranking agents.</a:t>
            </a:r>
            <a:endParaRPr b="0" i="0" sz="11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6013016" y="1206755"/>
            <a:ext cx="20667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100" lIns="81100" spcFirstLastPara="1" rIns="81100" wrap="square" tIns="811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64"/>
              </a:spcBef>
              <a:spcAft>
                <a:spcPts val="1064"/>
              </a:spcAft>
              <a:buClr>
                <a:schemeClr val="dk1"/>
              </a:buClr>
              <a:buSzPts val="976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5320000" y="177700"/>
            <a:ext cx="268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Solutions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7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5922623" y="882837"/>
            <a:ext cx="2194800" cy="17154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575" lIns="76575" spcFirstLastPara="1" rIns="76575" wrap="square" tIns="7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1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1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5"/>
              </a:spcBef>
              <a:spcAft>
                <a:spcPts val="1005"/>
              </a:spcAft>
              <a:buClr>
                <a:schemeClr val="dk1"/>
              </a:buClr>
              <a:buFont typeface="Arial"/>
              <a:buNone/>
            </a:pPr>
            <a:r>
              <a:rPr lang="en" sz="91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RAG-native AI copilot that streamlines teaching tasks, personalizes learning, and enhances student engagement in higher education.</a:t>
            </a:r>
            <a:endParaRPr b="0" i="0" sz="10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24025" y="2827260"/>
            <a:ext cx="2194800" cy="17670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1"/>
              <a:buFont typeface="Arial"/>
              <a:buNone/>
            </a:pPr>
            <a:r>
              <a:t/>
            </a:r>
            <a:endParaRPr sz="114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1"/>
              <a:buFont typeface="Arial"/>
              <a:buNone/>
            </a:pPr>
            <a:r>
              <a:t/>
            </a:r>
            <a:endParaRPr sz="1141"/>
          </a:p>
          <a:p>
            <a:pPr indent="0" lvl="0" marL="0" marR="0" rtl="0" algn="l">
              <a:lnSpc>
                <a:spcPct val="115000"/>
              </a:lnSpc>
              <a:spcBef>
                <a:spcPts val="1005"/>
              </a:spcBef>
              <a:spcAft>
                <a:spcPts val="1005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rPr lang="en" sz="905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multi-agent assistant that streamlines workplace processes with intelligent automation, powered by RAG for document retrieval and knowledge querying.</a:t>
            </a:r>
            <a:endParaRPr sz="905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950225" y="2827260"/>
            <a:ext cx="2194800" cy="17670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t/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5"/>
              </a:spcBef>
              <a:spcAft>
                <a:spcPts val="1005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An AI-powered assistant that leverages RAG to quickly retrieve, query, and simplify OSHA compliance documents, ensuring faster, safer, and more efficient workplace decisions.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354388" y="2827260"/>
            <a:ext cx="2194800" cy="17670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t/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5"/>
              </a:spcBef>
              <a:spcAft>
                <a:spcPts val="1005"/>
              </a:spcAft>
              <a:buClr>
                <a:schemeClr val="dk1"/>
              </a:buClr>
              <a:buSzPts val="921"/>
              <a:buFont typeface="Arial"/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An AI-driven document assistant that streamlines workflows through intelligent sorting, key field extraction, and deep document analysis.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78402" y="1017415"/>
            <a:ext cx="169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QueriLynx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3430050" y="1017414"/>
            <a:ext cx="2107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Research Lab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5944650" y="1137030"/>
            <a:ext cx="2107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Virtual Teaching Assistant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878402" y="2998615"/>
            <a:ext cx="169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AskX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3393002" y="2998615"/>
            <a:ext cx="169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DocMind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6060002" y="2998615"/>
            <a:ext cx="1696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CompliQuik</a:t>
            </a:r>
            <a:endParaRPr sz="1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9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 txBox="1"/>
          <p:nvPr/>
        </p:nvSpPr>
        <p:spPr>
          <a:xfrm>
            <a:off x="140275" y="727264"/>
            <a:ext cx="611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700" u="none" cap="none" strike="noStrike">
                <a:solidFill>
                  <a:srgbClr val="D6CF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we offer</a:t>
            </a:r>
            <a:r>
              <a:rPr lang="en" sz="1700">
                <a:solidFill>
                  <a:srgbClr val="D6CF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-</a:t>
            </a:r>
            <a:r>
              <a:rPr b="0" i="0" lang="en" sz="17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Your Private AI Advantage</a:t>
            </a:r>
            <a:endParaRPr b="0" i="0" sz="17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4375500" y="1462950"/>
            <a:ext cx="40608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88138" lvl="0" marL="24688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Self-serve on your private infrastructure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Seamless integration with your workflows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Tracing &amp; observability of infrastructure resources, model usage, applications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Create your own AI agentic apps and deploy &amp; maintain it at ease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Creation and seamless integration of agentic workflows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408477" y="3233350"/>
            <a:ext cx="21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D6CFE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259150" y="1489775"/>
            <a:ext cx="40608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88138" lvl="0" marL="2468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b="0" i="0" lang="en" sz="11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Retrieval Augmented Generation for AI Apps</a:t>
            </a:r>
            <a:endParaRPr b="0" i="0" sz="11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Securely Fine-tune LLMs with your data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Train &amp; Deploy your models on-prem or cloud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 ML Pipelines and Workflow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Reliable Autoscaled Production Serving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88138" lvl="0" marL="246888" rtl="0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rgbClr val="7660A8"/>
              </a:buClr>
              <a:buSzPts val="1100"/>
              <a:buFont typeface="Poppins SemiBold"/>
              <a:buChar char="✳"/>
            </a:pPr>
            <a:r>
              <a:rPr lang="en" sz="11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Maintain full control over your data &amp; models</a:t>
            </a:r>
            <a:endParaRPr sz="1100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64e43a16c2_6_37" title="Group 48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4951" y="918650"/>
            <a:ext cx="3096187" cy="30962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g364e43a16c2_6_37"/>
          <p:cNvGrpSpPr/>
          <p:nvPr/>
        </p:nvGrpSpPr>
        <p:grpSpPr>
          <a:xfrm>
            <a:off x="3253300" y="4226533"/>
            <a:ext cx="4279500" cy="467700"/>
            <a:chOff x="3424425" y="3998175"/>
            <a:chExt cx="4279500" cy="467700"/>
          </a:xfrm>
        </p:grpSpPr>
        <p:sp>
          <p:nvSpPr>
            <p:cNvPr id="251" name="Google Shape;251;g364e43a16c2_6_37"/>
            <p:cNvSpPr/>
            <p:nvPr/>
          </p:nvSpPr>
          <p:spPr>
            <a:xfrm>
              <a:off x="3424425" y="3998175"/>
              <a:ext cx="4279500" cy="467700"/>
            </a:xfrm>
            <a:prstGeom prst="roundRect">
              <a:avLst>
                <a:gd fmla="val 1218" name="adj"/>
              </a:avLst>
            </a:prstGeom>
            <a:solidFill>
              <a:srgbClr val="F2F2F2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1" i="0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252" name="Google Shape;252;g364e43a16c2_6_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28575" y="4047375"/>
              <a:ext cx="4099621" cy="369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" name="Google Shape;253;g364e43a16c2_6_37"/>
          <p:cNvSpPr txBox="1"/>
          <p:nvPr/>
        </p:nvSpPr>
        <p:spPr>
          <a:xfrm>
            <a:off x="4391050" y="4672290"/>
            <a:ext cx="2004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Supported Base Distro Infra</a:t>
            </a:r>
            <a:endParaRPr/>
          </a:p>
        </p:txBody>
      </p:sp>
      <p:sp>
        <p:nvSpPr>
          <p:cNvPr id="254" name="Google Shape;254;g364e43a16c2_6_37"/>
          <p:cNvSpPr txBox="1"/>
          <p:nvPr/>
        </p:nvSpPr>
        <p:spPr>
          <a:xfrm>
            <a:off x="216475" y="1496975"/>
            <a:ext cx="267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Our Private AI Platform</a:t>
            </a:r>
            <a:endParaRPr b="1" i="0" sz="1600" u="none" cap="none" strike="noStrike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g364e43a16c2_6_37"/>
          <p:cNvSpPr txBox="1"/>
          <p:nvPr/>
        </p:nvSpPr>
        <p:spPr>
          <a:xfrm>
            <a:off x="216475" y="1811725"/>
            <a:ext cx="20265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Key Building Blocks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6" name="Google Shape;256;g364e43a16c2_6_3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57" name="Google Shape;257;g364e43a16c2_6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64e43a16c2_6_37" title="DKube Text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g364e43a16c2_6_37"/>
          <p:cNvGrpSpPr/>
          <p:nvPr/>
        </p:nvGrpSpPr>
        <p:grpSpPr>
          <a:xfrm>
            <a:off x="4379820" y="1461471"/>
            <a:ext cx="2026465" cy="2010557"/>
            <a:chOff x="4452394" y="1116821"/>
            <a:chExt cx="2292900" cy="2274900"/>
          </a:xfrm>
        </p:grpSpPr>
        <p:sp>
          <p:nvSpPr>
            <p:cNvPr id="260" name="Google Shape;260;g364e43a16c2_6_37"/>
            <p:cNvSpPr/>
            <p:nvPr/>
          </p:nvSpPr>
          <p:spPr>
            <a:xfrm>
              <a:off x="4664075" y="1332600"/>
              <a:ext cx="1863000" cy="1863000"/>
            </a:xfrm>
            <a:prstGeom prst="ellipse">
              <a:avLst/>
            </a:prstGeom>
            <a:solidFill>
              <a:srgbClr val="7660A8">
                <a:alpha val="84810"/>
              </a:srgbClr>
            </a:solidFill>
            <a:ln>
              <a:noFill/>
            </a:ln>
          </p:spPr>
          <p:txBody>
            <a:bodyPr anchorCtr="0" anchor="ctr" bIns="80825" lIns="80825" spcFirstLastPara="1" rIns="80825" wrap="square" tIns="8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7"/>
            </a:p>
          </p:txBody>
        </p:sp>
        <p:sp>
          <p:nvSpPr>
            <p:cNvPr id="261" name="Google Shape;261;g364e43a16c2_6_37"/>
            <p:cNvSpPr/>
            <p:nvPr/>
          </p:nvSpPr>
          <p:spPr>
            <a:xfrm rot="6644499">
              <a:off x="4720838" y="1360886"/>
              <a:ext cx="1756013" cy="1786771"/>
            </a:xfrm>
            <a:prstGeom prst="chord">
              <a:avLst>
                <a:gd fmla="val 5148639" name="adj1"/>
                <a:gd fmla="val 14028597" name="adj2"/>
              </a:avLst>
            </a:prstGeom>
            <a:solidFill>
              <a:srgbClr val="D6CFE5"/>
            </a:solidFill>
            <a:ln>
              <a:noFill/>
            </a:ln>
          </p:spPr>
          <p:txBody>
            <a:bodyPr anchorCtr="0" anchor="ctr" bIns="80825" lIns="80825" spcFirstLastPara="1" rIns="80825" wrap="square" tIns="8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7"/>
            </a:p>
          </p:txBody>
        </p:sp>
        <p:sp>
          <p:nvSpPr>
            <p:cNvPr id="262" name="Google Shape;262;g364e43a16c2_6_37"/>
            <p:cNvSpPr txBox="1"/>
            <p:nvPr/>
          </p:nvSpPr>
          <p:spPr>
            <a:xfrm>
              <a:off x="5215600" y="1533150"/>
              <a:ext cx="766500" cy="1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825" lIns="80825" spcFirstLastPara="1" rIns="80825" wrap="square" tIns="8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18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Controllers</a:t>
              </a:r>
              <a:endParaRPr b="1" sz="618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g364e43a16c2_6_37"/>
            <p:cNvSpPr/>
            <p:nvPr/>
          </p:nvSpPr>
          <p:spPr>
            <a:xfrm>
              <a:off x="4943475" y="1743275"/>
              <a:ext cx="401400" cy="184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5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DKubeX</a:t>
              </a:r>
              <a:endParaRPr sz="453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g364e43a16c2_6_37"/>
            <p:cNvSpPr/>
            <p:nvPr/>
          </p:nvSpPr>
          <p:spPr>
            <a:xfrm>
              <a:off x="5376475" y="1743275"/>
              <a:ext cx="401400" cy="184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5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FM/LLM</a:t>
              </a:r>
              <a:endParaRPr sz="453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g364e43a16c2_6_37"/>
            <p:cNvSpPr/>
            <p:nvPr/>
          </p:nvSpPr>
          <p:spPr>
            <a:xfrm>
              <a:off x="5822350" y="1743275"/>
              <a:ext cx="401400" cy="184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5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Sky</a:t>
              </a:r>
              <a:endParaRPr sz="453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g364e43a16c2_6_37"/>
            <p:cNvSpPr txBox="1"/>
            <p:nvPr/>
          </p:nvSpPr>
          <p:spPr>
            <a:xfrm>
              <a:off x="4887475" y="2082625"/>
              <a:ext cx="1379400" cy="22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825" lIns="80825" spcFirstLastPara="1" rIns="80825" wrap="square" tIns="8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83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Private AI Platform Services</a:t>
              </a:r>
              <a:endParaRPr sz="683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67" name="Google Shape;267;g364e43a16c2_6_37"/>
            <p:cNvSpPr/>
            <p:nvPr/>
          </p:nvSpPr>
          <p:spPr>
            <a:xfrm>
              <a:off x="4943475" y="2362056"/>
              <a:ext cx="572100" cy="184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5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LLM Catalog</a:t>
              </a:r>
              <a:endParaRPr sz="453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g364e43a16c2_6_37"/>
            <p:cNvSpPr/>
            <p:nvPr/>
          </p:nvSpPr>
          <p:spPr>
            <a:xfrm>
              <a:off x="5651650" y="2362056"/>
              <a:ext cx="572100" cy="184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5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UI Services</a:t>
              </a:r>
              <a:endParaRPr sz="453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g364e43a16c2_6_37"/>
            <p:cNvSpPr/>
            <p:nvPr/>
          </p:nvSpPr>
          <p:spPr>
            <a:xfrm>
              <a:off x="4943475" y="2667368"/>
              <a:ext cx="572100" cy="184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825" lIns="21650" spcFirstLastPara="1" rIns="80825" wrap="square" tIns="8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3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0" name="Google Shape;270;g364e43a16c2_6_37"/>
            <p:cNvSpPr/>
            <p:nvPr/>
          </p:nvSpPr>
          <p:spPr>
            <a:xfrm>
              <a:off x="5651650" y="2655393"/>
              <a:ext cx="572100" cy="184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825" lIns="21650" spcFirstLastPara="1" rIns="80825" wrap="square" tIns="8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3"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71" name="Google Shape;271;g364e43a16c2_6_37" title="33164907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146925" y="2675000"/>
              <a:ext cx="165200" cy="16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g364e43a16c2_6_37" title="MLflow-logo-pos-TM-1 2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736994" y="2670704"/>
              <a:ext cx="401400" cy="1567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3" name="Google Shape;273;g364e43a16c2_6_37"/>
          <p:cNvGrpSpPr/>
          <p:nvPr/>
        </p:nvGrpSpPr>
        <p:grpSpPr>
          <a:xfrm>
            <a:off x="7133303" y="904693"/>
            <a:ext cx="1714294" cy="3800415"/>
            <a:chOff x="7133303" y="904693"/>
            <a:chExt cx="1714294" cy="3800415"/>
          </a:xfrm>
        </p:grpSpPr>
        <p:grpSp>
          <p:nvGrpSpPr>
            <p:cNvPr id="274" name="Google Shape;274;g364e43a16c2_6_37"/>
            <p:cNvGrpSpPr/>
            <p:nvPr/>
          </p:nvGrpSpPr>
          <p:grpSpPr>
            <a:xfrm>
              <a:off x="7133303" y="904693"/>
              <a:ext cx="1714294" cy="3800415"/>
              <a:chOff x="7126454" y="665460"/>
              <a:chExt cx="1714294" cy="3800415"/>
            </a:xfrm>
          </p:grpSpPr>
          <p:sp>
            <p:nvSpPr>
              <p:cNvPr id="275" name="Google Shape;275;g364e43a16c2_6_37"/>
              <p:cNvSpPr/>
              <p:nvPr/>
            </p:nvSpPr>
            <p:spPr>
              <a:xfrm>
                <a:off x="7751725" y="1027275"/>
                <a:ext cx="1085700" cy="3438600"/>
              </a:xfrm>
              <a:prstGeom prst="roundRect">
                <a:avLst>
                  <a:gd fmla="val 1632" name="adj"/>
                </a:avLst>
              </a:prstGeom>
              <a:noFill/>
              <a:ln cap="flat" cmpd="sng" w="9525">
                <a:solidFill>
                  <a:srgbClr val="7660A8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6" name="Google Shape;276;g364e43a16c2_6_37"/>
              <p:cNvPicPr preferRelativeResize="0"/>
              <p:nvPr/>
            </p:nvPicPr>
            <p:blipFill rotWithShape="1">
              <a:blip r:embed="rId9">
                <a:alphaModFix/>
              </a:blip>
              <a:srcRect b="0" l="26377" r="30738" t="0"/>
              <a:stretch/>
            </p:blipFill>
            <p:spPr>
              <a:xfrm>
                <a:off x="8131980" y="3959939"/>
                <a:ext cx="313916" cy="46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g364e43a16c2_6_37"/>
              <p:cNvSpPr txBox="1"/>
              <p:nvPr/>
            </p:nvSpPr>
            <p:spPr>
              <a:xfrm>
                <a:off x="7751725" y="1083027"/>
                <a:ext cx="1085700" cy="30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78909C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LLM Providers</a:t>
                </a:r>
                <a:endParaRPr b="0" i="0" sz="700" u="none" cap="none" strike="noStrike">
                  <a:solidFill>
                    <a:srgbClr val="78909C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pic>
            <p:nvPicPr>
              <p:cNvPr descr="preencoded.png" id="278" name="Google Shape;278;g364e43a16c2_6_3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198838" y="1648006"/>
                <a:ext cx="180225" cy="1802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79" name="Google Shape;279;g364e43a16c2_6_37"/>
              <p:cNvCxnSpPr/>
              <p:nvPr/>
            </p:nvCxnSpPr>
            <p:spPr>
              <a:xfrm>
                <a:off x="7769201" y="2565678"/>
                <a:ext cx="1063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660A8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g364e43a16c2_6_37"/>
              <p:cNvSpPr txBox="1"/>
              <p:nvPr/>
            </p:nvSpPr>
            <p:spPr>
              <a:xfrm>
                <a:off x="7751725" y="2551290"/>
                <a:ext cx="1085700" cy="30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78909C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Storage Providers</a:t>
                </a:r>
                <a:endParaRPr b="0" i="0" sz="700" u="none" cap="none" strike="noStrike">
                  <a:solidFill>
                    <a:srgbClr val="78909C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pic>
            <p:nvPicPr>
              <p:cNvPr id="281" name="Google Shape;281;g364e43a16c2_6_37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086822" y="3445401"/>
                <a:ext cx="415500" cy="415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2" name="Google Shape;282;g364e43a16c2_6_37"/>
              <p:cNvPicPr preferRelativeResize="0"/>
              <p:nvPr/>
            </p:nvPicPr>
            <p:blipFill rotWithShape="1">
              <a:blip r:embed="rId12">
                <a:alphaModFix/>
              </a:blip>
              <a:srcRect b="7080" l="15805" r="16415" t="12726"/>
              <a:stretch/>
            </p:blipFill>
            <p:spPr>
              <a:xfrm>
                <a:off x="8052456" y="2853698"/>
                <a:ext cx="490902" cy="5808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3" name="Google Shape;283;g364e43a16c2_6_37"/>
              <p:cNvSpPr/>
              <p:nvPr/>
            </p:nvSpPr>
            <p:spPr>
              <a:xfrm>
                <a:off x="7126454" y="2398200"/>
                <a:ext cx="557100" cy="168600"/>
              </a:xfrm>
              <a:prstGeom prst="rightArrow">
                <a:avLst>
                  <a:gd fmla="val 22242" name="adj1"/>
                  <a:gd fmla="val 41733" name="adj2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g364e43a16c2_6_37"/>
              <p:cNvSpPr txBox="1"/>
              <p:nvPr/>
            </p:nvSpPr>
            <p:spPr>
              <a:xfrm>
                <a:off x="7755048" y="665460"/>
                <a:ext cx="10857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>
                    <a:solidFill>
                      <a:srgbClr val="434343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Supported </a:t>
                </a:r>
                <a:r>
                  <a:rPr b="0" i="0" lang="en" sz="800" u="none" cap="none" strike="noStrike">
                    <a:solidFill>
                      <a:srgbClr val="434343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External Services</a:t>
                </a:r>
                <a:endParaRPr b="0" i="0" sz="800" u="none" cap="none" strike="noStrike">
                  <a:solidFill>
                    <a:srgbClr val="434343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pic>
          <p:nvPicPr>
            <p:cNvPr id="285" name="Google Shape;285;g364e43a16c2_6_37" title="nvidia-logo-vert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8036551" y="2133725"/>
              <a:ext cx="516574" cy="290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g364e43a16c2_6_37" title="680676627b6d59ceab45b628_llama-3-icon-removebg-preview.png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8149478" y="1567163"/>
              <a:ext cx="290725" cy="290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g364e43a16c2_6_37" title="image 64.png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8069275" y="2490711"/>
              <a:ext cx="451125" cy="2276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g364e43a16c2_6_37"/>
          <p:cNvSpPr txBox="1"/>
          <p:nvPr/>
        </p:nvSpPr>
        <p:spPr>
          <a:xfrm>
            <a:off x="2604623" y="3071825"/>
            <a:ext cx="1369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Apps &amp; Services</a:t>
            </a:r>
            <a:endParaRPr/>
          </a:p>
        </p:txBody>
      </p:sp>
      <p:sp>
        <p:nvSpPr>
          <p:cNvPr id="289" name="Google Shape;289;g364e43a16c2_6_37"/>
          <p:cNvSpPr txBox="1"/>
          <p:nvPr/>
        </p:nvSpPr>
        <p:spPr>
          <a:xfrm>
            <a:off x="6713813" y="3071825"/>
            <a:ext cx="96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GenAI Apps &amp; Services</a:t>
            </a:r>
            <a:endParaRPr/>
          </a:p>
        </p:txBody>
      </p:sp>
      <p:sp>
        <p:nvSpPr>
          <p:cNvPr id="290" name="Google Shape;290;g364e43a16c2_6_37"/>
          <p:cNvSpPr txBox="1"/>
          <p:nvPr/>
        </p:nvSpPr>
        <p:spPr>
          <a:xfrm>
            <a:off x="4609000" y="634125"/>
            <a:ext cx="1465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 tools &amp; Infra Services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/>
          <p:nvPr/>
        </p:nvSpPr>
        <p:spPr>
          <a:xfrm>
            <a:off x="3225825" y="0"/>
            <a:ext cx="5918100" cy="2571600"/>
          </a:xfrm>
          <a:prstGeom prst="rect">
            <a:avLst/>
          </a:prstGeom>
          <a:solidFill>
            <a:srgbClr val="D3EAE8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3225825" y="2571750"/>
            <a:ext cx="5918100" cy="2571600"/>
          </a:xfrm>
          <a:prstGeom prst="rect">
            <a:avLst/>
          </a:prstGeom>
          <a:solidFill>
            <a:srgbClr val="C9DAF8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98" name="Google Shape;2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8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8"/>
          <p:cNvSpPr txBox="1"/>
          <p:nvPr/>
        </p:nvSpPr>
        <p:spPr>
          <a:xfrm>
            <a:off x="212875" y="1811325"/>
            <a:ext cx="26967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Building and Operating Private AI for your Enterprise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212878" y="1496575"/>
            <a:ext cx="189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Bridging The Gap</a:t>
            </a:r>
            <a:endParaRPr b="0" i="0" sz="12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3537052" y="1223850"/>
            <a:ext cx="207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</a:t>
            </a:r>
            <a:r>
              <a:rPr lang="en" sz="1800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You</a:t>
            </a: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Have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3537052" y="3430316"/>
            <a:ext cx="2070900" cy="4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We Add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051193" y="611050"/>
            <a:ext cx="2276400" cy="448200"/>
          </a:xfrm>
          <a:prstGeom prst="roundRect">
            <a:avLst>
              <a:gd fmla="val 3314" name="adj"/>
            </a:avLst>
          </a:prstGeom>
          <a:solidFill>
            <a:srgbClr val="F2F4F7"/>
          </a:solidFill>
          <a:ln cap="flat" cmpd="sng" w="9525">
            <a:solidFill>
              <a:srgbClr val="D6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Your</a:t>
            </a:r>
            <a:r>
              <a:rPr lang="en" sz="1000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requirements</a:t>
            </a:r>
            <a:endParaRPr b="0" i="0" sz="1000" u="none" cap="none" strike="noStrike">
              <a:solidFill>
                <a:srgbClr val="17132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051208" y="1222050"/>
            <a:ext cx="2276400" cy="448200"/>
          </a:xfrm>
          <a:prstGeom prst="roundRect">
            <a:avLst>
              <a:gd fmla="val 3314" name="adj"/>
            </a:avLst>
          </a:prstGeom>
          <a:solidFill>
            <a:srgbClr val="F2F4F7"/>
          </a:solidFill>
          <a:ln cap="flat" cmpd="sng" w="9525">
            <a:solidFill>
              <a:srgbClr val="D6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Your Data</a:t>
            </a:r>
            <a:endParaRPr b="0" i="0" sz="1000" u="none" cap="none" strike="noStrike">
              <a:solidFill>
                <a:srgbClr val="17132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051193" y="1831650"/>
            <a:ext cx="2276400" cy="448200"/>
          </a:xfrm>
          <a:prstGeom prst="roundRect">
            <a:avLst>
              <a:gd fmla="val 3314" name="adj"/>
            </a:avLst>
          </a:prstGeom>
          <a:solidFill>
            <a:srgbClr val="F2F4F7"/>
          </a:solidFill>
          <a:ln cap="flat" cmpd="sng" w="9525">
            <a:solidFill>
              <a:srgbClr val="D6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713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Your On-Prem, Private, Multi-Cloud Infra </a:t>
            </a:r>
            <a:endParaRPr b="0" i="0" sz="1000" u="none" cap="none" strike="noStrike">
              <a:solidFill>
                <a:srgbClr val="17132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051193" y="2858900"/>
            <a:ext cx="2276400" cy="448200"/>
          </a:xfrm>
          <a:prstGeom prst="roundRect">
            <a:avLst>
              <a:gd fmla="val 3314" name="adj"/>
            </a:avLst>
          </a:prstGeom>
          <a:solidFill>
            <a:srgbClr val="7660A8"/>
          </a:solidFill>
          <a:ln cap="flat" cmpd="sng" w="9525">
            <a:solidFill>
              <a:srgbClr val="D6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     </a:t>
            </a:r>
            <a:endParaRPr sz="10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 AI Tool Chain                    Build Application</a:t>
            </a:r>
            <a:endParaRPr sz="1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6051200" y="3466501"/>
            <a:ext cx="1054500" cy="546600"/>
          </a:xfrm>
          <a:prstGeom prst="roundRect">
            <a:avLst>
              <a:gd fmla="val 3314" name="adj"/>
            </a:avLst>
          </a:prstGeom>
          <a:solidFill>
            <a:srgbClr val="7660A8"/>
          </a:solidFill>
          <a:ln cap="flat" cmpd="sng" w="9525">
            <a:solidFill>
              <a:srgbClr val="D6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Fine-tune</a:t>
            </a:r>
            <a:endParaRPr sz="1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7165650" y="3466500"/>
            <a:ext cx="1159200" cy="546600"/>
          </a:xfrm>
          <a:prstGeom prst="roundRect">
            <a:avLst>
              <a:gd fmla="val 3314" name="adj"/>
            </a:avLst>
          </a:prstGeom>
          <a:solidFill>
            <a:srgbClr val="7660A8"/>
          </a:solidFill>
          <a:ln cap="flat" cmpd="sng" w="9525">
            <a:solidFill>
              <a:srgbClr val="D6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Scalable Compute/</a:t>
            </a:r>
            <a:endParaRPr b="0" i="0" sz="10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GPU Infra</a:t>
            </a:r>
            <a:endParaRPr b="0" i="0" sz="10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051193" y="4076096"/>
            <a:ext cx="2276400" cy="448200"/>
          </a:xfrm>
          <a:prstGeom prst="roundRect">
            <a:avLst>
              <a:gd fmla="val 3314" name="adj"/>
            </a:avLst>
          </a:prstGeom>
          <a:solidFill>
            <a:srgbClr val="7660A8"/>
          </a:solidFill>
          <a:ln cap="flat" cmpd="sng" w="9525">
            <a:solidFill>
              <a:srgbClr val="D6C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Security &amp; Observability</a:t>
            </a:r>
            <a:endParaRPr b="0" i="0" sz="10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16" name="Google Shape;3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2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 txBox="1"/>
          <p:nvPr/>
        </p:nvSpPr>
        <p:spPr>
          <a:xfrm>
            <a:off x="142075" y="1991125"/>
            <a:ext cx="200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Who we serve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19" name="Google Shape;3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5026" y="2014244"/>
            <a:ext cx="1651400" cy="40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6501" y="1187238"/>
            <a:ext cx="165140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6964" y="2944575"/>
            <a:ext cx="1128900" cy="28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2"/>
          <p:cNvPicPr preferRelativeResize="0"/>
          <p:nvPr/>
        </p:nvPicPr>
        <p:blipFill rotWithShape="1">
          <a:blip r:embed="rId8">
            <a:alphaModFix/>
          </a:blip>
          <a:srcRect b="20281" l="4887" r="0" t="25890"/>
          <a:stretch/>
        </p:blipFill>
        <p:spPr>
          <a:xfrm>
            <a:off x="6629749" y="3637500"/>
            <a:ext cx="1075000" cy="31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50211" y="1188087"/>
            <a:ext cx="702426" cy="3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2" title="image 54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75712" y="1985941"/>
            <a:ext cx="1651400" cy="46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2" title="image 57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17751" y="2953942"/>
            <a:ext cx="1128900" cy="270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2" title="image 53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84041" y="3652075"/>
            <a:ext cx="953368" cy="2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/>
          <p:nvPr/>
        </p:nvSpPr>
        <p:spPr>
          <a:xfrm>
            <a:off x="2218075" y="0"/>
            <a:ext cx="2218200" cy="5143500"/>
          </a:xfrm>
          <a:prstGeom prst="rect">
            <a:avLst/>
          </a:prstGeom>
          <a:solidFill>
            <a:srgbClr val="CFE2F3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6790200" y="0"/>
            <a:ext cx="2353800" cy="5143500"/>
          </a:xfrm>
          <a:prstGeom prst="rect">
            <a:avLst/>
          </a:prstGeom>
          <a:solidFill>
            <a:srgbClr val="C9DAF8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4436400" y="0"/>
            <a:ext cx="2353800" cy="5143500"/>
          </a:xfrm>
          <a:prstGeom prst="rect">
            <a:avLst/>
          </a:prstGeom>
          <a:solidFill>
            <a:srgbClr val="D3EAE8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35" name="Google Shape;3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3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 txBox="1"/>
          <p:nvPr/>
        </p:nvSpPr>
        <p:spPr>
          <a:xfrm>
            <a:off x="212875" y="1811325"/>
            <a:ext cx="2005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Partnerships</a:t>
            </a:r>
            <a:endParaRPr b="0" i="0" sz="18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2350675" y="1109650"/>
            <a:ext cx="19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Private AI Software</a:t>
            </a:r>
            <a:endParaRPr b="0" i="0" sz="1400" u="none" cap="none" strike="noStrike">
              <a:solidFill>
                <a:srgbClr val="76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4636738" y="1109650"/>
            <a:ext cx="195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Resellers &amp; Private Cloud Services</a:t>
            </a:r>
            <a:endParaRPr>
              <a:solidFill>
                <a:srgbClr val="76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7031900" y="1109650"/>
            <a:ext cx="195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Infra Provider</a:t>
            </a:r>
            <a:endParaRPr>
              <a:solidFill>
                <a:srgbClr val="7660A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41" name="Google Shape;341;p13" title="Vmware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2374" y="1946975"/>
            <a:ext cx="1209726" cy="1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3" title="nutanix-logo-charcoal-gray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9813" y="2392073"/>
            <a:ext cx="1434844" cy="185750"/>
          </a:xfrm>
          <a:prstGeom prst="rect">
            <a:avLst/>
          </a:prstGeom>
          <a:solidFill>
            <a:srgbClr val="CFE2F3">
              <a:alpha val="50000"/>
            </a:srgbClr>
          </a:solidFill>
          <a:ln>
            <a:noFill/>
          </a:ln>
        </p:spPr>
      </p:pic>
      <p:pic>
        <p:nvPicPr>
          <p:cNvPr id="343" name="Google Shape;343;p13" title="Vmware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8374" y="1946975"/>
            <a:ext cx="1209726" cy="1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3" title="nutanix-logo-charcoal-gray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5813" y="2392073"/>
            <a:ext cx="1434844" cy="185750"/>
          </a:xfrm>
          <a:prstGeom prst="rect">
            <a:avLst/>
          </a:prstGeom>
          <a:solidFill>
            <a:srgbClr val="CFE2F3">
              <a:alpha val="50000"/>
            </a:srgbClr>
          </a:solidFill>
          <a:ln>
            <a:noFill/>
          </a:ln>
        </p:spPr>
      </p:pic>
      <p:pic>
        <p:nvPicPr>
          <p:cNvPr id="345" name="Google Shape;345;p13" title="kyndryl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8778" y="2796085"/>
            <a:ext cx="1128900" cy="35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3" title="expedient_logo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08375" y="3310291"/>
            <a:ext cx="1209724" cy="274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3" title="SiliconSky-Logo-2021-no-tagline-transparent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04063" y="3782463"/>
            <a:ext cx="1418352" cy="1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3" title="Boston Limited Logo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98117" y="1900538"/>
            <a:ext cx="937975" cy="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54" name="Google Shape;3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4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4"/>
          <p:cNvSpPr txBox="1"/>
          <p:nvPr/>
        </p:nvSpPr>
        <p:spPr>
          <a:xfrm>
            <a:off x="1084950" y="2248498"/>
            <a:ext cx="697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You!</a:t>
            </a:r>
            <a:endParaRPr b="0" i="0" sz="3000" u="none" cap="none" strike="noStrike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