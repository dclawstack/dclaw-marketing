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Poppins Light"/>
      <p:regular r:id="rId23"/>
      <p:bold r:id="rId24"/>
      <p:italic r:id="rId25"/>
      <p:boldItalic r:id="rId26"/>
    </p:embeddedFont>
    <p:embeddedFont>
      <p:font typeface="Poppins Medium"/>
      <p:regular r:id="rId27"/>
      <p:bold r:id="rId28"/>
      <p:italic r:id="rId29"/>
      <p:boldItalic r:id="rId30"/>
    </p:embeddedFont>
    <p:embeddedFont>
      <p:font typeface="Poppins SemiBold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PoppinsLight-bold.fntdata"/><Relationship Id="rId23" Type="http://schemas.openxmlformats.org/officeDocument/2006/relationships/font" Target="fonts/PoppinsLigh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Light-boldItalic.fntdata"/><Relationship Id="rId25" Type="http://schemas.openxmlformats.org/officeDocument/2006/relationships/font" Target="fonts/PoppinsLight-italic.fntdata"/><Relationship Id="rId28" Type="http://schemas.openxmlformats.org/officeDocument/2006/relationships/font" Target="fonts/PoppinsMedium-bold.fntdata"/><Relationship Id="rId27" Type="http://schemas.openxmlformats.org/officeDocument/2006/relationships/font" Target="fonts/Poppins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SemiBold-regular.fntdata"/><Relationship Id="rId30" Type="http://schemas.openxmlformats.org/officeDocument/2006/relationships/font" Target="fonts/PoppinsMedium-boldItalic.fntdata"/><Relationship Id="rId11" Type="http://schemas.openxmlformats.org/officeDocument/2006/relationships/slide" Target="slides/slide6.xml"/><Relationship Id="rId33" Type="http://schemas.openxmlformats.org/officeDocument/2006/relationships/font" Target="fonts/PoppinsSemiBold-italic.fntdata"/><Relationship Id="rId10" Type="http://schemas.openxmlformats.org/officeDocument/2006/relationships/slide" Target="slides/slide5.xml"/><Relationship Id="rId32" Type="http://schemas.openxmlformats.org/officeDocument/2006/relationships/font" Target="fonts/PoppinsSemiBo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PoppinsSemiBold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oppins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dcfdedfc06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dcfdedfc06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cfdedfc06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cfdedfc06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cfdedfc06_0_5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dcfdedfc06_0_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cfdedfc06_0_6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dcfdedfc06_0_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dcfdedfc06_0_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dcfdedfc06_0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cfdedfc06_0_6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dcfdedfc06_0_6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cfdedfc06_0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dcfdedfc06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dcfdedfc06_0_6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dcfdedfc06_0_6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dcfdedfc06_0_6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dcfdedfc06_0_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dcfdedfc06_0_6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dcfdedfc06_0_6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cfdedfc06_0_6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dcfdedfc06_0_6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dcfdedfc06_0_6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dcfdedfc06_0_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dcfdedfc06_0_6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dcfdedfc06_0_6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3 - Agenda">
  <p:cSld name="TITLE_2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12884" y="1039375"/>
            <a:ext cx="27468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7660A8"/>
              </a:buClr>
              <a:buSzPts val="1200"/>
              <a:buFont typeface="Poppins SemiBold"/>
              <a:buNone/>
              <a:defRPr sz="1200">
                <a:solidFill>
                  <a:srgbClr val="7660A8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12875" y="1354125"/>
            <a:ext cx="4530600" cy="27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SemiBold"/>
              <a:buChar char="●"/>
              <a:defRPr sz="12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indent="-3048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Medium"/>
              <a:buChar char="○"/>
              <a:defRPr sz="1200"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indent="-3048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"/>
              <a:buChar char="■"/>
              <a:defRPr sz="1200">
                <a:latin typeface="Poppins"/>
                <a:ea typeface="Poppins"/>
                <a:cs typeface="Poppins"/>
                <a:sym typeface="Poppins"/>
              </a:defRPr>
            </a:lvl3pPr>
            <a:lvl4pPr indent="-304800" lvl="3" marL="1828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Light"/>
              <a:buChar char="●"/>
              <a:defRPr sz="1200">
                <a:latin typeface="Poppins Light"/>
                <a:ea typeface="Poppins Light"/>
                <a:cs typeface="Poppins Light"/>
                <a:sym typeface="Poppins Light"/>
              </a:defRPr>
            </a:lvl4pPr>
            <a:lvl5pPr indent="-304800" lvl="4" marL="22860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Light"/>
              <a:buChar char="○"/>
              <a:defRPr sz="1200">
                <a:latin typeface="Poppins Light"/>
                <a:ea typeface="Poppins Light"/>
                <a:cs typeface="Poppins Light"/>
                <a:sym typeface="Poppins Light"/>
              </a:defRPr>
            </a:lvl5pPr>
            <a:lvl6pPr indent="-304800" lvl="5" marL="2743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Light"/>
              <a:buChar char="■"/>
              <a:defRPr sz="1200">
                <a:latin typeface="Poppins Light"/>
                <a:ea typeface="Poppins Light"/>
                <a:cs typeface="Poppins Light"/>
                <a:sym typeface="Poppins Light"/>
              </a:defRPr>
            </a:lvl6pPr>
            <a:lvl7pPr indent="-304800" lvl="6" marL="3200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Light"/>
              <a:buChar char="●"/>
              <a:defRPr sz="1200">
                <a:latin typeface="Poppins Light"/>
                <a:ea typeface="Poppins Light"/>
                <a:cs typeface="Poppins Light"/>
                <a:sym typeface="Poppins Light"/>
              </a:defRPr>
            </a:lvl7pPr>
            <a:lvl8pPr indent="-304800" lvl="7" marL="3657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Light"/>
              <a:buChar char="○"/>
              <a:defRPr sz="1200">
                <a:latin typeface="Poppins Light"/>
                <a:ea typeface="Poppins Light"/>
                <a:cs typeface="Poppins Light"/>
                <a:sym typeface="Poppins Light"/>
              </a:defRPr>
            </a:lvl8pPr>
            <a:lvl9pPr indent="-304800" lvl="8" marL="41148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Font typeface="Poppins Light"/>
              <a:buChar char="■"/>
              <a:defRPr sz="1200"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30.png"/><Relationship Id="rId8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slide" Target="/ppt/slides/slide11.xml"/><Relationship Id="rId10" Type="http://schemas.openxmlformats.org/officeDocument/2006/relationships/slide" Target="/ppt/slides/slide10.xml"/><Relationship Id="rId1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slide" Target="/ppt/slides/slide12.xml"/><Relationship Id="rId4" Type="http://schemas.openxmlformats.org/officeDocument/2006/relationships/slide" Target="/ppt/slides/slide4.xml"/><Relationship Id="rId9" Type="http://schemas.openxmlformats.org/officeDocument/2006/relationships/slide" Target="/ppt/slides/slide9.xml"/><Relationship Id="rId5" Type="http://schemas.openxmlformats.org/officeDocument/2006/relationships/slide" Target="/ppt/slides/slide5.xml"/><Relationship Id="rId6" Type="http://schemas.openxmlformats.org/officeDocument/2006/relationships/slide" Target="/ppt/slides/slide6.xml"/><Relationship Id="rId7" Type="http://schemas.openxmlformats.org/officeDocument/2006/relationships/slide" Target="/ppt/slides/slide7.xml"/><Relationship Id="rId8" Type="http://schemas.openxmlformats.org/officeDocument/2006/relationships/slide" Target="/ppt/slides/slide8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24.png"/><Relationship Id="rId5" Type="http://schemas.openxmlformats.org/officeDocument/2006/relationships/slide" Target="/ppt/slides/slide3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24.png"/><Relationship Id="rId5" Type="http://schemas.openxmlformats.org/officeDocument/2006/relationships/slide" Target="/ppt/slides/slide3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slide" Target="/ppt/slides/slide3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slide" Target="/ppt/slides/slide3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slide" Target="/ppt/slides/slide3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slide" Target="/ppt/slides/slide3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slide" Target="/ppt/slides/slide3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slide" Target="/ppt/slides/slide3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slide" Target="/ppt/slides/slide3.xml"/></Relationships>
</file>

<file path=ppt/slides/_rels/slide13.xml.rels><?xml version="1.0" encoding="UTF-8" standalone="yes"?><Relationships xmlns="http://schemas.openxmlformats.org/package/2006/relationships"><Relationship Id="rId20" Type="http://schemas.openxmlformats.org/officeDocument/2006/relationships/image" Target="../media/image20.png"/><Relationship Id="rId22" Type="http://schemas.openxmlformats.org/officeDocument/2006/relationships/image" Target="../media/image32.png"/><Relationship Id="rId21" Type="http://schemas.openxmlformats.org/officeDocument/2006/relationships/image" Target="../media/image16.png"/><Relationship Id="rId24" Type="http://schemas.openxmlformats.org/officeDocument/2006/relationships/image" Target="../media/image17.png"/><Relationship Id="rId23" Type="http://schemas.openxmlformats.org/officeDocument/2006/relationships/image" Target="../media/image27.png"/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9" Type="http://schemas.openxmlformats.org/officeDocument/2006/relationships/image" Target="../media/image14.png"/><Relationship Id="rId26" Type="http://schemas.openxmlformats.org/officeDocument/2006/relationships/image" Target="../media/image33.png"/><Relationship Id="rId25" Type="http://schemas.openxmlformats.org/officeDocument/2006/relationships/image" Target="../media/image35.png"/><Relationship Id="rId28" Type="http://schemas.openxmlformats.org/officeDocument/2006/relationships/image" Target="../media/image34.png"/><Relationship Id="rId27" Type="http://schemas.openxmlformats.org/officeDocument/2006/relationships/image" Target="../media/image36.png"/><Relationship Id="rId5" Type="http://schemas.openxmlformats.org/officeDocument/2006/relationships/image" Target="../media/image7.png"/><Relationship Id="rId6" Type="http://schemas.openxmlformats.org/officeDocument/2006/relationships/image" Target="../media/image31.png"/><Relationship Id="rId29" Type="http://schemas.openxmlformats.org/officeDocument/2006/relationships/image" Target="../media/image2.png"/><Relationship Id="rId7" Type="http://schemas.openxmlformats.org/officeDocument/2006/relationships/image" Target="../media/image25.png"/><Relationship Id="rId8" Type="http://schemas.openxmlformats.org/officeDocument/2006/relationships/image" Target="../media/image21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3" Type="http://schemas.openxmlformats.org/officeDocument/2006/relationships/image" Target="../media/image19.png"/><Relationship Id="rId12" Type="http://schemas.openxmlformats.org/officeDocument/2006/relationships/image" Target="../media/image6.png"/><Relationship Id="rId15" Type="http://schemas.openxmlformats.org/officeDocument/2006/relationships/image" Target="../media/image18.png"/><Relationship Id="rId14" Type="http://schemas.openxmlformats.org/officeDocument/2006/relationships/image" Target="../media/image15.png"/><Relationship Id="rId17" Type="http://schemas.openxmlformats.org/officeDocument/2006/relationships/image" Target="../media/image22.png"/><Relationship Id="rId16" Type="http://schemas.openxmlformats.org/officeDocument/2006/relationships/image" Target="../media/image26.png"/><Relationship Id="rId19" Type="http://schemas.openxmlformats.org/officeDocument/2006/relationships/image" Target="../media/image23.png"/><Relationship Id="rId18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58" name="Google Shape;5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 txBox="1"/>
          <p:nvPr/>
        </p:nvSpPr>
        <p:spPr>
          <a:xfrm>
            <a:off x="251950" y="2393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DKubeX - A Kubernetes Based Platform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279150" y="1003076"/>
            <a:ext cx="8585700" cy="3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Our enterprise-grade private AI platform to build, deploy, and scale MLOps, LLMOps and generative AI workflows securely on your infrastructure — built on Kubernetes for simplified AI operations with strong security, governance, and cost efficiency.</a:t>
            </a:r>
            <a:endParaRPr sz="16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DKubeX runs seamlessly on any Kubernetes environment, offering flexibility and portability.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Supported Environments: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On-Prem / Private Clouds: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RKE2, and other Kubernetes distributions for organizations running within their own datacenters or private infrastructure.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Public Clouds: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AWS EKS, Azure AKS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- offering multi-cloud support and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cloud-agnostic deployment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across major providers.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/>
          <p:nvPr/>
        </p:nvSpPr>
        <p:spPr>
          <a:xfrm>
            <a:off x="2381391" y="4760371"/>
            <a:ext cx="6170400" cy="15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87400" lIns="87400" spcFirstLastPara="1" rIns="87400" wrap="square" tIns="874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38"/>
          </a:p>
        </p:txBody>
      </p:sp>
      <p:sp>
        <p:nvSpPr>
          <p:cNvPr id="67" name="Google Shape;67;p15"/>
          <p:cNvSpPr/>
          <p:nvPr/>
        </p:nvSpPr>
        <p:spPr>
          <a:xfrm>
            <a:off x="1797445" y="741450"/>
            <a:ext cx="6360300" cy="3918000"/>
          </a:xfrm>
          <a:prstGeom prst="roundRect">
            <a:avLst>
              <a:gd fmla="val 891" name="adj"/>
            </a:avLst>
          </a:prstGeom>
          <a:noFill/>
          <a:ln cap="flat" cmpd="sng" w="8000">
            <a:solidFill>
              <a:srgbClr val="7F7F7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68" name="Google Shape;68;p15"/>
          <p:cNvSpPr/>
          <p:nvPr/>
        </p:nvSpPr>
        <p:spPr>
          <a:xfrm>
            <a:off x="2882925" y="3801025"/>
            <a:ext cx="2934300" cy="780000"/>
          </a:xfrm>
          <a:prstGeom prst="roundRect">
            <a:avLst>
              <a:gd fmla="val 10371" name="adj"/>
            </a:avLst>
          </a:prstGeom>
          <a:noFill/>
          <a:ln cap="flat" cmpd="sng" w="80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41"/>
          </a:p>
        </p:txBody>
      </p:sp>
      <p:sp>
        <p:nvSpPr>
          <p:cNvPr id="69" name="Google Shape;69;p15"/>
          <p:cNvSpPr/>
          <p:nvPr/>
        </p:nvSpPr>
        <p:spPr>
          <a:xfrm>
            <a:off x="3661923" y="1001032"/>
            <a:ext cx="385200" cy="3930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48760" y="1089310"/>
            <a:ext cx="211538" cy="211538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3610805" y="792255"/>
            <a:ext cx="487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NGINX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2889197" y="1630582"/>
            <a:ext cx="1952400" cy="7800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73" name="Google Shape;73;p15"/>
          <p:cNvSpPr txBox="1"/>
          <p:nvPr/>
        </p:nvSpPr>
        <p:spPr>
          <a:xfrm>
            <a:off x="3434073" y="1618916"/>
            <a:ext cx="8631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D3X K8S Service</a:t>
            </a:r>
            <a:endParaRPr sz="589">
              <a:solidFill>
                <a:srgbClr val="7660A8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3021851" y="1858622"/>
            <a:ext cx="688500" cy="206400"/>
          </a:xfrm>
          <a:prstGeom prst="roundRect">
            <a:avLst>
              <a:gd fmla="val 7673" name="adj"/>
            </a:avLst>
          </a:prstGeom>
          <a:solidFill>
            <a:srgbClr val="9483BA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1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3006503" y="1846328"/>
            <a:ext cx="688500" cy="206400"/>
          </a:xfrm>
          <a:prstGeom prst="roundRect">
            <a:avLst>
              <a:gd fmla="val 7673" name="adj"/>
            </a:avLst>
          </a:prstGeom>
          <a:solidFill>
            <a:srgbClr val="7660A8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FM Controller</a:t>
            </a:r>
            <a:endParaRPr sz="505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3014173" y="2140928"/>
            <a:ext cx="688500" cy="206400"/>
          </a:xfrm>
          <a:prstGeom prst="roundRect">
            <a:avLst>
              <a:gd fmla="val 7673" name="adj"/>
            </a:avLst>
          </a:prstGeom>
          <a:solidFill>
            <a:srgbClr val="9483BA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1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2998825" y="2128634"/>
            <a:ext cx="688500" cy="206400"/>
          </a:xfrm>
          <a:prstGeom prst="roundRect">
            <a:avLst>
              <a:gd fmla="val 7673" name="adj"/>
            </a:avLst>
          </a:prstGeom>
          <a:solidFill>
            <a:srgbClr val="7660A8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LLM Controller</a:t>
            </a:r>
            <a:endParaRPr sz="505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3558099" y="3918774"/>
            <a:ext cx="935700" cy="257400"/>
          </a:xfrm>
          <a:prstGeom prst="roundRect">
            <a:avLst>
              <a:gd fmla="val 10371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9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4596894" y="3918774"/>
            <a:ext cx="973800" cy="257400"/>
          </a:xfrm>
          <a:prstGeom prst="roundRect">
            <a:avLst>
              <a:gd fmla="val 10371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89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2882929" y="3474169"/>
            <a:ext cx="1952400" cy="257400"/>
          </a:xfrm>
          <a:prstGeom prst="roundRect">
            <a:avLst>
              <a:gd fmla="val 10371" name="adj"/>
            </a:avLst>
          </a:prstGeom>
          <a:solidFill>
            <a:srgbClr val="D6CFE5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59595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Prometheus/Grafana</a:t>
            </a:r>
            <a:endParaRPr sz="589">
              <a:solidFill>
                <a:srgbClr val="59595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grpSp>
        <p:nvGrpSpPr>
          <p:cNvPr id="81" name="Google Shape;81;p15"/>
          <p:cNvGrpSpPr/>
          <p:nvPr/>
        </p:nvGrpSpPr>
        <p:grpSpPr>
          <a:xfrm>
            <a:off x="3899821" y="2610907"/>
            <a:ext cx="935721" cy="793725"/>
            <a:chOff x="3796538" y="2299174"/>
            <a:chExt cx="1112100" cy="943339"/>
          </a:xfrm>
        </p:grpSpPr>
        <p:sp>
          <p:nvSpPr>
            <p:cNvPr id="82" name="Google Shape;82;p15"/>
            <p:cNvSpPr/>
            <p:nvPr/>
          </p:nvSpPr>
          <p:spPr>
            <a:xfrm>
              <a:off x="3796538" y="2315813"/>
              <a:ext cx="1112100" cy="926700"/>
            </a:xfrm>
            <a:prstGeom prst="roundRect">
              <a:avLst>
                <a:gd fmla="val 6533" name="adj"/>
              </a:avLst>
            </a:prstGeom>
            <a:noFill/>
            <a:ln cap="flat" cmpd="sng" w="8000">
              <a:solidFill>
                <a:srgbClr val="9483BA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8"/>
            </a:p>
          </p:txBody>
        </p:sp>
        <p:sp>
          <p:nvSpPr>
            <p:cNvPr id="83" name="Google Shape;83;p15"/>
            <p:cNvSpPr/>
            <p:nvPr/>
          </p:nvSpPr>
          <p:spPr>
            <a:xfrm>
              <a:off x="3952501" y="2584850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84" name="Google Shape;84;p15"/>
            <p:cNvSpPr/>
            <p:nvPr/>
          </p:nvSpPr>
          <p:spPr>
            <a:xfrm>
              <a:off x="3934260" y="2570240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Model Store</a:t>
              </a:r>
              <a:endParaRPr sz="5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85" name="Google Shape;85;p15"/>
            <p:cNvSpPr/>
            <p:nvPr/>
          </p:nvSpPr>
          <p:spPr>
            <a:xfrm>
              <a:off x="3961626" y="2914950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3943385" y="2900340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Lineage</a:t>
              </a:r>
              <a:endParaRPr sz="5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87" name="Google Shape;87;p15"/>
            <p:cNvSpPr txBox="1"/>
            <p:nvPr/>
          </p:nvSpPr>
          <p:spPr>
            <a:xfrm>
              <a:off x="3857984" y="2299174"/>
              <a:ext cx="1025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925" lIns="76925" spcFirstLastPara="1" rIns="76925" wrap="square" tIns="769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89">
                  <a:solidFill>
                    <a:srgbClr val="7660A8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MLFlow</a:t>
              </a:r>
              <a:endParaRPr sz="589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88" name="Google Shape;88;p15"/>
          <p:cNvGrpSpPr/>
          <p:nvPr/>
        </p:nvGrpSpPr>
        <p:grpSpPr>
          <a:xfrm>
            <a:off x="2882820" y="2610559"/>
            <a:ext cx="935721" cy="791386"/>
            <a:chOff x="2585824" y="2298760"/>
            <a:chExt cx="1112100" cy="940559"/>
          </a:xfrm>
        </p:grpSpPr>
        <p:sp>
          <p:nvSpPr>
            <p:cNvPr id="89" name="Google Shape;89;p15"/>
            <p:cNvSpPr/>
            <p:nvPr/>
          </p:nvSpPr>
          <p:spPr>
            <a:xfrm>
              <a:off x="2585824" y="2312619"/>
              <a:ext cx="1112100" cy="926700"/>
            </a:xfrm>
            <a:prstGeom prst="roundRect">
              <a:avLst>
                <a:gd fmla="val 6533" name="adj"/>
              </a:avLst>
            </a:prstGeom>
            <a:noFill/>
            <a:ln cap="flat" cmpd="sng" w="8000">
              <a:solidFill>
                <a:srgbClr val="9483BA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8"/>
            </a:p>
          </p:txBody>
        </p:sp>
        <p:sp>
          <p:nvSpPr>
            <p:cNvPr id="90" name="Google Shape;90;p15"/>
            <p:cNvSpPr txBox="1"/>
            <p:nvPr/>
          </p:nvSpPr>
          <p:spPr>
            <a:xfrm>
              <a:off x="2647284" y="2298760"/>
              <a:ext cx="1025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925" lIns="76925" spcFirstLastPara="1" rIns="76925" wrap="square" tIns="769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89">
                  <a:solidFill>
                    <a:srgbClr val="7660A8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Deployments</a:t>
              </a:r>
              <a:endParaRPr sz="589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91" name="Google Shape;91;p15"/>
            <p:cNvSpPr/>
            <p:nvPr/>
          </p:nvSpPr>
          <p:spPr>
            <a:xfrm>
              <a:off x="2741800" y="2590935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92" name="Google Shape;92;p15"/>
            <p:cNvSpPr/>
            <p:nvPr/>
          </p:nvSpPr>
          <p:spPr>
            <a:xfrm>
              <a:off x="2723560" y="2576325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KServe/vLLM</a:t>
              </a:r>
              <a:endParaRPr sz="5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93" name="Google Shape;93;p15"/>
            <p:cNvSpPr/>
            <p:nvPr/>
          </p:nvSpPr>
          <p:spPr>
            <a:xfrm>
              <a:off x="2750925" y="2921035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94" name="Google Shape;94;p15"/>
            <p:cNvSpPr/>
            <p:nvPr/>
          </p:nvSpPr>
          <p:spPr>
            <a:xfrm>
              <a:off x="2732685" y="2906425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LLM/EMB Models</a:t>
              </a:r>
              <a:endParaRPr sz="5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grpSp>
        <p:nvGrpSpPr>
          <p:cNvPr id="95" name="Google Shape;95;p15"/>
          <p:cNvGrpSpPr/>
          <p:nvPr/>
        </p:nvGrpSpPr>
        <p:grpSpPr>
          <a:xfrm>
            <a:off x="4922162" y="2610917"/>
            <a:ext cx="935721" cy="793720"/>
            <a:chOff x="5030350" y="2299186"/>
            <a:chExt cx="1112100" cy="943333"/>
          </a:xfrm>
        </p:grpSpPr>
        <p:sp>
          <p:nvSpPr>
            <p:cNvPr id="96" name="Google Shape;96;p15"/>
            <p:cNvSpPr/>
            <p:nvPr/>
          </p:nvSpPr>
          <p:spPr>
            <a:xfrm>
              <a:off x="5030350" y="2315819"/>
              <a:ext cx="1112100" cy="926700"/>
            </a:xfrm>
            <a:prstGeom prst="roundRect">
              <a:avLst>
                <a:gd fmla="val 6533" name="adj"/>
              </a:avLst>
            </a:prstGeom>
            <a:noFill/>
            <a:ln cap="flat" cmpd="sng" w="8000">
              <a:solidFill>
                <a:srgbClr val="9483BA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8"/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5186326" y="2584863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5168085" y="2570252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Jobs</a:t>
              </a:r>
              <a:endParaRPr sz="5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5195451" y="2914963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5177210" y="2900352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Pipelines</a:t>
              </a:r>
              <a:endParaRPr sz="5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01" name="Google Shape;101;p15"/>
            <p:cNvSpPr txBox="1"/>
            <p:nvPr/>
          </p:nvSpPr>
          <p:spPr>
            <a:xfrm>
              <a:off x="5091809" y="2299186"/>
              <a:ext cx="1025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925" lIns="76925" spcFirstLastPara="1" rIns="76925" wrap="square" tIns="769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89">
                  <a:solidFill>
                    <a:srgbClr val="7660A8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KubeFlow</a:t>
              </a:r>
              <a:endParaRPr sz="589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sp>
        <p:nvSpPr>
          <p:cNvPr id="102" name="Google Shape;102;p15"/>
          <p:cNvSpPr/>
          <p:nvPr/>
        </p:nvSpPr>
        <p:spPr>
          <a:xfrm>
            <a:off x="4076803" y="1144594"/>
            <a:ext cx="166200" cy="100800"/>
          </a:xfrm>
          <a:prstGeom prst="leftRightArrow">
            <a:avLst>
              <a:gd fmla="val 39375" name="adj1"/>
              <a:gd fmla="val 48292" name="adj2"/>
            </a:avLst>
          </a:prstGeom>
          <a:solidFill>
            <a:srgbClr val="78909C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103" name="Google Shape;103;p15"/>
          <p:cNvSpPr/>
          <p:nvPr/>
        </p:nvSpPr>
        <p:spPr>
          <a:xfrm>
            <a:off x="4272582" y="1001032"/>
            <a:ext cx="385200" cy="3930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104" name="Google Shape;104;p15"/>
          <p:cNvSpPr txBox="1"/>
          <p:nvPr/>
        </p:nvSpPr>
        <p:spPr>
          <a:xfrm>
            <a:off x="4221465" y="770483"/>
            <a:ext cx="4875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Auth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4707030" y="1144594"/>
            <a:ext cx="166200" cy="100800"/>
          </a:xfrm>
          <a:prstGeom prst="leftRightArrow">
            <a:avLst>
              <a:gd fmla="val 39375" name="adj1"/>
              <a:gd fmla="val 48292" name="adj2"/>
            </a:avLst>
          </a:prstGeom>
          <a:solidFill>
            <a:srgbClr val="78909C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pic>
        <p:nvPicPr>
          <p:cNvPr id="106" name="Google Shape;10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2677" y="1072019"/>
            <a:ext cx="245022" cy="24612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/>
          <p:nvPr/>
        </p:nvSpPr>
        <p:spPr>
          <a:xfrm>
            <a:off x="5878752" y="3797650"/>
            <a:ext cx="1283700" cy="449700"/>
          </a:xfrm>
          <a:prstGeom prst="roundRect">
            <a:avLst>
              <a:gd fmla="val 10371" name="adj"/>
            </a:avLst>
          </a:prstGeom>
          <a:noFill/>
          <a:ln cap="flat" cmpd="sng" w="80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Storage</a:t>
            </a:r>
            <a:endParaRPr sz="589">
              <a:solidFill>
                <a:srgbClr val="7660A8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6369771" y="3893869"/>
            <a:ext cx="704100" cy="257400"/>
          </a:xfrm>
          <a:prstGeom prst="roundRect">
            <a:avLst>
              <a:gd fmla="val 10371" name="adj"/>
            </a:avLst>
          </a:prstGeom>
          <a:solidFill>
            <a:srgbClr val="D6CFE5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59595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EFS/NFS</a:t>
            </a:r>
            <a:endParaRPr sz="589">
              <a:solidFill>
                <a:srgbClr val="59595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3536531" y="3897206"/>
            <a:ext cx="935700" cy="257400"/>
          </a:xfrm>
          <a:prstGeom prst="roundRect">
            <a:avLst>
              <a:gd fmla="val 10371" name="adj"/>
            </a:avLst>
          </a:prstGeom>
          <a:solidFill>
            <a:srgbClr val="D6CFE5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59595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CPU Nodes</a:t>
            </a:r>
            <a:endParaRPr sz="589">
              <a:solidFill>
                <a:srgbClr val="59595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4575327" y="3897206"/>
            <a:ext cx="973800" cy="257400"/>
          </a:xfrm>
          <a:prstGeom prst="roundRect">
            <a:avLst>
              <a:gd fmla="val 10371" name="adj"/>
            </a:avLst>
          </a:prstGeom>
          <a:solidFill>
            <a:srgbClr val="D6CFE5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59595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GPU Nodes</a:t>
            </a:r>
            <a:endParaRPr sz="589">
              <a:solidFill>
                <a:srgbClr val="59595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5939424" y="2624998"/>
            <a:ext cx="935700" cy="7800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112" name="Google Shape;112;p15"/>
          <p:cNvSpPr/>
          <p:nvPr/>
        </p:nvSpPr>
        <p:spPr>
          <a:xfrm>
            <a:off x="6070669" y="2851384"/>
            <a:ext cx="688500" cy="206400"/>
          </a:xfrm>
          <a:prstGeom prst="roundRect">
            <a:avLst>
              <a:gd fmla="val 7673" name="adj"/>
            </a:avLst>
          </a:prstGeom>
          <a:solidFill>
            <a:srgbClr val="9483BA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1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6055320" y="2839090"/>
            <a:ext cx="688500" cy="206400"/>
          </a:xfrm>
          <a:prstGeom prst="roundRect">
            <a:avLst>
              <a:gd fmla="val 7673" name="adj"/>
            </a:avLst>
          </a:prstGeom>
          <a:solidFill>
            <a:srgbClr val="7660A8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Monitoring</a:t>
            </a:r>
            <a:endParaRPr sz="505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6078347" y="3129145"/>
            <a:ext cx="688500" cy="206400"/>
          </a:xfrm>
          <a:prstGeom prst="roundRect">
            <a:avLst>
              <a:gd fmla="val 7673" name="adj"/>
            </a:avLst>
          </a:prstGeom>
          <a:solidFill>
            <a:srgbClr val="9483BA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1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6062998" y="3116851"/>
            <a:ext cx="688500" cy="206400"/>
          </a:xfrm>
          <a:prstGeom prst="roundRect">
            <a:avLst>
              <a:gd fmla="val 7673" name="adj"/>
            </a:avLst>
          </a:prstGeom>
          <a:solidFill>
            <a:srgbClr val="7660A8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Reports</a:t>
            </a:r>
            <a:endParaRPr sz="505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5991138" y="2611002"/>
            <a:ext cx="8631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SecureLLM</a:t>
            </a:r>
            <a:endParaRPr sz="589">
              <a:solidFill>
                <a:srgbClr val="7660A8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4922373" y="3474169"/>
            <a:ext cx="1952400" cy="257400"/>
          </a:xfrm>
          <a:prstGeom prst="roundRect">
            <a:avLst>
              <a:gd fmla="val 10371" name="adj"/>
            </a:avLst>
          </a:prstGeom>
          <a:solidFill>
            <a:srgbClr val="D6CFE5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59595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Loki</a:t>
            </a:r>
            <a:endParaRPr sz="589">
              <a:solidFill>
                <a:srgbClr val="59595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7110774" y="2625019"/>
            <a:ext cx="935700" cy="7800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119" name="Google Shape;119;p15"/>
          <p:cNvSpPr txBox="1"/>
          <p:nvPr/>
        </p:nvSpPr>
        <p:spPr>
          <a:xfrm>
            <a:off x="7162488" y="2611023"/>
            <a:ext cx="8631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Databases</a:t>
            </a:r>
            <a:endParaRPr sz="589">
              <a:solidFill>
                <a:srgbClr val="7660A8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7242019" y="2980209"/>
            <a:ext cx="688500" cy="206400"/>
          </a:xfrm>
          <a:prstGeom prst="roundRect">
            <a:avLst>
              <a:gd fmla="val 7673" name="adj"/>
            </a:avLst>
          </a:prstGeom>
          <a:solidFill>
            <a:srgbClr val="9483BA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1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7226671" y="2967915"/>
            <a:ext cx="688500" cy="206400"/>
          </a:xfrm>
          <a:prstGeom prst="roundRect">
            <a:avLst>
              <a:gd fmla="val 7673" name="adj"/>
            </a:avLst>
          </a:prstGeom>
          <a:solidFill>
            <a:srgbClr val="7660A8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Postgres</a:t>
            </a:r>
            <a:endParaRPr sz="505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4031224" y="1852480"/>
            <a:ext cx="688500" cy="206400"/>
          </a:xfrm>
          <a:prstGeom prst="roundRect">
            <a:avLst>
              <a:gd fmla="val 7673" name="adj"/>
            </a:avLst>
          </a:prstGeom>
          <a:solidFill>
            <a:srgbClr val="9483BA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1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4015875" y="1840186"/>
            <a:ext cx="688500" cy="206400"/>
          </a:xfrm>
          <a:prstGeom prst="roundRect">
            <a:avLst>
              <a:gd fmla="val 7673" name="adj"/>
            </a:avLst>
          </a:prstGeom>
          <a:solidFill>
            <a:srgbClr val="7660A8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D3X Controller</a:t>
            </a:r>
            <a:endParaRPr sz="505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4023546" y="2134785"/>
            <a:ext cx="688500" cy="206400"/>
          </a:xfrm>
          <a:prstGeom prst="roundRect">
            <a:avLst>
              <a:gd fmla="val 7673" name="adj"/>
            </a:avLst>
          </a:prstGeom>
          <a:solidFill>
            <a:srgbClr val="9483BA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1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4008197" y="2122491"/>
            <a:ext cx="688500" cy="206400"/>
          </a:xfrm>
          <a:prstGeom prst="roundRect">
            <a:avLst>
              <a:gd fmla="val 7673" name="adj"/>
            </a:avLst>
          </a:prstGeom>
          <a:solidFill>
            <a:srgbClr val="7660A8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SKY Controller</a:t>
            </a:r>
            <a:endParaRPr sz="505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4922373" y="884829"/>
            <a:ext cx="1952400" cy="5259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483BA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127" name="Google Shape;127;p15"/>
          <p:cNvSpPr txBox="1"/>
          <p:nvPr/>
        </p:nvSpPr>
        <p:spPr>
          <a:xfrm>
            <a:off x="5309352" y="873154"/>
            <a:ext cx="11790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Application Interface</a:t>
            </a:r>
            <a:endParaRPr sz="589">
              <a:solidFill>
                <a:srgbClr val="7660A8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5055027" y="1112870"/>
            <a:ext cx="688500" cy="206400"/>
          </a:xfrm>
          <a:prstGeom prst="roundRect">
            <a:avLst>
              <a:gd fmla="val 7673" name="adj"/>
            </a:avLst>
          </a:prstGeom>
          <a:solidFill>
            <a:srgbClr val="9483BA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1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5039679" y="1100576"/>
            <a:ext cx="688500" cy="206400"/>
          </a:xfrm>
          <a:prstGeom prst="roundRect">
            <a:avLst>
              <a:gd fmla="val 7673" name="adj"/>
            </a:avLst>
          </a:prstGeom>
          <a:solidFill>
            <a:srgbClr val="7660A8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SecureChat</a:t>
            </a:r>
            <a:endParaRPr sz="505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6064400" y="1106727"/>
            <a:ext cx="688500" cy="206400"/>
          </a:xfrm>
          <a:prstGeom prst="roundRect">
            <a:avLst>
              <a:gd fmla="val 7673" name="adj"/>
            </a:avLst>
          </a:prstGeom>
          <a:solidFill>
            <a:srgbClr val="9483BA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1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6049052" y="1094433"/>
            <a:ext cx="688500" cy="206400"/>
          </a:xfrm>
          <a:prstGeom prst="roundRect">
            <a:avLst>
              <a:gd fmla="val 7673" name="adj"/>
            </a:avLst>
          </a:prstGeom>
          <a:solidFill>
            <a:srgbClr val="7660A8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API Endpoints</a:t>
            </a:r>
            <a:endParaRPr sz="505">
              <a:solidFill>
                <a:schemeClr val="l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cxnSp>
        <p:nvCxnSpPr>
          <p:cNvPr id="132" name="Google Shape;132;p15"/>
          <p:cNvCxnSpPr>
            <a:stCxn id="126" idx="3"/>
            <a:endCxn id="111" idx="3"/>
          </p:cNvCxnSpPr>
          <p:nvPr/>
        </p:nvCxnSpPr>
        <p:spPr>
          <a:xfrm>
            <a:off x="6874773" y="1147779"/>
            <a:ext cx="600" cy="1867200"/>
          </a:xfrm>
          <a:prstGeom prst="bentConnector3">
            <a:avLst>
              <a:gd fmla="val 32391667" name="adj1"/>
            </a:avLst>
          </a:prstGeom>
          <a:noFill/>
          <a:ln cap="flat" cmpd="sng" w="8000">
            <a:solidFill>
              <a:srgbClr val="7660A8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33" name="Google Shape;133;p15"/>
          <p:cNvGrpSpPr/>
          <p:nvPr/>
        </p:nvGrpSpPr>
        <p:grpSpPr>
          <a:xfrm>
            <a:off x="4922162" y="1618870"/>
            <a:ext cx="1952721" cy="537465"/>
            <a:chOff x="5028363" y="792475"/>
            <a:chExt cx="2320800" cy="638775"/>
          </a:xfrm>
        </p:grpSpPr>
        <p:sp>
          <p:nvSpPr>
            <p:cNvPr id="134" name="Google Shape;134;p15"/>
            <p:cNvSpPr/>
            <p:nvPr/>
          </p:nvSpPr>
          <p:spPr>
            <a:xfrm>
              <a:off x="5028363" y="806350"/>
              <a:ext cx="2320800" cy="624900"/>
            </a:xfrm>
            <a:prstGeom prst="roundRect">
              <a:avLst>
                <a:gd fmla="val 6533" name="adj"/>
              </a:avLst>
            </a:prstGeom>
            <a:noFill/>
            <a:ln cap="flat" cmpd="sng" w="8000">
              <a:solidFill>
                <a:srgbClr val="9483BA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8"/>
            </a:p>
          </p:txBody>
        </p:sp>
        <p:sp>
          <p:nvSpPr>
            <p:cNvPr id="135" name="Google Shape;135;p15"/>
            <p:cNvSpPr txBox="1"/>
            <p:nvPr/>
          </p:nvSpPr>
          <p:spPr>
            <a:xfrm>
              <a:off x="5488263" y="792475"/>
              <a:ext cx="14010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925" lIns="76925" spcFirstLastPara="1" rIns="76925" wrap="square" tIns="769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89">
                  <a:solidFill>
                    <a:srgbClr val="7660A8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User Interface</a:t>
              </a:r>
              <a:endParaRPr sz="589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36" name="Google Shape;136;p15"/>
            <p:cNvSpPr/>
            <p:nvPr/>
          </p:nvSpPr>
          <p:spPr>
            <a:xfrm>
              <a:off x="5518832" y="1077649"/>
              <a:ext cx="1370400" cy="245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37" name="Google Shape;137;p15"/>
            <p:cNvSpPr/>
            <p:nvPr/>
          </p:nvSpPr>
          <p:spPr>
            <a:xfrm>
              <a:off x="5488288" y="1063039"/>
              <a:ext cx="1370400" cy="245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Workspace</a:t>
              </a:r>
              <a:endParaRPr sz="5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cxnSp>
        <p:nvCxnSpPr>
          <p:cNvPr id="138" name="Google Shape;138;p15"/>
          <p:cNvCxnSpPr>
            <a:stCxn id="126" idx="2"/>
            <a:endCxn id="73" idx="0"/>
          </p:cNvCxnSpPr>
          <p:nvPr/>
        </p:nvCxnSpPr>
        <p:spPr>
          <a:xfrm rot="5400000">
            <a:off x="4777923" y="498279"/>
            <a:ext cx="208200" cy="2033100"/>
          </a:xfrm>
          <a:prstGeom prst="bentConnector3">
            <a:avLst>
              <a:gd fmla="val 49997" name="adj1"/>
            </a:avLst>
          </a:prstGeom>
          <a:noFill/>
          <a:ln cap="flat" cmpd="sng" w="8000">
            <a:solidFill>
              <a:srgbClr val="7660A8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" name="Google Shape;139;p15"/>
          <p:cNvCxnSpPr>
            <a:stCxn id="134" idx="2"/>
          </p:cNvCxnSpPr>
          <p:nvPr/>
        </p:nvCxnSpPr>
        <p:spPr>
          <a:xfrm rot="5400000">
            <a:off x="5288773" y="1713086"/>
            <a:ext cx="166500" cy="1053000"/>
          </a:xfrm>
          <a:prstGeom prst="bentConnector2">
            <a:avLst/>
          </a:prstGeom>
          <a:noFill/>
          <a:ln cap="flat" cmpd="sng" w="8000">
            <a:solidFill>
              <a:srgbClr val="7660A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" name="Google Shape;140;p15"/>
          <p:cNvSpPr txBox="1"/>
          <p:nvPr/>
        </p:nvSpPr>
        <p:spPr>
          <a:xfrm rot="-5400000">
            <a:off x="1706741" y="1673085"/>
            <a:ext cx="7503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Security Group</a:t>
            </a:r>
            <a:endParaRPr sz="589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41" name="Google Shape;141;p15"/>
          <p:cNvCxnSpPr>
            <a:endCxn id="118" idx="2"/>
          </p:cNvCxnSpPr>
          <p:nvPr/>
        </p:nvCxnSpPr>
        <p:spPr>
          <a:xfrm>
            <a:off x="6873324" y="3306019"/>
            <a:ext cx="705300" cy="99000"/>
          </a:xfrm>
          <a:prstGeom prst="bentConnector4">
            <a:avLst>
              <a:gd fmla="val 20522" name="adj1"/>
              <a:gd fmla="val 303005" name="adj2"/>
            </a:avLst>
          </a:prstGeom>
          <a:noFill/>
          <a:ln cap="flat" cmpd="sng" w="8000">
            <a:solidFill>
              <a:srgbClr val="7660A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2" name="Google Shape;142;p15"/>
          <p:cNvSpPr/>
          <p:nvPr/>
        </p:nvSpPr>
        <p:spPr>
          <a:xfrm rot="-4231">
            <a:off x="6793992" y="2328939"/>
            <a:ext cx="487500" cy="123300"/>
          </a:xfrm>
          <a:prstGeom prst="roundRect">
            <a:avLst>
              <a:gd fmla="val 16667" name="adj"/>
            </a:avLst>
          </a:prstGeom>
          <a:solidFill>
            <a:srgbClr val="EDEDED"/>
          </a:solidFill>
          <a:ln>
            <a:noFill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5">
                <a:latin typeface="Poppins"/>
                <a:ea typeface="Poppins"/>
                <a:cs typeface="Poppins"/>
                <a:sym typeface="Poppins"/>
              </a:rPr>
              <a:t>Feedback</a:t>
            </a:r>
            <a:endParaRPr sz="505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1022348" y="992416"/>
            <a:ext cx="615600" cy="623700"/>
          </a:xfrm>
          <a:prstGeom prst="roundRect">
            <a:avLst>
              <a:gd fmla="val 6533" name="adj"/>
            </a:avLst>
          </a:prstGeom>
          <a:noFill/>
          <a:ln cap="flat" cmpd="sng" w="8000">
            <a:solidFill>
              <a:srgbClr val="9E9E9E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76925" lIns="76925" spcFirstLastPara="1" rIns="76925" wrap="square" tIns="769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78"/>
          </a:p>
        </p:txBody>
      </p:sp>
      <p:sp>
        <p:nvSpPr>
          <p:cNvPr id="144" name="Google Shape;144;p15"/>
          <p:cNvSpPr txBox="1"/>
          <p:nvPr/>
        </p:nvSpPr>
        <p:spPr>
          <a:xfrm>
            <a:off x="986250" y="1697233"/>
            <a:ext cx="6879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76925" lIns="76925" spcFirstLastPara="1" rIns="76925" wrap="square" tIns="769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89">
                <a:solidFill>
                  <a:srgbClr val="4D4D4D"/>
                </a:solidFill>
                <a:latin typeface="Poppins"/>
                <a:ea typeface="Poppins"/>
                <a:cs typeface="Poppins"/>
                <a:sym typeface="Poppins"/>
              </a:rPr>
              <a:t>CLI/UI</a:t>
            </a:r>
            <a:endParaRPr sz="589">
              <a:solidFill>
                <a:srgbClr val="4D4D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5" name="Google Shape;145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4462" y="1188314"/>
            <a:ext cx="385212" cy="385212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5"/>
          <p:cNvSpPr txBox="1"/>
          <p:nvPr/>
        </p:nvSpPr>
        <p:spPr>
          <a:xfrm>
            <a:off x="256650" y="26455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DKubeX Architecture</a:t>
            </a:r>
            <a:endParaRPr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48" name="Google Shape;14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5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1637880" y="1158050"/>
            <a:ext cx="1991100" cy="119100"/>
          </a:xfrm>
          <a:prstGeom prst="leftRightArrow">
            <a:avLst>
              <a:gd fmla="val 17125" name="adj1"/>
              <a:gd fmla="val 48292" name="adj2"/>
            </a:avLst>
          </a:prstGeom>
          <a:solidFill>
            <a:srgbClr val="9483BA"/>
          </a:solidFill>
          <a:ln>
            <a:noFill/>
          </a:ln>
        </p:spPr>
        <p:txBody>
          <a:bodyPr anchorCtr="0" anchor="ctr" bIns="73975" lIns="73975" spcFirstLastPara="1" rIns="73975" wrap="square" tIns="739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33"/>
          </a:p>
        </p:txBody>
      </p:sp>
      <p:grpSp>
        <p:nvGrpSpPr>
          <p:cNvPr id="151" name="Google Shape;151;p15"/>
          <p:cNvGrpSpPr/>
          <p:nvPr/>
        </p:nvGrpSpPr>
        <p:grpSpPr>
          <a:xfrm>
            <a:off x="1865866" y="2613143"/>
            <a:ext cx="935721" cy="791386"/>
            <a:chOff x="2585824" y="2298760"/>
            <a:chExt cx="1112100" cy="940559"/>
          </a:xfrm>
        </p:grpSpPr>
        <p:sp>
          <p:nvSpPr>
            <p:cNvPr id="152" name="Google Shape;152;p15"/>
            <p:cNvSpPr/>
            <p:nvPr/>
          </p:nvSpPr>
          <p:spPr>
            <a:xfrm>
              <a:off x="2585824" y="2312619"/>
              <a:ext cx="1112100" cy="926700"/>
            </a:xfrm>
            <a:prstGeom prst="roundRect">
              <a:avLst>
                <a:gd fmla="val 6533" name="adj"/>
              </a:avLst>
            </a:prstGeom>
            <a:noFill/>
            <a:ln cap="flat" cmpd="sng" w="8000">
              <a:solidFill>
                <a:srgbClr val="9483BA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78"/>
            </a:p>
          </p:txBody>
        </p:sp>
        <p:sp>
          <p:nvSpPr>
            <p:cNvPr id="153" name="Google Shape;153;p15"/>
            <p:cNvSpPr txBox="1"/>
            <p:nvPr/>
          </p:nvSpPr>
          <p:spPr>
            <a:xfrm>
              <a:off x="2647284" y="2298760"/>
              <a:ext cx="1025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6925" lIns="76925" spcFirstLastPara="1" rIns="76925" wrap="square" tIns="769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89">
                  <a:solidFill>
                    <a:srgbClr val="7660A8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Vector Store</a:t>
              </a:r>
              <a:endParaRPr sz="589">
                <a:solidFill>
                  <a:srgbClr val="7660A8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54" name="Google Shape;154;p15"/>
            <p:cNvSpPr/>
            <p:nvPr/>
          </p:nvSpPr>
          <p:spPr>
            <a:xfrm>
              <a:off x="2741800" y="2590935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55" name="Google Shape;155;p15"/>
            <p:cNvSpPr/>
            <p:nvPr/>
          </p:nvSpPr>
          <p:spPr>
            <a:xfrm>
              <a:off x="2723560" y="2576325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Datasets</a:t>
              </a:r>
              <a:endParaRPr sz="5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2750925" y="2921035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9483BA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21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  <p:sp>
          <p:nvSpPr>
            <p:cNvPr id="157" name="Google Shape;157;p15"/>
            <p:cNvSpPr/>
            <p:nvPr/>
          </p:nvSpPr>
          <p:spPr>
            <a:xfrm>
              <a:off x="2732685" y="2906425"/>
              <a:ext cx="818400" cy="245400"/>
            </a:xfrm>
            <a:prstGeom prst="roundRect">
              <a:avLst>
                <a:gd fmla="val 7673" name="adj"/>
              </a:avLst>
            </a:prstGeom>
            <a:solidFill>
              <a:srgbClr val="7660A8"/>
            </a:solidFill>
            <a:ln>
              <a:noFill/>
            </a:ln>
          </p:spPr>
          <p:txBody>
            <a:bodyPr anchorCtr="0" anchor="ctr" bIns="76925" lIns="76925" spcFirstLastPara="1" rIns="76925" wrap="square" tIns="769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5">
                  <a:solidFill>
                    <a:schemeClr val="lt1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Cache</a:t>
              </a:r>
              <a:endParaRPr sz="505">
                <a:solidFill>
                  <a:schemeClr val="lt1"/>
                </a:solidFill>
                <a:latin typeface="Poppins Medium"/>
                <a:ea typeface="Poppins Medium"/>
                <a:cs typeface="Poppins Medium"/>
                <a:sym typeface="Poppins Medium"/>
              </a:endParaRPr>
            </a:p>
          </p:txBody>
        </p:sp>
      </p:grpSp>
      <p:cxnSp>
        <p:nvCxnSpPr>
          <p:cNvPr id="158" name="Google Shape;158;p15"/>
          <p:cNvCxnSpPr>
            <a:stCxn id="72" idx="1"/>
          </p:cNvCxnSpPr>
          <p:nvPr/>
        </p:nvCxnSpPr>
        <p:spPr>
          <a:xfrm rot="10800000">
            <a:off x="2345897" y="2020582"/>
            <a:ext cx="543300" cy="0"/>
          </a:xfrm>
          <a:prstGeom prst="straightConnector1">
            <a:avLst/>
          </a:prstGeom>
          <a:noFill/>
          <a:ln cap="flat" cmpd="sng" w="8675">
            <a:solidFill>
              <a:srgbClr val="7660A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15"/>
          <p:cNvCxnSpPr>
            <a:stCxn id="153" idx="0"/>
          </p:cNvCxnSpPr>
          <p:nvPr/>
        </p:nvCxnSpPr>
        <p:spPr>
          <a:xfrm rot="10800000">
            <a:off x="2349090" y="2025143"/>
            <a:ext cx="0" cy="588000"/>
          </a:xfrm>
          <a:prstGeom prst="straightConnector1">
            <a:avLst/>
          </a:prstGeom>
          <a:noFill/>
          <a:ln cap="flat" cmpd="sng" w="8675">
            <a:solidFill>
              <a:srgbClr val="7660A9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60" name="Google Shape;160;p15"/>
          <p:cNvCxnSpPr/>
          <p:nvPr/>
        </p:nvCxnSpPr>
        <p:spPr>
          <a:xfrm>
            <a:off x="2351633" y="2475728"/>
            <a:ext cx="4076400" cy="0"/>
          </a:xfrm>
          <a:prstGeom prst="straightConnector1">
            <a:avLst/>
          </a:prstGeom>
          <a:noFill/>
          <a:ln cap="flat" cmpd="sng" w="8675">
            <a:solidFill>
              <a:srgbClr val="7660A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15"/>
          <p:cNvCxnSpPr>
            <a:endCxn id="116" idx="0"/>
          </p:cNvCxnSpPr>
          <p:nvPr/>
        </p:nvCxnSpPr>
        <p:spPr>
          <a:xfrm>
            <a:off x="6422688" y="2478402"/>
            <a:ext cx="0" cy="132600"/>
          </a:xfrm>
          <a:prstGeom prst="straightConnector1">
            <a:avLst/>
          </a:prstGeom>
          <a:noFill/>
          <a:ln cap="flat" cmpd="sng" w="8675">
            <a:solidFill>
              <a:srgbClr val="7660A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" name="Google Shape;162;p15"/>
          <p:cNvCxnSpPr/>
          <p:nvPr/>
        </p:nvCxnSpPr>
        <p:spPr>
          <a:xfrm>
            <a:off x="5362725" y="2480297"/>
            <a:ext cx="0" cy="132600"/>
          </a:xfrm>
          <a:prstGeom prst="straightConnector1">
            <a:avLst/>
          </a:prstGeom>
          <a:noFill/>
          <a:ln cap="flat" cmpd="sng" w="8675">
            <a:solidFill>
              <a:srgbClr val="7660A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" name="Google Shape;163;p15"/>
          <p:cNvCxnSpPr/>
          <p:nvPr/>
        </p:nvCxnSpPr>
        <p:spPr>
          <a:xfrm>
            <a:off x="4367569" y="2480297"/>
            <a:ext cx="0" cy="132600"/>
          </a:xfrm>
          <a:prstGeom prst="straightConnector1">
            <a:avLst/>
          </a:prstGeom>
          <a:noFill/>
          <a:ln cap="flat" cmpd="sng" w="8675">
            <a:solidFill>
              <a:srgbClr val="7660A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" name="Google Shape;164;p15"/>
          <p:cNvCxnSpPr/>
          <p:nvPr/>
        </p:nvCxnSpPr>
        <p:spPr>
          <a:xfrm>
            <a:off x="3350603" y="2480297"/>
            <a:ext cx="0" cy="132600"/>
          </a:xfrm>
          <a:prstGeom prst="straightConnector1">
            <a:avLst/>
          </a:prstGeom>
          <a:noFill/>
          <a:ln cap="flat" cmpd="sng" w="8675">
            <a:solidFill>
              <a:srgbClr val="7660A9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65" name="Google Shape;165;p15"/>
          <p:cNvGrpSpPr/>
          <p:nvPr/>
        </p:nvGrpSpPr>
        <p:grpSpPr>
          <a:xfrm>
            <a:off x="2965902" y="4247350"/>
            <a:ext cx="2773093" cy="299725"/>
            <a:chOff x="2965152" y="4247350"/>
            <a:chExt cx="2773093" cy="299725"/>
          </a:xfrm>
        </p:grpSpPr>
        <p:grpSp>
          <p:nvGrpSpPr>
            <p:cNvPr id="166" name="Google Shape;166;p15"/>
            <p:cNvGrpSpPr/>
            <p:nvPr/>
          </p:nvGrpSpPr>
          <p:grpSpPr>
            <a:xfrm>
              <a:off x="2965152" y="4247350"/>
              <a:ext cx="2206151" cy="299725"/>
              <a:chOff x="1362982" y="4148285"/>
              <a:chExt cx="2717938" cy="369301"/>
            </a:xfrm>
          </p:grpSpPr>
          <p:grpSp>
            <p:nvGrpSpPr>
              <p:cNvPr id="167" name="Google Shape;167;p15"/>
              <p:cNvGrpSpPr/>
              <p:nvPr/>
            </p:nvGrpSpPr>
            <p:grpSpPr>
              <a:xfrm>
                <a:off x="1362982" y="4148285"/>
                <a:ext cx="2717938" cy="369301"/>
                <a:chOff x="1362982" y="4148285"/>
                <a:chExt cx="2717938" cy="369301"/>
              </a:xfrm>
            </p:grpSpPr>
            <p:pic>
              <p:nvPicPr>
                <p:cNvPr id="168" name="Google Shape;168;p15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33705" t="0"/>
                <a:stretch/>
              </p:blipFill>
              <p:spPr>
                <a:xfrm>
                  <a:off x="1362982" y="4148285"/>
                  <a:ext cx="2717938" cy="369301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69" name="Google Shape;169;p15"/>
                <p:cNvSpPr/>
                <p:nvPr/>
              </p:nvSpPr>
              <p:spPr>
                <a:xfrm>
                  <a:off x="2337575" y="4167700"/>
                  <a:ext cx="474300" cy="329400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74225" lIns="74225" spcFirstLastPara="1" rIns="74225" wrap="square" tIns="742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136"/>
                </a:p>
              </p:txBody>
            </p:sp>
          </p:grpSp>
          <p:pic>
            <p:nvPicPr>
              <p:cNvPr id="170" name="Google Shape;170;p15"/>
              <p:cNvPicPr preferRelativeResize="0"/>
              <p:nvPr/>
            </p:nvPicPr>
            <p:blipFill>
              <a:blip r:embed="rId8">
                <a:alphaModFix/>
              </a:blip>
              <a:stretch>
                <a:fillRect/>
              </a:stretch>
            </p:blipFill>
            <p:spPr>
              <a:xfrm>
                <a:off x="2339481" y="4239113"/>
                <a:ext cx="456805" cy="18761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71" name="Google Shape;171;p15"/>
            <p:cNvPicPr preferRelativeResize="0"/>
            <p:nvPr/>
          </p:nvPicPr>
          <p:blipFill rotWithShape="1">
            <a:blip r:embed="rId7">
              <a:alphaModFix/>
            </a:blip>
            <a:srcRect b="0" l="83673" r="0" t="0"/>
            <a:stretch/>
          </p:blipFill>
          <p:spPr>
            <a:xfrm>
              <a:off x="5194944" y="4247350"/>
              <a:ext cx="543301" cy="29972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"/>
          <p:cNvSpPr txBox="1"/>
          <p:nvPr/>
        </p:nvSpPr>
        <p:spPr>
          <a:xfrm>
            <a:off x="256650" y="800600"/>
            <a:ext cx="8580900" cy="39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Poppins"/>
              <a:buChar char="●"/>
            </a:pPr>
            <a:r>
              <a:rPr b="1" lang="en" sz="1500">
                <a:latin typeface="Poppins"/>
                <a:ea typeface="Poppins"/>
                <a:cs typeface="Poppins"/>
                <a:sym typeface="Poppins"/>
              </a:rPr>
              <a:t>Fully Kubernetes-based Infrastructure</a:t>
            </a:r>
            <a:endParaRPr b="1" sz="1500"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Simplified Installation</a:t>
            </a:r>
            <a:endParaRPr b="1" sz="1500">
              <a:latin typeface="Poppins"/>
              <a:ea typeface="Poppins"/>
              <a:cs typeface="Poppins"/>
              <a:sym typeface="Poppins"/>
            </a:endParaRPr>
          </a:p>
          <a:p>
            <a:pPr indent="-3302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Robust Security and User Management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Comprehensive User Workspaces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ML Training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ML  Serving and Management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MLOps Integration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LLMOps: Powering Generative AI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LLM Fine-Tuning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Char char="●"/>
            </a:pPr>
            <a:r>
              <a:rPr b="1" lang="en" sz="1500">
                <a:solidFill>
                  <a:schemeClr val="dk1"/>
                </a:solidFill>
                <a:uFill>
                  <a:noFill/>
                </a:uFill>
                <a:latin typeface="Poppins"/>
                <a:ea typeface="Poppins"/>
                <a:cs typeface="Poppins"/>
                <a:sym typeface="Poppins"/>
                <a:hlinkClick action="ppaction://hlinksldjump"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Generative AI and Agentic Solutions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7" name="Google Shape;177;p16"/>
          <p:cNvSpPr txBox="1"/>
          <p:nvPr/>
        </p:nvSpPr>
        <p:spPr>
          <a:xfrm>
            <a:off x="256650" y="26455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DKubeX – Features</a:t>
            </a:r>
            <a:endParaRPr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8" name="Google Shape;178;p16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79" name="Google Shape;179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6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7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86" name="Google Shape;18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7"/>
          <p:cNvSpPr txBox="1"/>
          <p:nvPr/>
        </p:nvSpPr>
        <p:spPr>
          <a:xfrm>
            <a:off x="251950" y="8150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Robust Security and User Management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" name="Google Shape;188;p17"/>
          <p:cNvSpPr txBox="1"/>
          <p:nvPr/>
        </p:nvSpPr>
        <p:spPr>
          <a:xfrm>
            <a:off x="251950" y="1465226"/>
            <a:ext cx="8585700" cy="3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Enterprise-grade access control and identity management are built in.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Supported OAuth Providers: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Git · Okta · Keycloak · Google · Microsoft ADFS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Value to AWS Enterprises: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Seamless integration with corporate identity systems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Role-based access and audit trails for every user action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Meets security and compliance standards expected in regulated industries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9" name="Google Shape;189;p17" title="DKube Tex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160" y="281588"/>
            <a:ext cx="962150" cy="253912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7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8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196" name="Google Shape;19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8"/>
          <p:cNvSpPr txBox="1"/>
          <p:nvPr/>
        </p:nvSpPr>
        <p:spPr>
          <a:xfrm>
            <a:off x="251950" y="8150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Comprehensive User Workspaces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251950" y="1465223"/>
            <a:ext cx="8585700" cy="21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Pre-configured environments for data scientists and MLOps teams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IDEs: RStudio, JupyterLab, VS Code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Integrated File Browser and Terminal access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Consistent, ready-to-use setup across teams and projects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Accelerates experimentation and collaboration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9" name="Google Shape;199;p18" title="DKube Text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160" y="281588"/>
            <a:ext cx="962150" cy="253912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8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9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206" name="Google Shape;20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9"/>
          <p:cNvSpPr txBox="1"/>
          <p:nvPr/>
        </p:nvSpPr>
        <p:spPr>
          <a:xfrm>
            <a:off x="251950" y="2393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ML Training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8" name="Google Shape;208;p19"/>
          <p:cNvSpPr txBox="1"/>
          <p:nvPr/>
        </p:nvSpPr>
        <p:spPr>
          <a:xfrm>
            <a:off x="251950" y="892625"/>
            <a:ext cx="8487600" cy="36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Provides environments like Jupyter, Vscode, R 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Integrates with tools like Ray, Kubeflow and flyte 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Tools for training and serving traditional machine learning models. 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Run distributed ML jobs on Kubernetes using Ray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and submit ML training jobs on cloud (AWS, GCP)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Supports GPU/CPU resource allocation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Ensures reproducible and efficient training workflows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Uses Mlflow for tracking experiments and training runs including the parameters. metrics, artifacts of the training runs.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215" name="Google Shape;2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251950" y="2054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ML Model Serving and Management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251950" y="855626"/>
            <a:ext cx="8585700" cy="3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DKubeX provides flexible model-serving options designed for scalability and performance across environments.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Serving Options: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On Kubernetes: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via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Ray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containerized inference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 Cloud: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via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Skypilot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managed GPU/compute utilization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Business Advantage: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Choose deployment method based on workload size and cost profile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Unified management for training, serving, and monitoring ML models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1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224" name="Google Shape;22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251950" y="196109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MLOps Integration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226" name="Google Shape;226;p21"/>
          <p:cNvGrpSpPr/>
          <p:nvPr/>
        </p:nvGrpSpPr>
        <p:grpSpPr>
          <a:xfrm>
            <a:off x="278991" y="1057717"/>
            <a:ext cx="4210792" cy="1549009"/>
            <a:chOff x="5888500" y="1352275"/>
            <a:chExt cx="3083700" cy="1219500"/>
          </a:xfrm>
        </p:grpSpPr>
        <p:sp>
          <p:nvSpPr>
            <p:cNvPr id="227" name="Google Shape;227;p21"/>
            <p:cNvSpPr/>
            <p:nvPr/>
          </p:nvSpPr>
          <p:spPr>
            <a:xfrm>
              <a:off x="5888500" y="1352275"/>
              <a:ext cx="3083700" cy="12195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Poppins"/>
                <a:buChar char="●"/>
              </a:pPr>
              <a:r>
                <a:rPr lang="en" sz="1200">
                  <a:latin typeface="Poppins"/>
                  <a:ea typeface="Poppins"/>
                  <a:cs typeface="Poppins"/>
                  <a:sym typeface="Poppins"/>
                </a:rPr>
                <a:t>Record parameters, metrics, and artifacts</a:t>
              </a:r>
              <a:endParaRPr sz="1200">
                <a:latin typeface="Poppins"/>
                <a:ea typeface="Poppins"/>
                <a:cs typeface="Poppins"/>
                <a:sym typeface="Poppins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Poppins"/>
                <a:buChar char="●"/>
              </a:pPr>
              <a:r>
                <a:rPr lang="en" sz="1200">
                  <a:latin typeface="Poppins"/>
                  <a:ea typeface="Poppins"/>
                  <a:cs typeface="Poppins"/>
                  <a:sym typeface="Poppins"/>
                </a:rPr>
                <a:t>Reproduce and compare runs</a:t>
              </a:r>
              <a:endParaRPr sz="1200">
                <a:latin typeface="Poppins"/>
                <a:ea typeface="Poppins"/>
                <a:cs typeface="Poppins"/>
                <a:sym typeface="Poppins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Poppins"/>
                <a:buChar char="●"/>
              </a:pPr>
              <a:r>
                <a:rPr lang="en" sz="1200">
                  <a:latin typeface="Poppins"/>
                  <a:ea typeface="Poppins"/>
                  <a:cs typeface="Poppins"/>
                  <a:sym typeface="Poppins"/>
                </a:rPr>
                <a:t>Manage model versioning and lifecycle stages</a:t>
              </a:r>
              <a:endParaRPr sz="12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8" name="Google Shape;228;p21"/>
            <p:cNvSpPr/>
            <p:nvPr/>
          </p:nvSpPr>
          <p:spPr>
            <a:xfrm>
              <a:off x="5888500" y="1352275"/>
              <a:ext cx="3083700" cy="457800"/>
            </a:xfrm>
            <a:prstGeom prst="roundRect">
              <a:avLst>
                <a:gd fmla="val 16667" name="adj"/>
              </a:avLst>
            </a:prstGeom>
            <a:solidFill>
              <a:srgbClr val="7660A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MLFlow - Experiment Tracking</a:t>
              </a:r>
              <a:endParaRPr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229" name="Google Shape;229;p21"/>
          <p:cNvGrpSpPr/>
          <p:nvPr/>
        </p:nvGrpSpPr>
        <p:grpSpPr>
          <a:xfrm>
            <a:off x="279096" y="2702948"/>
            <a:ext cx="4210792" cy="1549009"/>
            <a:chOff x="5888500" y="1352275"/>
            <a:chExt cx="3083700" cy="1219500"/>
          </a:xfrm>
        </p:grpSpPr>
        <p:sp>
          <p:nvSpPr>
            <p:cNvPr id="230" name="Google Shape;230;p21"/>
            <p:cNvSpPr/>
            <p:nvPr/>
          </p:nvSpPr>
          <p:spPr>
            <a:xfrm>
              <a:off x="5888500" y="1352275"/>
              <a:ext cx="3083700" cy="12195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Poppins"/>
                <a:buChar char="●"/>
              </a:pPr>
              <a:r>
                <a:rPr lang="en" sz="1200">
                  <a:latin typeface="Poppins"/>
                  <a:ea typeface="Poppins"/>
                  <a:cs typeface="Poppins"/>
                  <a:sym typeface="Poppins"/>
                </a:rPr>
                <a:t>Automate tuning to improve accuracy and reduce iteration time</a:t>
              </a:r>
              <a:endParaRPr sz="12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1" name="Google Shape;231;p21"/>
            <p:cNvSpPr/>
            <p:nvPr/>
          </p:nvSpPr>
          <p:spPr>
            <a:xfrm>
              <a:off x="5888500" y="1352275"/>
              <a:ext cx="3083700" cy="457800"/>
            </a:xfrm>
            <a:prstGeom prst="roundRect">
              <a:avLst>
                <a:gd fmla="val 16667" name="adj"/>
              </a:avLst>
            </a:prstGeom>
            <a:solidFill>
              <a:srgbClr val="7660A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Optuna - Hyperparameter Optimization</a:t>
              </a:r>
              <a:endParaRPr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232" name="Google Shape;232;p21"/>
          <p:cNvGrpSpPr/>
          <p:nvPr/>
        </p:nvGrpSpPr>
        <p:grpSpPr>
          <a:xfrm>
            <a:off x="4725029" y="1057717"/>
            <a:ext cx="4139867" cy="1549009"/>
            <a:chOff x="5888500" y="1352275"/>
            <a:chExt cx="3083700" cy="1219500"/>
          </a:xfrm>
        </p:grpSpPr>
        <p:sp>
          <p:nvSpPr>
            <p:cNvPr id="233" name="Google Shape;233;p21"/>
            <p:cNvSpPr/>
            <p:nvPr/>
          </p:nvSpPr>
          <p:spPr>
            <a:xfrm>
              <a:off x="5888500" y="1352275"/>
              <a:ext cx="3083700" cy="12195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latin typeface="Poppins"/>
                <a:ea typeface="Poppins"/>
                <a:cs typeface="Poppins"/>
                <a:sym typeface="Poppins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Poppins"/>
                <a:buChar char="●"/>
              </a:pPr>
              <a:r>
                <a:rPr lang="en" sz="1200">
                  <a:latin typeface="Poppins"/>
                  <a:ea typeface="Poppins"/>
                  <a:cs typeface="Poppins"/>
                  <a:sym typeface="Poppins"/>
                </a:rPr>
                <a:t>Design and execute complex ML pipelines on Kubernetes</a:t>
              </a:r>
              <a:endParaRPr sz="1200">
                <a:latin typeface="Poppins"/>
                <a:ea typeface="Poppins"/>
                <a:cs typeface="Poppins"/>
                <a:sym typeface="Poppins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Poppins"/>
                <a:buChar char="●"/>
              </a:pPr>
              <a:r>
                <a:rPr lang="en" sz="1200">
                  <a:latin typeface="Poppins"/>
                  <a:ea typeface="Poppins"/>
                  <a:cs typeface="Poppins"/>
                  <a:sym typeface="Poppins"/>
                </a:rPr>
                <a:t>Ensure consistency and scalability across teams</a:t>
              </a:r>
              <a:endParaRPr sz="12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4" name="Google Shape;234;p21"/>
            <p:cNvSpPr/>
            <p:nvPr/>
          </p:nvSpPr>
          <p:spPr>
            <a:xfrm>
              <a:off x="5888500" y="1352275"/>
              <a:ext cx="3083700" cy="457800"/>
            </a:xfrm>
            <a:prstGeom prst="roundRect">
              <a:avLst>
                <a:gd fmla="val 16667" name="adj"/>
              </a:avLst>
            </a:prstGeom>
            <a:solidFill>
              <a:srgbClr val="7660A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KubeFlow - Orchestration</a:t>
              </a:r>
              <a:endParaRPr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grpSp>
        <p:nvGrpSpPr>
          <p:cNvPr id="235" name="Google Shape;235;p21"/>
          <p:cNvGrpSpPr/>
          <p:nvPr/>
        </p:nvGrpSpPr>
        <p:grpSpPr>
          <a:xfrm>
            <a:off x="4725132" y="2702948"/>
            <a:ext cx="4139867" cy="1549009"/>
            <a:chOff x="5888500" y="1352275"/>
            <a:chExt cx="3083700" cy="1219500"/>
          </a:xfrm>
        </p:grpSpPr>
        <p:sp>
          <p:nvSpPr>
            <p:cNvPr id="236" name="Google Shape;236;p21"/>
            <p:cNvSpPr/>
            <p:nvPr/>
          </p:nvSpPr>
          <p:spPr>
            <a:xfrm>
              <a:off x="5888500" y="1352275"/>
              <a:ext cx="3083700" cy="1219500"/>
            </a:xfrm>
            <a:prstGeom prst="roundRect">
              <a:avLst>
                <a:gd fmla="val 16667" name="adj"/>
              </a:avLst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-304800" lvl="0" marL="45720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Font typeface="Poppins"/>
                <a:buChar char="●"/>
              </a:pPr>
              <a:r>
                <a:rPr lang="en" sz="1200">
                  <a:latin typeface="Poppins"/>
                  <a:ea typeface="Poppins"/>
                  <a:cs typeface="Poppins"/>
                  <a:sym typeface="Poppins"/>
                </a:rPr>
                <a:t>Real-time insights into model performance and training behavior</a:t>
              </a:r>
              <a:endParaRPr sz="1500"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7" name="Google Shape;237;p21"/>
            <p:cNvSpPr/>
            <p:nvPr/>
          </p:nvSpPr>
          <p:spPr>
            <a:xfrm>
              <a:off x="5888500" y="1352275"/>
              <a:ext cx="3083700" cy="457800"/>
            </a:xfrm>
            <a:prstGeom prst="roundRect">
              <a:avLst>
                <a:gd fmla="val 16667" name="adj"/>
              </a:avLst>
            </a:prstGeom>
            <a:solidFill>
              <a:srgbClr val="7660A9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Tensorboard - Visualization</a:t>
              </a:r>
              <a:endParaRPr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endParaRPr>
            </a:p>
          </p:txBody>
        </p:sp>
      </p:grpSp>
      <p:sp>
        <p:nvSpPr>
          <p:cNvPr id="238" name="Google Shape;238;p21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2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244" name="Google Shape;24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2"/>
          <p:cNvSpPr txBox="1"/>
          <p:nvPr/>
        </p:nvSpPr>
        <p:spPr>
          <a:xfrm>
            <a:off x="251950" y="2054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LLMOps: Powering Generative AI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251950" y="855626"/>
            <a:ext cx="8585700" cy="3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Purpose-built for modern Generative AI workloads on Kubernetes– providing seamless management of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LLMs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and embedding models across training, deployment, and inference pipelines - both on-prem and across cloud environments.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Core Components: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LLM/Embedding Model Catalog: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Ready-to-deploy open-source and NVIDIA NIM models (LLMs and embeddings)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Deployment: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KServe (local) or Skypilot (AWS, GCP)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Inference: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Run on local GPUs or cloud GPU nodes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Scaling: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Auto-optimization for cost and performance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API Access: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Standardized endpoints for application integration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47" name="Google Shape;247;p22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3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253" name="Google Shape;25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3"/>
          <p:cNvSpPr txBox="1"/>
          <p:nvPr/>
        </p:nvSpPr>
        <p:spPr>
          <a:xfrm>
            <a:off x="251950" y="2054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LLM Fine-Tuning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5" name="Google Shape;255;p23"/>
          <p:cNvSpPr txBox="1"/>
          <p:nvPr/>
        </p:nvSpPr>
        <p:spPr>
          <a:xfrm>
            <a:off x="251950" y="687330"/>
            <a:ext cx="8585700" cy="34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Key Features: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DKubeX simplifies the complex process of fine-tuning LLMs and embedding models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Axolotl Framework: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human-readable configuration for fine-tuning jobs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○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Simplify fine-tuning with intuitive, YAML-based workflows.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○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Methods Supported: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LoRA and QLoRA for efficient tuning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Embeddings: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Flag Embedding for performance gains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1" marL="9144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○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Synthetic Data Generation: automatic positive/negative example creation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Value: 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Accelerated LLM customization for domain-specific applications without infrastructure overhead.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56" name="Google Shape;256;p23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4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262" name="Google Shape;26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4"/>
          <p:cNvSpPr txBox="1"/>
          <p:nvPr/>
        </p:nvSpPr>
        <p:spPr>
          <a:xfrm>
            <a:off x="251950" y="2054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Generative AI and Agentic Solutions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4" name="Google Shape;264;p24"/>
          <p:cNvSpPr txBox="1"/>
          <p:nvPr/>
        </p:nvSpPr>
        <p:spPr>
          <a:xfrm>
            <a:off x="251950" y="855626"/>
            <a:ext cx="8585700" cy="31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Enables enterprise-grade Generative AI and multi-agent systems on Kubernetes, accelerating innovation and simplifying rapid GenAI deployment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Retrieval-Augmented Generation (RAG): 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Build chatbots that understand and respond using enterprise data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Agentic AI: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Develop secure, scalable, and cost-efficient end-to-end AI workflows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Framework Proficiency:</a:t>
            </a:r>
            <a:b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LangChain · LlamaIndex · LangFlow · MCP Server · LangGraph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5" name="Google Shape;265;p24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5"/>
          <p:cNvSpPr txBox="1"/>
          <p:nvPr/>
        </p:nvSpPr>
        <p:spPr>
          <a:xfrm>
            <a:off x="142076" y="4659450"/>
            <a:ext cx="1128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171322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dkube.io</a:t>
            </a:r>
            <a:endParaRPr b="0" i="0" sz="1500" u="none" cap="none" strike="noStrike">
              <a:solidFill>
                <a:srgbClr val="171322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271" name="Google Shape;27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5"/>
          <p:cNvSpPr txBox="1"/>
          <p:nvPr/>
        </p:nvSpPr>
        <p:spPr>
          <a:xfrm>
            <a:off x="251950" y="205400"/>
            <a:ext cx="6984000" cy="3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7660A9"/>
                </a:solidFill>
                <a:latin typeface="Poppins"/>
                <a:ea typeface="Poppins"/>
                <a:cs typeface="Poppins"/>
                <a:sym typeface="Poppins"/>
              </a:rPr>
              <a:t>Simplified Installation</a:t>
            </a:r>
            <a:endParaRPr b="1" sz="24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3" name="Google Shape;273;p25"/>
          <p:cNvSpPr txBox="1"/>
          <p:nvPr/>
        </p:nvSpPr>
        <p:spPr>
          <a:xfrm>
            <a:off x="251950" y="855623"/>
            <a:ext cx="8585700" cy="21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DKubeX’s installation process, powered by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Terraform and Helm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enables rapid deployment across both AWS, other clouds or on-prem environments.</a:t>
            </a:r>
            <a:endParaRPr b="1"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Terraform-based installation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provisions and configures all necessary AWS infrastructure — including </a:t>
            </a: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EKS clusters, networking, storage, and IAM roles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— ensuring a fully integrated and production-ready environment within minutes.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b="1"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RKE2 installation using Helm charts</a:t>
            </a: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 for simplified on-prem deployments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500"/>
              <a:buFont typeface="Poppins"/>
              <a:buChar char="●"/>
            </a:pPr>
            <a:r>
              <a:rPr lang="en" sz="15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Consistent configuration across environments ensures repeatability and compliance</a:t>
            </a:r>
            <a:endParaRPr sz="15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74" name="Google Shape;274;p25"/>
          <p:cNvSpPr txBox="1"/>
          <p:nvPr/>
        </p:nvSpPr>
        <p:spPr>
          <a:xfrm>
            <a:off x="5264350" y="4705650"/>
            <a:ext cx="3573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7660A9"/>
                </a:solidFill>
                <a:uFill>
                  <a:noFill/>
                </a:uFill>
                <a:latin typeface="Poppins SemiBold"/>
                <a:ea typeface="Poppins SemiBold"/>
                <a:cs typeface="Poppins SemiBold"/>
                <a:sym typeface="Poppins SemiBold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Empowering Enterprise AI on Kubernetes</a:t>
            </a:r>
            <a:endParaRPr sz="1300">
              <a:solidFill>
                <a:srgbClr val="7660A9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6"/>
          <p:cNvSpPr/>
          <p:nvPr/>
        </p:nvSpPr>
        <p:spPr>
          <a:xfrm>
            <a:off x="346975" y="764375"/>
            <a:ext cx="8544600" cy="3024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Private AI platform built using high performance function blocks based on</a:t>
            </a:r>
            <a:r>
              <a:rPr lang="en" sz="1050"/>
              <a:t> </a:t>
            </a:r>
            <a:r>
              <a:rPr b="0" i="0" lang="en" sz="1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advanced research and open source technology.</a:t>
            </a:r>
            <a:endParaRPr b="0" i="0" sz="105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6"/>
          <p:cNvSpPr/>
          <p:nvPr/>
        </p:nvSpPr>
        <p:spPr>
          <a:xfrm>
            <a:off x="350175" y="1211625"/>
            <a:ext cx="4221900" cy="1645800"/>
          </a:xfrm>
          <a:prstGeom prst="rect">
            <a:avLst/>
          </a:prstGeom>
          <a:gradFill>
            <a:gsLst>
              <a:gs pos="0">
                <a:srgbClr val="FDECDB"/>
              </a:gs>
              <a:gs pos="100000">
                <a:srgbClr val="F0AA6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6"/>
          <p:cNvSpPr/>
          <p:nvPr/>
        </p:nvSpPr>
        <p:spPr>
          <a:xfrm>
            <a:off x="350175" y="2960850"/>
            <a:ext cx="4221900" cy="16458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6"/>
          <p:cNvSpPr/>
          <p:nvPr/>
        </p:nvSpPr>
        <p:spPr>
          <a:xfrm>
            <a:off x="4669775" y="1211625"/>
            <a:ext cx="4221900" cy="16251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6"/>
          <p:cNvSpPr/>
          <p:nvPr/>
        </p:nvSpPr>
        <p:spPr>
          <a:xfrm>
            <a:off x="4669750" y="2960850"/>
            <a:ext cx="4221900" cy="1645800"/>
          </a:xfrm>
          <a:prstGeom prst="rect">
            <a:avLst/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6"/>
          <p:cNvSpPr/>
          <p:nvPr/>
        </p:nvSpPr>
        <p:spPr>
          <a:xfrm>
            <a:off x="4104151" y="2388250"/>
            <a:ext cx="1049100" cy="10434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6"/>
          <p:cNvSpPr/>
          <p:nvPr/>
        </p:nvSpPr>
        <p:spPr>
          <a:xfrm>
            <a:off x="4217560" y="2498797"/>
            <a:ext cx="822300" cy="822300"/>
          </a:xfrm>
          <a:prstGeom prst="ellipse">
            <a:avLst/>
          </a:prstGeom>
          <a:solidFill>
            <a:srgbClr val="D6CF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Monitor with solid fill" id="286" name="Google Shape;28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4008" y="2579086"/>
            <a:ext cx="633850" cy="668777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6"/>
          <p:cNvSpPr/>
          <p:nvPr/>
        </p:nvSpPr>
        <p:spPr>
          <a:xfrm>
            <a:off x="4582224" y="2355775"/>
            <a:ext cx="77400" cy="78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6"/>
          <p:cNvSpPr/>
          <p:nvPr/>
        </p:nvSpPr>
        <p:spPr>
          <a:xfrm>
            <a:off x="4063025" y="2868150"/>
            <a:ext cx="77400" cy="82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26"/>
          <p:cNvSpPr/>
          <p:nvPr/>
        </p:nvSpPr>
        <p:spPr>
          <a:xfrm>
            <a:off x="5101300" y="2866237"/>
            <a:ext cx="77400" cy="85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6"/>
          <p:cNvSpPr/>
          <p:nvPr/>
        </p:nvSpPr>
        <p:spPr>
          <a:xfrm>
            <a:off x="4582211" y="3385825"/>
            <a:ext cx="77400" cy="78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6"/>
          <p:cNvSpPr txBox="1"/>
          <p:nvPr/>
        </p:nvSpPr>
        <p:spPr>
          <a:xfrm>
            <a:off x="605334" y="1312010"/>
            <a:ext cx="1575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Agents Factory</a:t>
            </a:r>
            <a:endParaRPr b="1" sz="1200"/>
          </a:p>
        </p:txBody>
      </p:sp>
      <p:sp>
        <p:nvSpPr>
          <p:cNvPr id="292" name="Google Shape;292;p26"/>
          <p:cNvSpPr/>
          <p:nvPr/>
        </p:nvSpPr>
        <p:spPr>
          <a:xfrm>
            <a:off x="714375" y="1725147"/>
            <a:ext cx="710700" cy="294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Build</a:t>
            </a:r>
            <a:endParaRPr sz="1000"/>
          </a:p>
        </p:txBody>
      </p:sp>
      <p:sp>
        <p:nvSpPr>
          <p:cNvPr id="293" name="Google Shape;293;p26"/>
          <p:cNvSpPr/>
          <p:nvPr/>
        </p:nvSpPr>
        <p:spPr>
          <a:xfrm>
            <a:off x="2015910" y="1724367"/>
            <a:ext cx="872100" cy="294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Register</a:t>
            </a:r>
            <a:endParaRPr sz="1000"/>
          </a:p>
        </p:txBody>
      </p:sp>
      <p:sp>
        <p:nvSpPr>
          <p:cNvPr id="294" name="Google Shape;294;p26"/>
          <p:cNvSpPr/>
          <p:nvPr/>
        </p:nvSpPr>
        <p:spPr>
          <a:xfrm>
            <a:off x="3433125" y="1728847"/>
            <a:ext cx="872100" cy="294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Deploy</a:t>
            </a:r>
            <a:endParaRPr sz="1000"/>
          </a:p>
        </p:txBody>
      </p:sp>
      <p:cxnSp>
        <p:nvCxnSpPr>
          <p:cNvPr id="295" name="Google Shape;295;p26"/>
          <p:cNvCxnSpPr>
            <a:stCxn id="292" idx="3"/>
            <a:endCxn id="293" idx="1"/>
          </p:cNvCxnSpPr>
          <p:nvPr/>
        </p:nvCxnSpPr>
        <p:spPr>
          <a:xfrm flipH="1" rot="10800000">
            <a:off x="1425075" y="1871547"/>
            <a:ext cx="590700" cy="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6" name="Google Shape;296;p26"/>
          <p:cNvCxnSpPr>
            <a:stCxn id="293" idx="3"/>
            <a:endCxn id="294" idx="1"/>
          </p:cNvCxnSpPr>
          <p:nvPr/>
        </p:nvCxnSpPr>
        <p:spPr>
          <a:xfrm>
            <a:off x="2888010" y="1871667"/>
            <a:ext cx="545100" cy="4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97" name="Google Shape;297;p26" title="images-removebg-preview 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225" y="1755411"/>
            <a:ext cx="234100" cy="23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26" title="Group 4708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97175" y="1754618"/>
            <a:ext cx="234100" cy="234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an icon" id="299" name="Google Shape;299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6079" y="2228664"/>
            <a:ext cx="254339" cy="249084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6"/>
          <p:cNvSpPr/>
          <p:nvPr/>
        </p:nvSpPr>
        <p:spPr>
          <a:xfrm>
            <a:off x="669610" y="2552138"/>
            <a:ext cx="589800" cy="1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00" lIns="68400" spcFirstLastPara="1" rIns="68400" wrap="square" tIns="34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Copilots</a:t>
            </a:r>
            <a:endParaRPr b="0" i="0" sz="7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6"/>
          <p:cNvSpPr/>
          <p:nvPr/>
        </p:nvSpPr>
        <p:spPr>
          <a:xfrm>
            <a:off x="1275074" y="2504724"/>
            <a:ext cx="10326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00" lIns="68400" spcFirstLastPara="1" rIns="68400" wrap="square" tIns="34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</a:t>
            </a:r>
            <a:r>
              <a:rPr lang="en" sz="700"/>
              <a:t> </a:t>
            </a:r>
            <a:r>
              <a:rPr b="0" i="0" lang="en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</a:t>
            </a:r>
            <a:endParaRPr b="0" i="0" sz="7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cientist icon" id="302" name="Google Shape;302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519328" y="2189315"/>
            <a:ext cx="327558" cy="31669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elpdesk icon" id="303" name="Google Shape;303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664203" y="2229111"/>
            <a:ext cx="254339" cy="281315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6"/>
          <p:cNvSpPr/>
          <p:nvPr/>
        </p:nvSpPr>
        <p:spPr>
          <a:xfrm>
            <a:off x="3165364" y="2496489"/>
            <a:ext cx="8721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00" lIns="68400" spcFirstLastPara="1" rIns="68400" wrap="square" tIns="34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 AI Agent</a:t>
            </a:r>
            <a:endParaRPr b="0" i="0" sz="7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6"/>
          <p:cNvSpPr/>
          <p:nvPr/>
        </p:nvSpPr>
        <p:spPr>
          <a:xfrm>
            <a:off x="2170733" y="2499101"/>
            <a:ext cx="10221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00" lIns="68400" spcFirstLastPara="1" rIns="68400" wrap="square" tIns="342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Scientific Research</a:t>
            </a:r>
            <a:endParaRPr b="0" i="0" sz="7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6" name="Google Shape;306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42327" y="2154675"/>
            <a:ext cx="422150" cy="416703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6"/>
          <p:cNvSpPr txBox="1"/>
          <p:nvPr/>
        </p:nvSpPr>
        <p:spPr>
          <a:xfrm>
            <a:off x="544284" y="3062897"/>
            <a:ext cx="1575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Knowledge Engine</a:t>
            </a:r>
            <a:endParaRPr b="1" sz="1200"/>
          </a:p>
        </p:txBody>
      </p:sp>
      <p:pic>
        <p:nvPicPr>
          <p:cNvPr id="308" name="Google Shape;308;p26" title="Vector (10).png"/>
          <p:cNvPicPr preferRelativeResize="0"/>
          <p:nvPr/>
        </p:nvPicPr>
        <p:blipFill rotWithShape="1">
          <a:blip r:embed="rId10">
            <a:alphaModFix/>
          </a:blip>
          <a:srcRect b="-5188" l="-17424" r="-17438" t="-5188"/>
          <a:stretch/>
        </p:blipFill>
        <p:spPr>
          <a:xfrm>
            <a:off x="605325" y="3542070"/>
            <a:ext cx="215900" cy="17670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26" title="Vector (14).png"/>
          <p:cNvPicPr preferRelativeResize="0"/>
          <p:nvPr/>
        </p:nvPicPr>
        <p:blipFill rotWithShape="1">
          <a:blip r:embed="rId11">
            <a:alphaModFix/>
          </a:blip>
          <a:srcRect b="-87198" l="-44198" r="-67174" t="-58986"/>
          <a:stretch/>
        </p:blipFill>
        <p:spPr>
          <a:xfrm>
            <a:off x="2341601" y="4038614"/>
            <a:ext cx="422150" cy="4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6"/>
          <p:cNvSpPr txBox="1"/>
          <p:nvPr/>
        </p:nvSpPr>
        <p:spPr>
          <a:xfrm>
            <a:off x="794627" y="3517775"/>
            <a:ext cx="15174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Enterprise data lakes &amp; scalable processing</a:t>
            </a:r>
            <a:endParaRPr sz="700"/>
          </a:p>
        </p:txBody>
      </p:sp>
      <p:sp>
        <p:nvSpPr>
          <p:cNvPr id="311" name="Google Shape;311;p26"/>
          <p:cNvSpPr txBox="1"/>
          <p:nvPr/>
        </p:nvSpPr>
        <p:spPr>
          <a:xfrm>
            <a:off x="2638245" y="3517774"/>
            <a:ext cx="14670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Supports Azure Data Factory, SageMaker pipelines</a:t>
            </a:r>
            <a:endParaRPr sz="700"/>
          </a:p>
        </p:txBody>
      </p:sp>
      <p:pic>
        <p:nvPicPr>
          <p:cNvPr id="312" name="Google Shape;312;p26" title="Vector (11).png"/>
          <p:cNvPicPr preferRelativeResize="0"/>
          <p:nvPr/>
        </p:nvPicPr>
        <p:blipFill rotWithShape="1">
          <a:blip r:embed="rId12">
            <a:alphaModFix/>
          </a:blip>
          <a:srcRect b="-23160" l="-7286" r="-7275" t="-23146"/>
          <a:stretch/>
        </p:blipFill>
        <p:spPr>
          <a:xfrm>
            <a:off x="630338" y="4104430"/>
            <a:ext cx="165875" cy="211838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6"/>
          <p:cNvSpPr txBox="1"/>
          <p:nvPr/>
        </p:nvSpPr>
        <p:spPr>
          <a:xfrm>
            <a:off x="789269" y="4081725"/>
            <a:ext cx="15174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Data cleansing &amp; smart knowledge extraction</a:t>
            </a:r>
            <a:endParaRPr sz="700"/>
          </a:p>
        </p:txBody>
      </p:sp>
      <p:sp>
        <p:nvSpPr>
          <p:cNvPr id="314" name="Google Shape;314;p26"/>
          <p:cNvSpPr txBox="1"/>
          <p:nvPr/>
        </p:nvSpPr>
        <p:spPr>
          <a:xfrm>
            <a:off x="2637919" y="4097700"/>
            <a:ext cx="15174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Smart indexing for fast, accurate retrievals</a:t>
            </a:r>
            <a:endParaRPr sz="700"/>
          </a:p>
        </p:txBody>
      </p:sp>
      <p:pic>
        <p:nvPicPr>
          <p:cNvPr id="315" name="Google Shape;315;p26" title="image 92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734175" y="3790249"/>
            <a:ext cx="138525" cy="13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6" title="sagemaker-removebg-preview 1.png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2896913" y="3759663"/>
            <a:ext cx="199700" cy="19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6" title="Vector (13).pn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2442488" y="3539288"/>
            <a:ext cx="205075" cy="18227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6"/>
          <p:cNvSpPr txBox="1"/>
          <p:nvPr/>
        </p:nvSpPr>
        <p:spPr>
          <a:xfrm>
            <a:off x="5094534" y="1347872"/>
            <a:ext cx="1575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Model Registry</a:t>
            </a:r>
            <a:endParaRPr b="1" sz="1200"/>
          </a:p>
        </p:txBody>
      </p:sp>
      <p:sp>
        <p:nvSpPr>
          <p:cNvPr id="319" name="Google Shape;319;p26"/>
          <p:cNvSpPr txBox="1"/>
          <p:nvPr/>
        </p:nvSpPr>
        <p:spPr>
          <a:xfrm>
            <a:off x="5343850" y="1753647"/>
            <a:ext cx="15174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Supports public/private model registries with vLLM, SGLang, and NVIDIA NeMo containers</a:t>
            </a:r>
            <a:endParaRPr sz="700"/>
          </a:p>
        </p:txBody>
      </p:sp>
      <p:pic>
        <p:nvPicPr>
          <p:cNvPr id="320" name="Google Shape;320;p26" title="hf-logo 1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5414908" y="2098622"/>
            <a:ext cx="199700" cy="20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6" title="jfrog-logo-png_seeklogo-385509-removebg-preview 1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5690800" y="2091456"/>
            <a:ext cx="215900" cy="21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6" title="bedrock-color.png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6007575" y="2134248"/>
            <a:ext cx="165875" cy="16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6" title="image 92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294075" y="2106594"/>
            <a:ext cx="185625" cy="18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6" title="Vector (1).png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5158225" y="1793907"/>
            <a:ext cx="185625" cy="144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6" title="Vector (2).png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5168107" y="2485360"/>
            <a:ext cx="165859" cy="18562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6"/>
          <p:cNvSpPr txBox="1"/>
          <p:nvPr/>
        </p:nvSpPr>
        <p:spPr>
          <a:xfrm>
            <a:off x="5338840" y="2482079"/>
            <a:ext cx="16779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Optimized for public cloud and private infrastructure with fast, efficient deployments</a:t>
            </a:r>
            <a:endParaRPr sz="700"/>
          </a:p>
        </p:txBody>
      </p:sp>
      <p:pic>
        <p:nvPicPr>
          <p:cNvPr id="327" name="Google Shape;327;p26" title="Vector (3).png"/>
          <p:cNvPicPr preferRelativeResize="0"/>
          <p:nvPr/>
        </p:nvPicPr>
        <p:blipFill>
          <a:blip r:embed="rId21">
            <a:alphaModFix/>
          </a:blip>
          <a:stretch>
            <a:fillRect/>
          </a:stretch>
        </p:blipFill>
        <p:spPr>
          <a:xfrm flipH="1">
            <a:off x="7054950" y="1766447"/>
            <a:ext cx="199700" cy="1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6"/>
          <p:cNvSpPr txBox="1"/>
          <p:nvPr/>
        </p:nvSpPr>
        <p:spPr>
          <a:xfrm>
            <a:off x="7236434" y="1753647"/>
            <a:ext cx="14064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GPU-accelerated pipelines for structured and unstructured enterprise data</a:t>
            </a:r>
            <a:endParaRPr sz="700"/>
          </a:p>
        </p:txBody>
      </p:sp>
      <p:pic>
        <p:nvPicPr>
          <p:cNvPr id="329" name="Google Shape;329;p26" title="Vector (4).png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7046850" y="2477342"/>
            <a:ext cx="215900" cy="201655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6"/>
          <p:cNvSpPr txBox="1"/>
          <p:nvPr/>
        </p:nvSpPr>
        <p:spPr>
          <a:xfrm>
            <a:off x="7217011" y="2465522"/>
            <a:ext cx="14064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Finetuning of generic model with specific enterprise data</a:t>
            </a:r>
            <a:endParaRPr sz="700"/>
          </a:p>
        </p:txBody>
      </p:sp>
      <p:sp>
        <p:nvSpPr>
          <p:cNvPr id="331" name="Google Shape;331;p26"/>
          <p:cNvSpPr txBox="1"/>
          <p:nvPr/>
        </p:nvSpPr>
        <p:spPr>
          <a:xfrm>
            <a:off x="5082034" y="3062897"/>
            <a:ext cx="1575000" cy="30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Security Plane</a:t>
            </a:r>
            <a:endParaRPr b="1" sz="1200"/>
          </a:p>
        </p:txBody>
      </p:sp>
      <p:pic>
        <p:nvPicPr>
          <p:cNvPr id="332" name="Google Shape;332;p26" title="passkey_24dp_E8EAED_FILL0_wght200_GRAD0_opsz24 1.png"/>
          <p:cNvPicPr preferRelativeResize="0"/>
          <p:nvPr/>
        </p:nvPicPr>
        <p:blipFill rotWithShape="1">
          <a:blip r:embed="rId23">
            <a:alphaModFix/>
          </a:blip>
          <a:srcRect b="9077" l="0" r="0" t="9077"/>
          <a:stretch/>
        </p:blipFill>
        <p:spPr>
          <a:xfrm>
            <a:off x="5105442" y="3511275"/>
            <a:ext cx="291166" cy="238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6"/>
          <p:cNvSpPr txBox="1"/>
          <p:nvPr/>
        </p:nvSpPr>
        <p:spPr>
          <a:xfrm>
            <a:off x="5332377" y="3517775"/>
            <a:ext cx="15174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E2E secure workflows and role-based access</a:t>
            </a:r>
            <a:endParaRPr sz="700"/>
          </a:p>
        </p:txBody>
      </p:sp>
      <p:pic>
        <p:nvPicPr>
          <p:cNvPr id="334" name="Google Shape;334;p26" title="Vector (6).png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7016750" y="3511275"/>
            <a:ext cx="179437" cy="238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6"/>
          <p:cNvSpPr txBox="1"/>
          <p:nvPr/>
        </p:nvSpPr>
        <p:spPr>
          <a:xfrm>
            <a:off x="7175995" y="3517774"/>
            <a:ext cx="14670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Natural language policies, personal data protection &amp; compliance checks (PII, HIPPA)</a:t>
            </a:r>
            <a:endParaRPr sz="700"/>
          </a:p>
        </p:txBody>
      </p:sp>
      <p:pic>
        <p:nvPicPr>
          <p:cNvPr id="336" name="Google Shape;336;p26" title="Vector (7).png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5168088" y="4113668"/>
            <a:ext cx="165875" cy="211838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26"/>
          <p:cNvSpPr txBox="1"/>
          <p:nvPr/>
        </p:nvSpPr>
        <p:spPr>
          <a:xfrm>
            <a:off x="5327019" y="4081725"/>
            <a:ext cx="15174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Content security, topic control &amp; prompt injection guards</a:t>
            </a:r>
            <a:endParaRPr sz="700"/>
          </a:p>
        </p:txBody>
      </p:sp>
      <p:pic>
        <p:nvPicPr>
          <p:cNvPr id="338" name="Google Shape;338;p26" title="verified_user_24dp_E8EAED_FILL0_wght200_GRAD0_opsz24 1.png"/>
          <p:cNvPicPr preferRelativeResize="0"/>
          <p:nvPr/>
        </p:nvPicPr>
        <p:blipFill rotWithShape="1">
          <a:blip r:embed="rId26">
            <a:alphaModFix/>
          </a:blip>
          <a:srcRect b="0" l="10845" r="10853" t="0"/>
          <a:stretch/>
        </p:blipFill>
        <p:spPr>
          <a:xfrm>
            <a:off x="6982928" y="4086453"/>
            <a:ext cx="199700" cy="25502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26"/>
          <p:cNvSpPr txBox="1"/>
          <p:nvPr/>
        </p:nvSpPr>
        <p:spPr>
          <a:xfrm>
            <a:off x="7175669" y="4097700"/>
            <a:ext cx="1517400" cy="22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Context blinders and hallucination moderation</a:t>
            </a:r>
            <a:endParaRPr sz="700"/>
          </a:p>
        </p:txBody>
      </p:sp>
      <p:pic>
        <p:nvPicPr>
          <p:cNvPr id="340" name="Google Shape;340;p26" title="png-transparent-note-with-pen-logo-computer-icons-form-register-button-miscellaneous-angle-text-thumbnail-removebg-preview 1.png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2054915" y="1746986"/>
            <a:ext cx="234100" cy="234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6" title="dkube.io black.png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323625" y="4705146"/>
            <a:ext cx="988425" cy="17915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6"/>
          <p:cNvSpPr txBox="1"/>
          <p:nvPr/>
        </p:nvSpPr>
        <p:spPr>
          <a:xfrm>
            <a:off x="4010400" y="4674875"/>
            <a:ext cx="1123200" cy="2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Strictly Confidential</a:t>
            </a:r>
            <a:endParaRPr sz="7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343" name="Google Shape;343;p26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8436297" y="205400"/>
            <a:ext cx="401253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6"/>
          <p:cNvSpPr txBox="1"/>
          <p:nvPr/>
        </p:nvSpPr>
        <p:spPr>
          <a:xfrm>
            <a:off x="4324375" y="2799132"/>
            <a:ext cx="589800" cy="15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00">
                <a:solidFill>
                  <a:schemeClr val="dk2"/>
                </a:solidFill>
                <a:latin typeface="Poppins"/>
                <a:ea typeface="Poppins"/>
                <a:cs typeface="Poppins"/>
                <a:sym typeface="Poppins"/>
              </a:rPr>
              <a:t>DKubeX</a:t>
            </a:r>
            <a:endParaRPr b="1" sz="700">
              <a:solidFill>
                <a:schemeClr val="dk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45" name="Google Shape;345;p26"/>
          <p:cNvSpPr/>
          <p:nvPr/>
        </p:nvSpPr>
        <p:spPr>
          <a:xfrm>
            <a:off x="261050" y="265750"/>
            <a:ext cx="38268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00" lIns="68400" spcFirstLastPara="1" rIns="68400" wrap="square" tIns="34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560A8"/>
              </a:buClr>
              <a:buSzPts val="2100"/>
              <a:buFont typeface="Arial"/>
              <a:buNone/>
            </a:pPr>
            <a:r>
              <a:rPr b="1" lang="en" sz="1800">
                <a:solidFill>
                  <a:srgbClr val="7660A8"/>
                </a:solidFill>
                <a:latin typeface="Poppins"/>
                <a:ea typeface="Poppins"/>
                <a:cs typeface="Poppins"/>
                <a:sym typeface="Poppins"/>
              </a:rPr>
              <a:t>Enterprise Private AI</a:t>
            </a:r>
            <a:endParaRPr b="1" sz="1800">
              <a:solidFill>
                <a:srgbClr val="7660A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